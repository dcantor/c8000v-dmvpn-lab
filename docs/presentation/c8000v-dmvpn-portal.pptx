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 The portal runs on the lab host at :8094 and fronts the whole lab: lab.conf is the source of truth, Network-as-Code pushes the Catalyst 8000v routers, SSH pushes the VyOS routers, Nautobot mirrors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 statement: the service is simple to draw but has many moving parts, and without tooling every question costs a round of logins.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Architecture: the portal never edits routers ad hoc. Changes go through lab.conf, the renderer and the same push pipeline, then a verification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Eight capability areas. The tour that follows shows each one in the portal, with numbered callouts matching the explanation beside each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Everyone signs in, and the role decides what they see</a:t>
            </a:r>
          </a:p>
          <a:p/>
          <a:p>
            <a:r>
              <a:t>1. Sign in: Staff roles are viewer, operator, approver and admin. A customer account sees only its own service. Sessions are signed cookies, passwords are PBKDF2 hashes.</a:t>
            </a:r>
          </a:p>
          <a:p/>
          <a:p>
            <a:r>
              <a:t>Read-only users cannot start jobs, nobody approves their own change, and customers never see another customer.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cloud: every router, read live</a:t>
            </a:r>
          </a:p>
          <a:p/>
          <a:p>
            <a:r>
              <a:t>1. KPIs: Hubs, customers, registrations, shortcuts and BGP at a glance.</a:t>
            </a:r>
          </a:p>
          <a:p>
            <a:r>
              <a:t>2. Every router: NHRP registrations, IPsec, overlay BGP, the provider and the preferred hub, read from the routers themselves.</a:t>
            </a:r>
          </a:p>
          <a:p>
            <a:r>
              <a:t>3. Both providers: Access links and eBGP on mpls and mpls2.</a:t>
            </a:r>
          </a:p>
          <a:p>
            <a:r>
              <a:t>4. Who you are: The account, its role and the portal version, always visible.</a:t>
            </a:r>
          </a:p>
          <a:p/>
          <a:p>
            <a:r>
              <a:t>One screen answers 'is every spoke registered with every hub?' with no CLI logins.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Health and configuration drift</a:t>
            </a:r>
          </a:p>
          <a:p/>
          <a:p>
            <a:r>
              <a:t>1. Health: Everything the model expects to be up is checked, and anything missing is named.</a:t>
            </a:r>
          </a:p>
          <a:p>
            <a:r>
              <a:t>2. Drift: Each router is compared with what lab.conf renders. 'Fix drift' puts it back as a controlled job.</a:t>
            </a:r>
          </a:p>
          <a:p/>
          <a:p>
            <a:r>
              <a:t>Hand edits no longer go unnoticed: drift is visible per router, and fixing it is one approved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topology map drawn from live state</a:t>
            </a:r>
          </a:p>
          <a:p/>
          <a:p>
            <a:r>
              <a:t>1. The map: Hubs, providers, customers and LAN hosts. Tunnel colour shows health, and the preferred hub is drawn bold.</a:t>
            </a:r>
          </a:p>
          <a:p>
            <a:r>
              <a:t>2. Layers: Turn provider 2 and cloud 2, shortcuts, hosts and labels on or off.</a:t>
            </a:r>
          </a:p>
          <a:p>
            <a:r>
              <a:t>3. Export: SVG or PNG, light or dark, exactly as drawn.</a:t>
            </a:r>
          </a:p>
          <a:p>
            <a:r>
              <a:t>4. Details: Click a node to see the customer company, its applications (checked every minute) and the router's live state.</a:t>
            </a:r>
          </a:p>
          <a:p/>
          <a:p>
            <a:r>
              <a:t>Everyone gets the same live picture, from operations to account managers and customers.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Path trace: watch the phase 3 shortcut form</a:t>
            </a:r>
          </a:p>
          <a:p/>
          <a:p>
            <a:r>
              <a:t>1. First via a hub, then direct: The first packets go through a hub. NHRP then builds a spoke-to-spoke shortcut, drawn in purple.</a:t>
            </a:r>
          </a:p>
          <a:p>
            <a:r>
              <a:t>2. Details and actions: Trace, watch the shortcut form, ping every host, and view the config history per router.</a:t>
            </a:r>
          </a:p>
          <a:p>
            <a:r>
              <a:t>3. Every trace, hop by hop: The raw output is kept so you can copy or download it.</a:t>
            </a:r>
          </a:p>
          <a:p/>
          <a:p>
            <a:r>
              <a:t>It shows that DMVPN phase 3 works end to end, and makes it easy to explain.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 per customer, from VictoriaMetrics</a:t>
            </a:r>
          </a:p>
          <a:p/>
          <a:p>
            <a:r>
              <a:t>1. Against targets: Availability, latency, loss and tunnel uptime, each compared with its SLA target.</a:t>
            </a:r>
          </a:p>
          <a:p>
            <a:r>
              <a:t>2. Latency to each hub: Probed every minute from the customer's own LAN host.</a:t>
            </a:r>
          </a:p>
          <a:p>
            <a:r>
              <a:t>3. Window and report: 24 hours, 30 days or this month, with a monthly PDF report for the customer.</a:t>
            </a:r>
          </a:p>
          <a:p/>
          <a:p>
            <a:r>
              <a:t>SLA reporting is automatic and based on measurements the customer can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Simulate failures on purpose</a:t>
            </a:r>
          </a:p>
          <a:p/>
          <a:p>
            <a:r>
              <a:t>1. Choose a failure: A hub, a provider, or a customer circuit. The page says what should happen before you press anything.</a:t>
            </a:r>
          </a:p>
          <a:p>
            <a:r>
              <a:t>2. Measure failover: Every LAN host pings every other host five times a second while the fault is in.</a:t>
            </a:r>
          </a:p>
          <a:p>
            <a:r>
              <a:t>3. Every measurement: Flows unaffected, failed over or cut off, the worst failover and the time back to healthy.</a:t>
            </a:r>
          </a:p>
          <a:p/>
          <a:p>
            <a:r>
              <a:t>Resilience becomes a number rather than a claim, for example 0.6 s worst case for a hub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failover experiment, flow by flow</a:t>
            </a:r>
          </a:p>
          <a:p/>
          <a:p>
            <a:r>
              <a:t>1. The experiment: What failed, for how long, and the headline figures.</a:t>
            </a:r>
          </a:p>
          <a:p>
            <a:r>
              <a:t>2. Each flow: The verdict and an outage timeline for every host pair, so you can see which paths moved and which were cut.</a:t>
            </a:r>
          </a:p>
          <a:p/>
          <a:p>
            <a:r>
              <a:t>You can see exactly which customers a failure affects, and for how 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Provision: every change is a job</a:t>
            </a:r>
          </a:p>
          <a:p/>
          <a:p>
            <a:r>
              <a:t>1. Tasks: Add, modify and remove customers, deploy, check for and fix drift, back up, restore, dry run and tests.</a:t>
            </a:r>
          </a:p>
          <a:p>
            <a:r>
              <a:t>2. Pre-shared key: Admins rotate the DMVPN key. The system picks a random 40-character key, and only its fingerprint is ever shown.</a:t>
            </a:r>
          </a:p>
          <a:p/>
          <a:p>
            <a:r>
              <a:t>Operators pick what they want done, and the portal carries it out consistently on every router.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Modify a customer, with the plan shown first</a:t>
            </a:r>
          </a:p>
          <a:p/>
          <a:p>
            <a:r>
              <a:t>1. Router type: Move a customer between C8000v and VyOS.</a:t>
            </a:r>
          </a:p>
          <a:p>
            <a:r>
              <a:t>2. Preferred hub: Pick the hub its traffic should prefer (local-preference 200).</a:t>
            </a:r>
          </a:p>
          <a:p>
            <a:r>
              <a:t>3. Second provider: Dual-home the customer onto mpls2 and cloud 2.</a:t>
            </a:r>
          </a:p>
          <a:p>
            <a:r>
              <a:t>4. The plan: Exactly what will change on which routers, before anything runs.</a:t>
            </a:r>
          </a:p>
          <a:p/>
          <a:p>
            <a:r>
              <a:t>No surprises: the impact is visible and reviewed before a change request is filed.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Change requests: four eyes and change windows</a:t>
            </a:r>
          </a:p>
          <a:p/>
          <a:p>
            <a:r>
              <a:t>1. Change requests: Each request shows who asked, what for, who approved or rejected it, and its status, including requests from customers.</a:t>
            </a:r>
          </a:p>
          <a:p/>
          <a:p>
            <a:r>
              <a:t>Disruptive work cannot start without a second person, and it runs only inside the agreed windows.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job: who, what, and the proof</a:t>
            </a:r>
          </a:p>
          <a:p/>
          <a:p>
            <a:r>
              <a:t>1. Who: Who started the job and who approved it.</a:t>
            </a:r>
          </a:p>
          <a:p>
            <a:r>
              <a:t>2. Progress: Live progress and the time it took.</a:t>
            </a:r>
          </a:p>
          <a:p>
            <a:r>
              <a:t>3. What changed: The before-and-after diff per router. Secrets are masked but their change is still visible.</a:t>
            </a:r>
          </a:p>
          <a:p>
            <a:r>
              <a:t>4. Every step: Each step's result, for example '54 IKE SAs on 8 routers, all made after the rotation'.</a:t>
            </a:r>
          </a:p>
          <a:p/>
          <a:p>
            <a:r>
              <a:t>Every change leaves evidence: the steps, the approvals and the exact configuration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tools and accounts</a:t>
            </a:r>
          </a:p>
          <a:p/>
          <a:p>
            <a:r>
              <a:t>1. Accounts and roles: Admins add, disable and delete accounts and set passwords. Accounts still on their lab-default password are flagged.</a:t>
            </a:r>
          </a:p>
          <a:p>
            <a:r>
              <a:t>2. Every tool: Nautobot, the API, the lab hub and the repository, each with how to sign in.</a:t>
            </a:r>
          </a:p>
          <a:p/>
          <a:p>
            <a:r>
              <a:t>Access is managed in one place, with visible warnings when the defaults have not been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customer's own view</a:t>
            </a:r>
          </a:p>
          <a:p/>
          <a:p>
            <a:r>
              <a:t>1. Status: Service status, incidents and planned maintenance for this customer.</a:t>
            </a:r>
          </a:p>
          <a:p>
            <a:r>
              <a:t>2. Its own site: The map, cut down to the customer's own site and the hubs it uses.</a:t>
            </a:r>
          </a:p>
          <a:p>
            <a:r>
              <a:t>3. Its applications: Its company details and live application status.</a:t>
            </a:r>
          </a:p>
          <a:p>
            <a:r>
              <a:t>4. Its own pages: Network, service levels, requests and diagnostics. Nothing else is reachable.</a:t>
            </a:r>
          </a:p>
          <a:p/>
          <a:p>
            <a:r>
              <a:t>Customers can answer their own questions, which means fewer tickets and more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Customer self-service requests</a:t>
            </a:r>
          </a:p>
          <a:p/>
          <a:p>
            <a:r>
              <a:t>1. Ask for a change: Applications, the preferred hub or a second provider, with a reason.</a:t>
            </a:r>
          </a:p>
          <a:p>
            <a:r>
              <a:t>2. Track it: Each request becomes a change request for the operators, and its progress is shown here.</a:t>
            </a:r>
          </a:p>
          <a:p/>
          <a:p>
            <a:r>
              <a:t>Customers can request changes without email, and the request still goes through staff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Self-service diagnostics</a:t>
            </a:r>
          </a:p>
          <a:p/>
          <a:p>
            <a:r>
              <a:t>1. Tests from its LAN host: The customer tests its applications, the hubs, or traces a path.</a:t>
            </a:r>
          </a:p>
          <a:p>
            <a:r>
              <a:t>2. Every application, every hub: Round-trip time, loss and HTTP status, run on demand.</a:t>
            </a:r>
          </a:p>
          <a:p/>
          <a:p>
            <a:r>
              <a:t>The first-line diagnosis is done by the customer in seconds, with no ticket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policy is editable in the portal: which job types need approval, change windows, emergency changes and expiry of stale requests.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Figures from the lab on 27 September 2026: the health check, the failover measurements on the Resilience page, and the pre-shared key rotation job (CR-0021).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H="1">
            <a:off x="8138160" y="1188720"/>
            <a:ext cx="365760" cy="2103120"/>
          </a:xfrm>
          <a:prstGeom prst="line">
            <a:avLst/>
          </a:prstGeom>
          <a:ln w="12700">
            <a:solidFill>
              <a:srgbClr val="2B4C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503920" y="1188720"/>
            <a:ext cx="640080" cy="2560319"/>
          </a:xfrm>
          <a:prstGeom prst="line">
            <a:avLst/>
          </a:prstGeom>
          <a:ln w="12700">
            <a:solidFill>
              <a:srgbClr val="2B4C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503920" y="1188720"/>
            <a:ext cx="1737360" cy="2651760"/>
          </a:xfrm>
          <a:prstGeom prst="line">
            <a:avLst/>
          </a:prstGeom>
          <a:ln w="12700">
            <a:solidFill>
              <a:srgbClr val="2B4C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503920" y="1188720"/>
            <a:ext cx="2834640" cy="2194560"/>
          </a:xfrm>
          <a:prstGeom prst="line">
            <a:avLst/>
          </a:prstGeom>
          <a:ln w="12700">
            <a:solidFill>
              <a:srgbClr val="2B4C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8138160" y="914400"/>
            <a:ext cx="1737360" cy="2377440"/>
          </a:xfrm>
          <a:prstGeom prst="line">
            <a:avLst/>
          </a:prstGeom>
          <a:ln w="12700">
            <a:solidFill>
              <a:srgbClr val="2B4C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9144000" y="914400"/>
            <a:ext cx="731520" cy="2834639"/>
          </a:xfrm>
          <a:prstGeom prst="line">
            <a:avLst/>
          </a:prstGeom>
          <a:ln w="12700">
            <a:solidFill>
              <a:srgbClr val="2B4C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875520" y="914400"/>
            <a:ext cx="365760" cy="2926080"/>
          </a:xfrm>
          <a:prstGeom prst="line">
            <a:avLst/>
          </a:prstGeom>
          <a:ln w="12700">
            <a:solidFill>
              <a:srgbClr val="2B4C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875520" y="914400"/>
            <a:ext cx="1463040" cy="2468880"/>
          </a:xfrm>
          <a:prstGeom prst="line">
            <a:avLst/>
          </a:prstGeom>
          <a:ln w="12700">
            <a:solidFill>
              <a:srgbClr val="2B4C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8138160" y="1188720"/>
            <a:ext cx="3108960" cy="2103120"/>
          </a:xfrm>
          <a:prstGeom prst="line">
            <a:avLst/>
          </a:prstGeom>
          <a:ln w="12700">
            <a:solidFill>
              <a:srgbClr val="2B4C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9144000" y="1188720"/>
            <a:ext cx="2103120" cy="2560319"/>
          </a:xfrm>
          <a:prstGeom prst="line">
            <a:avLst/>
          </a:prstGeom>
          <a:ln w="12700">
            <a:solidFill>
              <a:srgbClr val="2B4C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0241280" y="1188720"/>
            <a:ext cx="1005840" cy="2651760"/>
          </a:xfrm>
          <a:prstGeom prst="line">
            <a:avLst/>
          </a:prstGeom>
          <a:ln w="12700">
            <a:solidFill>
              <a:srgbClr val="2B4C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247120" y="1188720"/>
            <a:ext cx="91440" cy="2194560"/>
          </a:xfrm>
          <a:prstGeom prst="line">
            <a:avLst/>
          </a:prstGeom>
          <a:ln w="12700">
            <a:solidFill>
              <a:srgbClr val="2B4C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9144000" y="3383280"/>
            <a:ext cx="2194560" cy="365759"/>
          </a:xfrm>
          <a:prstGeom prst="line">
            <a:avLst/>
          </a:prstGeom>
          <a:ln w="3810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302752" y="987552"/>
            <a:ext cx="402336" cy="402336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74352" y="713232"/>
            <a:ext cx="402336" cy="402336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045952" y="987552"/>
            <a:ext cx="402336" cy="402336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991856" y="3145536"/>
            <a:ext cx="292608" cy="292608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97696" y="3602735"/>
            <a:ext cx="292608" cy="292608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94976" y="3694176"/>
            <a:ext cx="292608" cy="292608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192256" y="3236976"/>
            <a:ext cx="292608" cy="292608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1463040"/>
            <a:ext cx="7315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5EC8DB"/>
                </a:solidFill>
                <a:latin typeface="Calibri"/>
              </a:rPr>
              <a:t>NETWORK AS CODE · DMVPN PHASE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874519"/>
            <a:ext cx="7498079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C8000v DMVPN Portal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2788920"/>
            <a:ext cx="694944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CBD5E1"/>
                </a:solidFill>
                <a:latin typeface="Calibri"/>
              </a:rPr>
              <a:t>One place to see, change, prove and share a multi-hub DMVPN service: for the operators who run it and the customers who use 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07492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Three Catalyst 8000v hubs · C8000v and VyOS customers · two providers · Nautobot · Terraform (NAC) · VictoriaMetrics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86400"/>
            <a:ext cx="7315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Version 0.21.0 ·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7490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111556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0B1B2E"/>
                </a:solidFill>
                <a:latin typeface="Calibri"/>
              </a:rPr>
              <a:t>Running a DMVPN service by hand does not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C8000v DMVPN Portal · v0.21.0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97280"/>
            <a:ext cx="112471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</a:rPr>
              <a:t>A single customer touches three hubs, one or two providers, two router operating systems and a source of truth. Every question and every change means logging in to several boxes.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874519"/>
            <a:ext cx="2743200" cy="201168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9525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039112"/>
            <a:ext cx="64008" cy="38404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20824"/>
            <a:ext cx="24688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B1B2E"/>
                </a:solidFill>
                <a:latin typeface="Calibri"/>
              </a:rPr>
              <a:t>Scattered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41448"/>
            <a:ext cx="2450592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Is every spoke registered with every hub? Are shortcuts forming? Health lives in a dozen CLI sessions on IOS XE and VyOS.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64408" y="1874519"/>
            <a:ext cx="2743200" cy="201168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9525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64408" y="2039112"/>
            <a:ext cx="64008" cy="38404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8" y="2020824"/>
            <a:ext cx="24688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B1B2E"/>
                </a:solidFill>
                <a:latin typeface="Calibri"/>
              </a:rPr>
              <a:t>Slow, risky changes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441448"/>
            <a:ext cx="2450592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Adding, changing or removing a customer means consistent edits on hubs, spoke, provider and Nautobot. It is easy to miss 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17336" y="1874519"/>
            <a:ext cx="2743200" cy="201168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9525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17336" y="2039112"/>
            <a:ext cx="64008" cy="38404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216" y="2020824"/>
            <a:ext cx="24688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B1B2E"/>
                </a:solidFill>
                <a:latin typeface="Calibri"/>
              </a:rPr>
              <a:t>Drift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441448"/>
            <a:ext cx="2450592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Hand edits leave routers differing from the intended design, and nobody notices until something breaks.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0263" y="1874519"/>
            <a:ext cx="2743200" cy="201168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9525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70263" y="2039112"/>
            <a:ext cx="64008" cy="38404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53143" y="2020824"/>
            <a:ext cx="24688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B1B2E"/>
                </a:solidFill>
                <a:latin typeface="Calibri"/>
              </a:rPr>
              <a:t>No change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3143" y="2441448"/>
            <a:ext cx="2450592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Who changed what, who approved it, and what exactly changed on each router? Usually nobody can say.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3995928"/>
            <a:ext cx="2743200" cy="201168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9525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4160520"/>
            <a:ext cx="64008" cy="38404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142232"/>
            <a:ext cx="24688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B1B2E"/>
                </a:solidFill>
                <a:latin typeface="Calibri"/>
              </a:rPr>
              <a:t>Unproven resilience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562856"/>
            <a:ext cx="2450592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Dual hubs and dual providers look good on paper, but how long does failover really take?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64408" y="3995928"/>
            <a:ext cx="2743200" cy="201168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9525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64408" y="4160520"/>
            <a:ext cx="64008" cy="38404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47288" y="4142232"/>
            <a:ext cx="24688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B1B2E"/>
                </a:solidFill>
                <a:latin typeface="Calibri"/>
              </a:rPr>
              <a:t>Blind customers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47288" y="4562856"/>
            <a:ext cx="2450592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Customers cannot see their own service, test it, or ask for changes. SLA reports are assembled by hand.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17336" y="3995928"/>
            <a:ext cx="2743200" cy="201168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9525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17336" y="4160520"/>
            <a:ext cx="64008" cy="384048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0216" y="4142232"/>
            <a:ext cx="24688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B1B2E"/>
                </a:solidFill>
                <a:latin typeface="Calibri"/>
              </a:rPr>
              <a:t>Static secrets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0216" y="4562856"/>
            <a:ext cx="2450592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The DMVPN pre-shared key is set once and rarely rotated, because rotating it by hand risks an outage.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70263" y="3995928"/>
            <a:ext cx="2743200" cy="2011680"/>
          </a:xfrm>
          <a:prstGeom prst="roundRect">
            <a:avLst>
              <a:gd name="adj" fmla="val 6000"/>
            </a:avLst>
          </a:prstGeom>
          <a:solidFill>
            <a:srgbClr val="0B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53143" y="4178808"/>
            <a:ext cx="2377440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5EC8DB"/>
                </a:solidFill>
                <a:latin typeface="Calibri"/>
              </a:rPr>
              <a:t>The result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Slow onboarding, outages from avoidable mistakes, and no evidence for customers or auditors.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7490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111556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0B1B2E"/>
                </a:solidFill>
                <a:latin typeface="Calibri"/>
              </a:rPr>
              <a:t>What the portal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C8000v DMVPN Portal · v0.21.0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97280"/>
            <a:ext cx="1124712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5B6778"/>
                </a:solidFill>
                <a:latin typeface="Calibri"/>
              </a:rPr>
              <a:t>One web portal on top of a single source of truth (</a:t>
            </a:r>
            <a:r>
              <a:rPr sz="1500" b="1" i="0">
                <a:solidFill>
                  <a:srgbClr val="5B6778"/>
                </a:solidFill>
                <a:latin typeface="Calibri"/>
              </a:rPr>
              <a:t>lab.conf</a:t>
            </a:r>
            <a:r>
              <a:rPr sz="1500" b="0" i="0">
                <a:solidFill>
                  <a:srgbClr val="5B6778"/>
                </a:solidFill>
                <a:latin typeface="Calibri"/>
              </a:rPr>
              <a:t>). It reads every router live, turns every change into a controlled, verified job, and gives each customer a view of its own service.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03120"/>
            <a:ext cx="219456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2194560"/>
            <a:ext cx="204825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50" b="1" i="0">
                <a:solidFill>
                  <a:srgbClr val="0B1B2E"/>
                </a:solidFill>
                <a:latin typeface="Calibri"/>
              </a:rPr>
              <a:t>Operators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505456"/>
            <a:ext cx="2048255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5B6778"/>
                </a:solidFill>
                <a:latin typeface="Calibri"/>
              </a:rPr>
              <a:t>viewer · operator · approver · admin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31920"/>
            <a:ext cx="219456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4023359"/>
            <a:ext cx="204825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50" b="1" i="0">
                <a:solidFill>
                  <a:srgbClr val="0B1B2E"/>
                </a:solidFill>
                <a:latin typeface="Calibri"/>
              </a:rPr>
              <a:t>Customers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4334256"/>
            <a:ext cx="2048255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5B6778"/>
                </a:solidFill>
                <a:latin typeface="Calibri"/>
              </a:rPr>
              <a:t>their own site, SLA, requests, tests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2377440"/>
            <a:ext cx="2651760" cy="2286000"/>
          </a:xfrm>
          <a:prstGeom prst="roundRect">
            <a:avLst>
              <a:gd name="adj" fmla="val 12000"/>
            </a:avLst>
          </a:prstGeom>
          <a:solidFill>
            <a:srgbClr val="0B1B2E"/>
          </a:solidFill>
          <a:ln w="19050">
            <a:solidFill>
              <a:srgbClr val="0B1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872" y="2468880"/>
            <a:ext cx="2505456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Portal  :8094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2779776"/>
            <a:ext cx="2505456" cy="1828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CBD5E1"/>
                </a:solidFill>
                <a:latin typeface="Calibri"/>
              </a:rPr>
              <a:t>FastAPI · jobs · change control · SLA probes · failover lab · config history · roles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51760" y="2587752"/>
            <a:ext cx="822960" cy="429768"/>
          </a:xfrm>
          <a:prstGeom prst="line">
            <a:avLst/>
          </a:prstGeom>
          <a:ln w="19050">
            <a:solidFill>
              <a:srgbClr val="5B67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651760" y="4023360"/>
            <a:ext cx="822960" cy="393192"/>
          </a:xfrm>
          <a:prstGeom prst="line">
            <a:avLst/>
          </a:prstGeom>
          <a:ln w="19050">
            <a:solidFill>
              <a:srgbClr val="5B67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949440" y="1783080"/>
            <a:ext cx="21488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22592" y="1874519"/>
            <a:ext cx="2002536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50" b="1" i="0">
                <a:solidFill>
                  <a:srgbClr val="0B1B2E"/>
                </a:solidFill>
                <a:latin typeface="Calibri"/>
              </a:rPr>
              <a:t>lab.conf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2185416"/>
            <a:ext cx="2002536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5B6778"/>
                </a:solidFill>
                <a:latin typeface="Calibri"/>
              </a:rPr>
              <a:t>the intended design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3063240"/>
            <a:ext cx="21488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22592" y="3154680"/>
            <a:ext cx="2002536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50" b="1" i="0">
                <a:solidFill>
                  <a:srgbClr val="0B1B2E"/>
                </a:solidFill>
                <a:latin typeface="Calibri"/>
              </a:rPr>
              <a:t>Render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2592" y="3465576"/>
            <a:ext cx="2002536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5B6778"/>
                </a:solidFill>
                <a:latin typeface="Calibri"/>
              </a:rPr>
              <a:t>hub, spoke and provider config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4343400"/>
            <a:ext cx="21488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22592" y="4434840"/>
            <a:ext cx="2002536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50" b="1" i="0">
                <a:solidFill>
                  <a:srgbClr val="0B1B2E"/>
                </a:solidFill>
                <a:latin typeface="Calibri"/>
              </a:rPr>
              <a:t>Nautobot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2592" y="4745736"/>
            <a:ext cx="2002536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5B6778"/>
                </a:solidFill>
                <a:latin typeface="Calibri"/>
              </a:rPr>
              <a:t>mirrors the model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6126480" y="2240280"/>
            <a:ext cx="822960" cy="685800"/>
          </a:xfrm>
          <a:prstGeom prst="line">
            <a:avLst/>
          </a:prstGeom>
          <a:ln w="19050">
            <a:solidFill>
              <a:srgbClr val="5B67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023860" y="2697480"/>
            <a:ext cx="0" cy="365760"/>
          </a:xfrm>
          <a:prstGeom prst="line">
            <a:avLst/>
          </a:prstGeom>
          <a:ln w="19050">
            <a:solidFill>
              <a:srgbClr val="5B67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126480" y="3931920"/>
            <a:ext cx="822960" cy="822960"/>
          </a:xfrm>
          <a:prstGeom prst="line">
            <a:avLst/>
          </a:prstGeom>
          <a:ln w="19050">
            <a:solidFill>
              <a:srgbClr val="5B67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692640" y="1417320"/>
            <a:ext cx="210312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5792" y="1508760"/>
            <a:ext cx="19568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50" b="1" i="0">
                <a:solidFill>
                  <a:srgbClr val="0B1B2E"/>
                </a:solidFill>
                <a:latin typeface="Calibri"/>
              </a:rPr>
              <a:t>Catalyst 8000v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65792" y="1819656"/>
            <a:ext cx="1956815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5B6778"/>
                </a:solidFill>
                <a:latin typeface="Calibri"/>
              </a:rPr>
              <a:t>Terraform (NAC) → RESTCONF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92640" y="2697480"/>
            <a:ext cx="210312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65792" y="2788920"/>
            <a:ext cx="19568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50" b="1" i="0">
                <a:solidFill>
                  <a:srgbClr val="0B1B2E"/>
                </a:solidFill>
                <a:latin typeface="Calibri"/>
              </a:rPr>
              <a:t>VyOS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65792" y="3099816"/>
            <a:ext cx="1956815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5B6778"/>
                </a:solidFill>
                <a:latin typeface="Calibri"/>
              </a:rPr>
              <a:t>SSH push, declarative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92640" y="3977639"/>
            <a:ext cx="210312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65792" y="4069079"/>
            <a:ext cx="19568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50" b="1" i="0">
                <a:solidFill>
                  <a:srgbClr val="0B1B2E"/>
                </a:solidFill>
                <a:latin typeface="Calibri"/>
              </a:rPr>
              <a:t>Providers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65792" y="4379976"/>
            <a:ext cx="1956815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5B6778"/>
                </a:solidFill>
                <a:latin typeface="Calibri"/>
              </a:rPr>
              <a:t>mpls and mpls2 (VyOS)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92640" y="5257800"/>
            <a:ext cx="21031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65792" y="5349240"/>
            <a:ext cx="1956815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50" b="1" i="0">
                <a:solidFill>
                  <a:srgbClr val="0B1B2E"/>
                </a:solidFill>
                <a:latin typeface="Calibri"/>
              </a:rPr>
              <a:t>VictoriaMetrics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5660136"/>
            <a:ext cx="1956815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5B6778"/>
                </a:solidFill>
                <a:latin typeface="Calibri"/>
              </a:rPr>
              <a:t>SLA and application probes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9098280" y="1920240"/>
            <a:ext cx="594360" cy="1508760"/>
          </a:xfrm>
          <a:prstGeom prst="line">
            <a:avLst/>
          </a:prstGeom>
          <a:ln w="19050">
            <a:solidFill>
              <a:srgbClr val="5B67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9098280" y="3154680"/>
            <a:ext cx="594360" cy="365760"/>
          </a:xfrm>
          <a:prstGeom prst="line">
            <a:avLst/>
          </a:prstGeom>
          <a:ln w="19050">
            <a:solidFill>
              <a:srgbClr val="5B67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098280" y="3611880"/>
            <a:ext cx="594360" cy="822960"/>
          </a:xfrm>
          <a:prstGeom prst="line">
            <a:avLst/>
          </a:prstGeom>
          <a:ln w="19050">
            <a:solidFill>
              <a:srgbClr val="5B67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126480" y="4480560"/>
            <a:ext cx="3566160" cy="1188720"/>
          </a:xfrm>
          <a:prstGeom prst="line">
            <a:avLst/>
          </a:prstGeom>
          <a:ln w="19050">
            <a:solidFill>
              <a:srgbClr val="5B67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766560" y="5669280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B6778"/>
                </a:solidFill>
                <a:latin typeface="Calibri"/>
              </a:rPr>
              <a:t>every minute: pings, app checks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440680"/>
            <a:ext cx="576072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0E7490"/>
                </a:solidFill>
                <a:latin typeface="Calibri"/>
              </a:rPr>
              <a:t>Read path: </a:t>
            </a:r>
            <a:r>
              <a:rPr sz="1150" b="0" i="0">
                <a:solidFill>
                  <a:srgbClr val="1F2937"/>
                </a:solidFill>
                <a:latin typeface="Calibri"/>
              </a:rPr>
              <a:t>the portal polls every router (RESTCONF, CLI, VyOS op mode) and draws what is really there, not what should be.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7490"/>
                </a:solidFill>
                <a:latin typeface="Calibri"/>
              </a:rPr>
              <a:t>WHAT YOU CAN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111556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0B1B2E"/>
                </a:solidFill>
                <a:latin typeface="Calibri"/>
              </a:rPr>
              <a:t>Capabilities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C8000v DMVPN Portal · v0.21.0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88720"/>
            <a:ext cx="2743200" cy="2487168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 w="9525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12648" y="1408176"/>
            <a:ext cx="457200" cy="45720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7864" y="1463040"/>
            <a:ext cx="1828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B1B2E"/>
                </a:solidFill>
                <a:latin typeface="Calibri"/>
              </a:rPr>
              <a:t>See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029968"/>
            <a:ext cx="2377440" cy="15727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Live cloud table and KPIs, a topology map drawn from live state, per-customer details, path trace and 'watch the shortcut form'.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64408" y="1188720"/>
            <a:ext cx="2743200" cy="2487168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 w="9525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65576" y="1408176"/>
            <a:ext cx="457200" cy="45720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1463040"/>
            <a:ext cx="1828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B1B2E"/>
                </a:solidFill>
                <a:latin typeface="Calibri"/>
              </a:rPr>
              <a:t>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5576" y="2029968"/>
            <a:ext cx="2377440" cy="15727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Add, modify and remove customers, deploy the model, fix drift, back up and restore, choose the preferred hub or add a second provider.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17336" y="1188720"/>
            <a:ext cx="2743200" cy="2487168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 w="9525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18504" y="1408176"/>
            <a:ext cx="457200" cy="45720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1463040"/>
            <a:ext cx="1828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B1B2E"/>
                </a:solidFill>
                <a:latin typeface="Calibri"/>
              </a:rPr>
              <a:t>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2029968"/>
            <a:ext cx="2377440" cy="15727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Change requests with four-eyes approval, change windows, emergency changes, and maintenance mode that mutes alerts.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0263" y="1188720"/>
            <a:ext cx="2743200" cy="2487168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 w="9525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71432" y="1408176"/>
            <a:ext cx="457200" cy="45720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56647" y="1463040"/>
            <a:ext cx="1828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B1B2E"/>
                </a:solidFill>
                <a:latin typeface="Calibri"/>
              </a:rPr>
              <a:t>Audit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029968"/>
            <a:ext cx="2377440" cy="15727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Every job snapshots every router before and after it runs, records who asked and who approved, and shows a diff per router.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803904"/>
            <a:ext cx="2743200" cy="2487168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 w="9525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12648" y="4023360"/>
            <a:ext cx="457200" cy="45720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97864" y="4078224"/>
            <a:ext cx="1828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B1B2E"/>
                </a:solidFill>
                <a:latin typeface="Calibri"/>
              </a:rPr>
              <a:t>Prove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4645152"/>
            <a:ext cx="2377440" cy="15727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SLA per customer (availability, latency, loss), application checks, simulated failures and measured failover times.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64408" y="3803904"/>
            <a:ext cx="2743200" cy="2487168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 w="9525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465576" y="4023360"/>
            <a:ext cx="457200" cy="45720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50792" y="4078224"/>
            <a:ext cx="1828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B1B2E"/>
                </a:solidFill>
                <a:latin typeface="Calibri"/>
              </a:rPr>
              <a:t>Secure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65576" y="4645152"/>
            <a:ext cx="2377440" cy="15727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Sign-in with roles, admin-only pre-shared key rotation with a random key, and secrets masked in every view and log.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17336" y="3803904"/>
            <a:ext cx="2743200" cy="2487168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 w="9525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18504" y="4023360"/>
            <a:ext cx="457200" cy="45720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4078224"/>
            <a:ext cx="1828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B1B2E"/>
                </a:solidFill>
                <a:latin typeface="Calibri"/>
              </a:rPr>
              <a:t>Customers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18504" y="4645152"/>
            <a:ext cx="2377440" cy="15727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A read-only customer portal: its own site and applications, SLA and PDF report, change requests and self-service tests.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70263" y="3803904"/>
            <a:ext cx="2743200" cy="2487168"/>
          </a:xfrm>
          <a:prstGeom prst="roundRect">
            <a:avLst>
              <a:gd name="adj" fmla="val 5000"/>
            </a:avLst>
          </a:prstGeom>
          <a:solidFill>
            <a:srgbClr val="F6F8FA"/>
          </a:solidFill>
          <a:ln w="9525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71432" y="4023360"/>
            <a:ext cx="457200" cy="457200"/>
          </a:xfrm>
          <a:prstGeom prst="ellips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56647" y="4078224"/>
            <a:ext cx="1828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B1B2E"/>
                </a:solidFill>
                <a:latin typeface="Calibri"/>
              </a:rPr>
              <a:t>Automate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71432" y="4645152"/>
            <a:ext cx="2377440" cy="15727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A REST API for everything (Swagger), Prometheus metrics, progress and ETA for each job, and a 73-test Robot suite after each change.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788920"/>
            <a:ext cx="109728" cy="11887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697480"/>
            <a:ext cx="1005840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A tour of the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429000"/>
            <a:ext cx="1005840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  <a:latin typeface="Calibri"/>
              </a:rPr>
              <a:t>Numbered callouts on each screenshot match the explanations beside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7490"/>
                </a:solidFill>
                <a:latin typeface="Calibri"/>
              </a:rPr>
              <a:t>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111556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0B1B2E"/>
                </a:solidFill>
                <a:latin typeface="Calibri"/>
              </a:rPr>
              <a:t>Everyone signs in, and the role decides what they see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C8000v DMVPN Portal · v0.21.0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" y="1243584"/>
            <a:ext cx="8001000" cy="5000625"/>
          </a:xfrm>
          <a:prstGeom prst="rect">
            <a:avLst/>
          </a:prstGeom>
          <a:solidFill>
            <a:srgbClr val="D6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8001000" cy="5000625"/>
          </a:xfrm>
          <a:prstGeom prst="rect">
            <a:avLst/>
          </a:prstGeom>
          <a:ln w="9525">
            <a:solidFill>
              <a:srgbClr val="D6DDE5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3429857" y="2803609"/>
            <a:ext cx="1964245" cy="1770846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74409" y="2648161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0" y="120700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0848" y="1170432"/>
            <a:ext cx="28190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1B2E"/>
                </a:solidFill>
                <a:latin typeface="Calibri"/>
              </a:rPr>
              <a:t>Sign in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Staff roles are viewer, operator, approver and admin. A customer account sees only its own service. Sessions are signed cookies, passwords are PBKDF2 hashes.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5229225"/>
            <a:ext cx="3139135" cy="960119"/>
          </a:xfrm>
          <a:prstGeom prst="roundRect">
            <a:avLst>
              <a:gd name="adj" fmla="val 8000"/>
            </a:avLst>
          </a:prstGeom>
          <a:solidFill>
            <a:srgbClr val="E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23960" y="5302377"/>
            <a:ext cx="2864815" cy="8138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0E7490"/>
                </a:solidFill>
                <a:latin typeface="Calibri"/>
              </a:rPr>
              <a:t>Why it matters  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Read-only users cannot start jobs, nobody approves their own change, and customers never see another customer.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7490"/>
                </a:solidFill>
                <a:latin typeface="Calibri"/>
              </a:rPr>
              <a:t>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111556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0B1B2E"/>
                </a:solidFill>
                <a:latin typeface="Calibri"/>
              </a:rPr>
              <a:t>The cloud: every router, read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C8000v DMVPN Portal · v0.21.0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" y="1243584"/>
            <a:ext cx="8001000" cy="5000625"/>
          </a:xfrm>
          <a:prstGeom prst="rect">
            <a:avLst/>
          </a:prstGeom>
          <a:solidFill>
            <a:srgbClr val="D6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2_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8001000" cy="5000625"/>
          </a:xfrm>
          <a:prstGeom prst="rect">
            <a:avLst/>
          </a:prstGeom>
          <a:ln w="9525">
            <a:solidFill>
              <a:srgbClr val="D6DDE5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709517" y="1766839"/>
            <a:ext cx="7404925" cy="418255"/>
          </a:xfrm>
          <a:prstGeom prst="roundRect">
            <a:avLst>
              <a:gd name="adj" fmla="val 25000"/>
            </a:avLst>
          </a:prstGeom>
          <a:noFill/>
          <a:ln w="285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54069" y="1611391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4527" y="2458878"/>
            <a:ext cx="7234904" cy="2105341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9079" y="2303430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4527" y="5023652"/>
            <a:ext cx="7234904" cy="524596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079" y="4868204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01250" y="1536185"/>
            <a:ext cx="1639595" cy="146304"/>
          </a:xfrm>
          <a:prstGeom prst="roundRect">
            <a:avLst>
              <a:gd name="adj" fmla="val 25000"/>
            </a:avLst>
          </a:prstGeom>
          <a:noFill/>
          <a:ln w="285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045802" y="1380737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0" y="120700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0848" y="1170432"/>
            <a:ext cx="28190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1B2E"/>
                </a:solidFill>
                <a:latin typeface="Calibri"/>
              </a:rPr>
              <a:t>KPIs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Hubs, customers, registrations, shortcuts and BGP at a glance.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0" y="212140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0848" y="2084831"/>
            <a:ext cx="28190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1B2E"/>
                </a:solidFill>
                <a:latin typeface="Calibri"/>
              </a:rPr>
              <a:t>Every router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NHRP registrations, IPsec, overlay BGP, the provider and the preferred hub, read from the routers themselves.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0" y="32186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0848" y="3182112"/>
            <a:ext cx="28190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1B2E"/>
                </a:solidFill>
                <a:latin typeface="Calibri"/>
              </a:rPr>
              <a:t>Both providers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Access links and eBGP on mpls and mpls2.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0" y="3950207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0848" y="3913632"/>
            <a:ext cx="28190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1B2E"/>
                </a:solidFill>
                <a:latin typeface="Calibri"/>
              </a:rPr>
              <a:t>Who you are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The account, its role and the portal version, always visible.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5229225"/>
            <a:ext cx="3139135" cy="960119"/>
          </a:xfrm>
          <a:prstGeom prst="roundRect">
            <a:avLst>
              <a:gd name="adj" fmla="val 8000"/>
            </a:avLst>
          </a:prstGeom>
          <a:solidFill>
            <a:srgbClr val="E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960" y="5302377"/>
            <a:ext cx="2864815" cy="8138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0E7490"/>
                </a:solidFill>
                <a:latin typeface="Calibri"/>
              </a:rPr>
              <a:t>Why it matters  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One screen answers 'is every spoke registered with every hub?' with no CLI logins.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7490"/>
                </a:solidFill>
                <a:latin typeface="Calibri"/>
              </a:rPr>
              <a:t>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111556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0B1B2E"/>
                </a:solidFill>
                <a:latin typeface="Calibri"/>
              </a:rPr>
              <a:t>Health and configuration drift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C8000v DMVPN Portal · v0.21.0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" y="1243584"/>
            <a:ext cx="8001000" cy="5000625"/>
          </a:xfrm>
          <a:prstGeom prst="rect">
            <a:avLst/>
          </a:prstGeom>
          <a:solidFill>
            <a:srgbClr val="D6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3_dr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8001000" cy="5000625"/>
          </a:xfrm>
          <a:prstGeom prst="rect">
            <a:avLst/>
          </a:prstGeom>
          <a:ln w="9525">
            <a:solidFill>
              <a:srgbClr val="D6DDE5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794527" y="3566751"/>
            <a:ext cx="7234904" cy="148768"/>
          </a:xfrm>
          <a:prstGeom prst="roundRect">
            <a:avLst>
              <a:gd name="adj" fmla="val 25000"/>
            </a:avLst>
          </a:prstGeom>
          <a:noFill/>
          <a:ln w="285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9079" y="3411303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9517" y="3820533"/>
            <a:ext cx="7404925" cy="2289192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4069" y="3665085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0" y="120700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0848" y="1170432"/>
            <a:ext cx="28190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1B2E"/>
                </a:solidFill>
                <a:latin typeface="Calibri"/>
              </a:rPr>
              <a:t>Health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Everything the model expects to be up is checked, and anything missing is named.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0" y="212140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8" y="2084831"/>
            <a:ext cx="28190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1B2E"/>
                </a:solidFill>
                <a:latin typeface="Calibri"/>
              </a:rPr>
              <a:t>Drift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Each router is compared with what lab.conf renders. 'Fix drift' puts it back as a controlled job.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5229225"/>
            <a:ext cx="3139135" cy="960119"/>
          </a:xfrm>
          <a:prstGeom prst="roundRect">
            <a:avLst>
              <a:gd name="adj" fmla="val 8000"/>
            </a:avLst>
          </a:prstGeom>
          <a:solidFill>
            <a:srgbClr val="E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60" y="5302377"/>
            <a:ext cx="2864815" cy="8138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0E7490"/>
                </a:solidFill>
                <a:latin typeface="Calibri"/>
              </a:rPr>
              <a:t>Why it matters  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Hand edits no longer go unnoticed: drift is visible per router, and fixing it is one approved job.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7490"/>
                </a:solidFill>
                <a:latin typeface="Calibri"/>
              </a:rPr>
              <a:t>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111556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0B1B2E"/>
                </a:solidFill>
                <a:latin typeface="Calibri"/>
              </a:rPr>
              <a:t>A topology map drawn from live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C8000v DMVPN Portal · v0.21.0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" y="1243584"/>
            <a:ext cx="8001000" cy="5000625"/>
          </a:xfrm>
          <a:prstGeom prst="rect">
            <a:avLst/>
          </a:prstGeom>
          <a:solidFill>
            <a:srgbClr val="D6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8001000" cy="5000625"/>
          </a:xfrm>
          <a:prstGeom prst="rect">
            <a:avLst/>
          </a:prstGeom>
          <a:ln w="9525">
            <a:solidFill>
              <a:srgbClr val="D6DDE5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794527" y="2300655"/>
            <a:ext cx="5564695" cy="3707103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9079" y="2145207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4527" y="2000618"/>
            <a:ext cx="3621640" cy="300037"/>
          </a:xfrm>
          <a:prstGeom prst="roundRect">
            <a:avLst>
              <a:gd name="adj" fmla="val 25000"/>
            </a:avLst>
          </a:prstGeom>
          <a:noFill/>
          <a:ln w="285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9079" y="1845170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7439" y="1886854"/>
            <a:ext cx="1021783" cy="146304"/>
          </a:xfrm>
          <a:prstGeom prst="roundRect">
            <a:avLst>
              <a:gd name="adj" fmla="val 25000"/>
            </a:avLst>
          </a:prstGeom>
          <a:noFill/>
          <a:ln w="285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181991" y="1731406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50234" y="1766839"/>
            <a:ext cx="1664208" cy="4422505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94786" y="1611391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0" y="120700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0848" y="1170432"/>
            <a:ext cx="28190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1B2E"/>
                </a:solidFill>
                <a:latin typeface="Calibri"/>
              </a:rPr>
              <a:t>The map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Hubs, providers, customers and LAN hosts. Tunnel colour shows health, and the preferred hub is drawn bold.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0" y="23042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0848" y="2267712"/>
            <a:ext cx="28190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1B2E"/>
                </a:solidFill>
                <a:latin typeface="Calibri"/>
              </a:rPr>
              <a:t>Layers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Turn provider 2 and cloud 2, shortcuts, hosts and labels on or off.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0" y="32186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0848" y="3182112"/>
            <a:ext cx="28190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1B2E"/>
                </a:solidFill>
                <a:latin typeface="Calibri"/>
              </a:rPr>
              <a:t>Export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SVG or PNG, light or dark, exactly as drawn.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0" y="4133087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0848" y="4096512"/>
            <a:ext cx="28190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1B2E"/>
                </a:solidFill>
                <a:latin typeface="Calibri"/>
              </a:rPr>
              <a:t>Details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Click a node to see the customer company, its applications (checked every minute) and the router's live state.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5257800"/>
            <a:ext cx="3139135" cy="931544"/>
          </a:xfrm>
          <a:prstGeom prst="roundRect">
            <a:avLst>
              <a:gd name="adj" fmla="val 8000"/>
            </a:avLst>
          </a:prstGeom>
          <a:solidFill>
            <a:srgbClr val="E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960" y="5330952"/>
            <a:ext cx="2864815" cy="785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0E7490"/>
                </a:solidFill>
                <a:latin typeface="Calibri"/>
              </a:rPr>
              <a:t>Why it matters  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Everyone gets the same live picture, from operations to account managers and customers.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7490"/>
                </a:solidFill>
                <a:latin typeface="Calibri"/>
              </a:rPr>
              <a:t>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111556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0B1B2E"/>
                </a:solidFill>
                <a:latin typeface="Calibri"/>
              </a:rPr>
              <a:t>Path trace: watch the phase 3 shortcut 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C8000v DMVPN Portal · v0.21.0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" y="1243584"/>
            <a:ext cx="8001000" cy="5000625"/>
          </a:xfrm>
          <a:prstGeom prst="rect">
            <a:avLst/>
          </a:prstGeom>
          <a:solidFill>
            <a:srgbClr val="D6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8001000" cy="5000625"/>
          </a:xfrm>
          <a:prstGeom prst="rect">
            <a:avLst/>
          </a:prstGeom>
          <a:ln w="9525">
            <a:solidFill>
              <a:srgbClr val="D6DDE5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794527" y="1230522"/>
            <a:ext cx="5564695" cy="3707103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9079" y="1075074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5245" y="3298749"/>
            <a:ext cx="1494186" cy="578275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79797" y="3143301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9517" y="5504571"/>
            <a:ext cx="7404925" cy="684773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54069" y="5349123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0" y="120700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8" y="1170432"/>
            <a:ext cx="28190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1B2E"/>
                </a:solidFill>
                <a:latin typeface="Calibri"/>
              </a:rPr>
              <a:t>First via a hub, then direct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The first packets go through a hub. NHRP then builds a spoke-to-spoke shortcut, drawn in purple.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0" y="23042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0848" y="2267712"/>
            <a:ext cx="28190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1B2E"/>
                </a:solidFill>
                <a:latin typeface="Calibri"/>
              </a:rPr>
              <a:t>Details and actions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Trace, watch the shortcut form, ping every host, and view the config history per router.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0" y="340156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0848" y="3364992"/>
            <a:ext cx="28190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1B2E"/>
                </a:solidFill>
                <a:latin typeface="Calibri"/>
              </a:rPr>
              <a:t>Every trace, hop by hop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The raw output is kept so you can copy or download 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5229225"/>
            <a:ext cx="3139135" cy="960119"/>
          </a:xfrm>
          <a:prstGeom prst="roundRect">
            <a:avLst>
              <a:gd name="adj" fmla="val 8000"/>
            </a:avLst>
          </a:prstGeom>
          <a:solidFill>
            <a:srgbClr val="E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3960" y="5302377"/>
            <a:ext cx="2864815" cy="8138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0E7490"/>
                </a:solidFill>
                <a:latin typeface="Calibri"/>
              </a:rPr>
              <a:t>Why it matters  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It shows that DMVPN phase 3 works end to end, and makes it easy to explain.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7490"/>
                </a:solidFill>
                <a:latin typeface="Calibri"/>
              </a:rPr>
              <a:t>PROVE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111556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0B1B2E"/>
                </a:solidFill>
                <a:latin typeface="Calibri"/>
              </a:rPr>
              <a:t>SLA per customer, from VictoriaMetrics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C8000v DMVPN Portal · v0.21.0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" y="1243584"/>
            <a:ext cx="8001000" cy="5000625"/>
          </a:xfrm>
          <a:prstGeom prst="rect">
            <a:avLst/>
          </a:prstGeom>
          <a:solidFill>
            <a:srgbClr val="D6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6_s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8001000" cy="5000625"/>
          </a:xfrm>
          <a:prstGeom prst="rect">
            <a:avLst/>
          </a:prstGeom>
          <a:ln w="9525">
            <a:solidFill>
              <a:srgbClr val="D6DDE5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794527" y="2129384"/>
            <a:ext cx="7234904" cy="567727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9079" y="1973936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4527" y="2838613"/>
            <a:ext cx="7234904" cy="1617545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9079" y="2683165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54619" y="1841848"/>
            <a:ext cx="3374812" cy="208776"/>
          </a:xfrm>
          <a:prstGeom prst="roundRect">
            <a:avLst>
              <a:gd name="adj" fmla="val 25000"/>
            </a:avLst>
          </a:prstGeom>
          <a:noFill/>
          <a:ln w="285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99171" y="1686400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0" y="120700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8" y="1170432"/>
            <a:ext cx="28190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1B2E"/>
                </a:solidFill>
                <a:latin typeface="Calibri"/>
              </a:rPr>
              <a:t>Against targets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Availability, latency, loss and tunnel uptime, each compared with its SLA target.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0" y="23042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0848" y="2267712"/>
            <a:ext cx="28190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1B2E"/>
                </a:solidFill>
                <a:latin typeface="Calibri"/>
              </a:rPr>
              <a:t>Latency to each hub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Probed every minute from the customer's own LAN host.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0" y="32186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0848" y="3182112"/>
            <a:ext cx="28190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1B2E"/>
                </a:solidFill>
                <a:latin typeface="Calibri"/>
              </a:rPr>
              <a:t>Window and report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24 hours, 30 days or this month, with a monthly PDF report for the customer.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5229225"/>
            <a:ext cx="3139135" cy="960119"/>
          </a:xfrm>
          <a:prstGeom prst="roundRect">
            <a:avLst>
              <a:gd name="adj" fmla="val 8000"/>
            </a:avLst>
          </a:prstGeom>
          <a:solidFill>
            <a:srgbClr val="E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3960" y="5302377"/>
            <a:ext cx="2864815" cy="8138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0E7490"/>
                </a:solidFill>
                <a:latin typeface="Calibri"/>
              </a:rPr>
              <a:t>Why it matters  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SLA reporting is automatic and based on measurements the customer can check.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7490"/>
                </a:solidFill>
                <a:latin typeface="Calibri"/>
              </a:rPr>
              <a:t>PROVE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111556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0B1B2E"/>
                </a:solidFill>
                <a:latin typeface="Calibri"/>
              </a:rPr>
              <a:t>Simulate failures on 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C8000v DMVPN Portal · v0.21.0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" y="1243584"/>
            <a:ext cx="8001000" cy="5000625"/>
          </a:xfrm>
          <a:prstGeom prst="rect">
            <a:avLst/>
          </a:prstGeom>
          <a:solidFill>
            <a:srgbClr val="D6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7_resili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8001000" cy="5000625"/>
          </a:xfrm>
          <a:prstGeom prst="rect">
            <a:avLst/>
          </a:prstGeom>
          <a:ln w="9525">
            <a:solidFill>
              <a:srgbClr val="D6DDE5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794527" y="2102584"/>
            <a:ext cx="1089136" cy="200025"/>
          </a:xfrm>
          <a:prstGeom prst="roundRect">
            <a:avLst>
              <a:gd name="adj" fmla="val 25000"/>
            </a:avLst>
          </a:prstGeom>
          <a:noFill/>
          <a:ln w="285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9079" y="1947136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18968" y="2573893"/>
            <a:ext cx="781910" cy="208776"/>
          </a:xfrm>
          <a:prstGeom prst="roundRect">
            <a:avLst>
              <a:gd name="adj" fmla="val 25000"/>
            </a:avLst>
          </a:prstGeom>
          <a:noFill/>
          <a:ln w="285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63520" y="2418445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4527" y="3590895"/>
            <a:ext cx="7234904" cy="686335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079" y="3435447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0" y="120700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8" y="1170432"/>
            <a:ext cx="28190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1B2E"/>
                </a:solidFill>
                <a:latin typeface="Calibri"/>
              </a:rPr>
              <a:t>Choose a failure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A hub, a provider, or a customer circuit. The page says what should happen before you press anything.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0" y="23042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0848" y="2267712"/>
            <a:ext cx="28190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1B2E"/>
                </a:solidFill>
                <a:latin typeface="Calibri"/>
              </a:rPr>
              <a:t>Measure failover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Every LAN host pings every other host five times a second while the fault is in.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0" y="32186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0848" y="3182112"/>
            <a:ext cx="28190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1B2E"/>
                </a:solidFill>
                <a:latin typeface="Calibri"/>
              </a:rPr>
              <a:t>Every measurement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Flows unaffected, failed over or cut off, the worst failover and the time back to healthy.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5229225"/>
            <a:ext cx="3139135" cy="960119"/>
          </a:xfrm>
          <a:prstGeom prst="roundRect">
            <a:avLst>
              <a:gd name="adj" fmla="val 8000"/>
            </a:avLst>
          </a:prstGeom>
          <a:solidFill>
            <a:srgbClr val="E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3960" y="5302377"/>
            <a:ext cx="2864815" cy="8138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0E7490"/>
                </a:solidFill>
                <a:latin typeface="Calibri"/>
              </a:rPr>
              <a:t>Why it matters  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Resilience becomes a number rather than a claim, for example 0.6 s worst case for a hub failure.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7490"/>
                </a:solidFill>
                <a:latin typeface="Calibri"/>
              </a:rPr>
              <a:t>PROVE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111556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0B1B2E"/>
                </a:solidFill>
                <a:latin typeface="Calibri"/>
              </a:rPr>
              <a:t>One failover experiment, flow by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C8000v DMVPN Portal · v0.21.0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" y="1243584"/>
            <a:ext cx="8001000" cy="5000625"/>
          </a:xfrm>
          <a:prstGeom prst="rect">
            <a:avLst/>
          </a:prstGeom>
          <a:solidFill>
            <a:srgbClr val="D6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8_fail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8001000" cy="5000625"/>
          </a:xfrm>
          <a:prstGeom prst="rect">
            <a:avLst/>
          </a:prstGeom>
          <a:ln w="9525">
            <a:solidFill>
              <a:srgbClr val="D6DDE5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794527" y="1226849"/>
            <a:ext cx="7234904" cy="148768"/>
          </a:xfrm>
          <a:prstGeom prst="roundRect">
            <a:avLst>
              <a:gd name="adj" fmla="val 25000"/>
            </a:avLst>
          </a:prstGeom>
          <a:noFill/>
          <a:ln w="285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9079" y="1071401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4527" y="1625024"/>
            <a:ext cx="7234904" cy="4564320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9079" y="1469576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0" y="120700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0848" y="1170432"/>
            <a:ext cx="28190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1B2E"/>
                </a:solidFill>
                <a:latin typeface="Calibri"/>
              </a:rPr>
              <a:t>The experiment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What failed, for how long, and the headline figures.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0" y="212140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8" y="2084831"/>
            <a:ext cx="28190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1B2E"/>
                </a:solidFill>
                <a:latin typeface="Calibri"/>
              </a:rPr>
              <a:t>Each flow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The verdict and an outage timeline for every host pair, so you can see which paths moved and which were cut.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5229225"/>
            <a:ext cx="3139135" cy="960119"/>
          </a:xfrm>
          <a:prstGeom prst="roundRect">
            <a:avLst>
              <a:gd name="adj" fmla="val 8000"/>
            </a:avLst>
          </a:prstGeom>
          <a:solidFill>
            <a:srgbClr val="E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60" y="5302377"/>
            <a:ext cx="2864815" cy="8138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0E7490"/>
                </a:solidFill>
                <a:latin typeface="Calibri"/>
              </a:rPr>
              <a:t>Why it matters  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You can see exactly which customers a failure affects, and for how long.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7490"/>
                </a:solidFill>
                <a:latin typeface="Calibri"/>
              </a:rPr>
              <a:t>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111556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0B1B2E"/>
                </a:solidFill>
                <a:latin typeface="Calibri"/>
              </a:rPr>
              <a:t>Provision: every change is a job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C8000v DMVPN Portal · v0.21.0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" y="1243584"/>
            <a:ext cx="8001000" cy="5000625"/>
          </a:xfrm>
          <a:prstGeom prst="rect">
            <a:avLst/>
          </a:prstGeom>
          <a:solidFill>
            <a:srgbClr val="D6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9_prov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8001000" cy="5000625"/>
          </a:xfrm>
          <a:prstGeom prst="rect">
            <a:avLst/>
          </a:prstGeom>
          <a:ln w="9525">
            <a:solidFill>
              <a:srgbClr val="D6DDE5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794527" y="2000618"/>
            <a:ext cx="7234904" cy="2163473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9079" y="1845170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9517" y="4269105"/>
            <a:ext cx="7404925" cy="1058569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4069" y="4113657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0" y="120700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0848" y="1170432"/>
            <a:ext cx="28190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1B2E"/>
                </a:solidFill>
                <a:latin typeface="Calibri"/>
              </a:rPr>
              <a:t>Tasks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Add, modify and remove customers, deploy, check for and fix drift, back up, restore, dry run and tests.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0" y="23042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8" y="2267712"/>
            <a:ext cx="28190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1B2E"/>
                </a:solidFill>
                <a:latin typeface="Calibri"/>
              </a:rPr>
              <a:t>Pre-shared key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Admins rotate the DMVPN key. The system picks a random 40-character key, and only its fingerprint is ever shown.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5229225"/>
            <a:ext cx="3139135" cy="960119"/>
          </a:xfrm>
          <a:prstGeom prst="roundRect">
            <a:avLst>
              <a:gd name="adj" fmla="val 8000"/>
            </a:avLst>
          </a:prstGeom>
          <a:solidFill>
            <a:srgbClr val="E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60" y="5302377"/>
            <a:ext cx="2864815" cy="8138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0E7490"/>
                </a:solidFill>
                <a:latin typeface="Calibri"/>
              </a:rPr>
              <a:t>Why it matters  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Operators pick what they want done, and the portal carries it out consistently on every router.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7490"/>
                </a:solidFill>
                <a:latin typeface="Calibri"/>
              </a:rPr>
              <a:t>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111556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0B1B2E"/>
                </a:solidFill>
                <a:latin typeface="Calibri"/>
              </a:rPr>
              <a:t>Modify a customer, with the plan shown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C8000v DMVPN Portal · v0.21.0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" y="1243584"/>
            <a:ext cx="8001000" cy="5000625"/>
          </a:xfrm>
          <a:prstGeom prst="rect">
            <a:avLst/>
          </a:prstGeom>
          <a:solidFill>
            <a:srgbClr val="D6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0_modif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8001000" cy="5000625"/>
          </a:xfrm>
          <a:prstGeom prst="rect">
            <a:avLst/>
          </a:prstGeom>
          <a:ln w="9525">
            <a:solidFill>
              <a:srgbClr val="D6DDE5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2234707" y="2388713"/>
            <a:ext cx="882078" cy="200025"/>
          </a:xfrm>
          <a:prstGeom prst="roundRect">
            <a:avLst>
              <a:gd name="adj" fmla="val 25000"/>
            </a:avLst>
          </a:prstGeom>
          <a:noFill/>
          <a:ln w="285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079259" y="2233265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2785" y="2388713"/>
            <a:ext cx="882157" cy="200025"/>
          </a:xfrm>
          <a:prstGeom prst="roundRect">
            <a:avLst>
              <a:gd name="adj" fmla="val 25000"/>
            </a:avLst>
          </a:prstGeom>
          <a:noFill/>
          <a:ln w="285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947337" y="2233265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0940" y="2286747"/>
            <a:ext cx="882078" cy="301990"/>
          </a:xfrm>
          <a:prstGeom prst="roundRect">
            <a:avLst>
              <a:gd name="adj" fmla="val 25000"/>
            </a:avLst>
          </a:prstGeom>
          <a:noFill/>
          <a:ln w="285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815492" y="2131299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34707" y="4580081"/>
            <a:ext cx="4354544" cy="654144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079259" y="4424633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0" y="120700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0848" y="1170432"/>
            <a:ext cx="28190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1B2E"/>
                </a:solidFill>
                <a:latin typeface="Calibri"/>
              </a:rPr>
              <a:t>Router type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Move a customer between C8000v and VyOS.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0" y="193852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0848" y="1901952"/>
            <a:ext cx="28190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1B2E"/>
                </a:solidFill>
                <a:latin typeface="Calibri"/>
              </a:rPr>
              <a:t>Preferred hub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Pick the hub its traffic should prefer (local-preference 200).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0" y="285292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0848" y="2816352"/>
            <a:ext cx="28190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1B2E"/>
                </a:solidFill>
                <a:latin typeface="Calibri"/>
              </a:rPr>
              <a:t>Second provider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Dual-home the customer onto mpls2 and cloud 2.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0" y="3767327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0848" y="3730752"/>
            <a:ext cx="28190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1B2E"/>
                </a:solidFill>
                <a:latin typeface="Calibri"/>
              </a:rPr>
              <a:t>The plan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Exactly what will change on which routers, before anything runs.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5229225"/>
            <a:ext cx="3139135" cy="960119"/>
          </a:xfrm>
          <a:prstGeom prst="roundRect">
            <a:avLst>
              <a:gd name="adj" fmla="val 8000"/>
            </a:avLst>
          </a:prstGeom>
          <a:solidFill>
            <a:srgbClr val="E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960" y="5302377"/>
            <a:ext cx="2864815" cy="8138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0E7490"/>
                </a:solidFill>
                <a:latin typeface="Calibri"/>
              </a:rPr>
              <a:t>Why it matters  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No surprises: the impact is visible and reviewed before a change request is filed.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7490"/>
                </a:solidFill>
                <a:latin typeface="Calibri"/>
              </a:rPr>
              <a:t>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111556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0B1B2E"/>
                </a:solidFill>
                <a:latin typeface="Calibri"/>
              </a:rPr>
              <a:t>Change requests: four eyes and change windows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C8000v DMVPN Portal · v0.21.0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" y="1243584"/>
            <a:ext cx="8001000" cy="5000625"/>
          </a:xfrm>
          <a:prstGeom prst="rect">
            <a:avLst/>
          </a:prstGeom>
          <a:solidFill>
            <a:srgbClr val="D6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1_chan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8001000" cy="5000625"/>
          </a:xfrm>
          <a:prstGeom prst="rect">
            <a:avLst/>
          </a:prstGeom>
          <a:ln w="9525">
            <a:solidFill>
              <a:srgbClr val="D6DDE5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794527" y="2126259"/>
            <a:ext cx="7234904" cy="4063085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9079" y="1970811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0" y="120700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0848" y="1170432"/>
            <a:ext cx="28190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1B2E"/>
                </a:solidFill>
                <a:latin typeface="Calibri"/>
              </a:rPr>
              <a:t>Change requests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Each request shows who asked, what for, who approved or rejected it, and its status, including requests from customers.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5229225"/>
            <a:ext cx="3139135" cy="960119"/>
          </a:xfrm>
          <a:prstGeom prst="roundRect">
            <a:avLst>
              <a:gd name="adj" fmla="val 8000"/>
            </a:avLst>
          </a:prstGeom>
          <a:solidFill>
            <a:srgbClr val="E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23960" y="5302377"/>
            <a:ext cx="2864815" cy="8138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0E7490"/>
                </a:solidFill>
                <a:latin typeface="Calibri"/>
              </a:rPr>
              <a:t>Why it matters  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Disruptive work cannot start without a second person, and it runs only inside the agreed windows.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7490"/>
                </a:solidFill>
                <a:latin typeface="Calibri"/>
              </a:rPr>
              <a:t>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111556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0B1B2E"/>
                </a:solidFill>
                <a:latin typeface="Calibri"/>
              </a:rPr>
              <a:t>A job: who, what, and the 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C8000v DMVPN Portal · v0.21.0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" y="1243584"/>
            <a:ext cx="8001000" cy="5000625"/>
          </a:xfrm>
          <a:prstGeom prst="rect">
            <a:avLst/>
          </a:prstGeom>
          <a:solidFill>
            <a:srgbClr val="D6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2_jo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8001000" cy="5000625"/>
          </a:xfrm>
          <a:prstGeom prst="rect">
            <a:avLst/>
          </a:prstGeom>
          <a:ln w="9525">
            <a:solidFill>
              <a:srgbClr val="D6DDE5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794527" y="1227787"/>
            <a:ext cx="7234904" cy="148768"/>
          </a:xfrm>
          <a:prstGeom prst="roundRect">
            <a:avLst>
              <a:gd name="adj" fmla="val 25000"/>
            </a:avLst>
          </a:prstGeom>
          <a:noFill/>
          <a:ln w="285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9079" y="1072339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4527" y="1386557"/>
            <a:ext cx="7234904" cy="202525"/>
          </a:xfrm>
          <a:prstGeom prst="roundRect">
            <a:avLst>
              <a:gd name="adj" fmla="val 25000"/>
            </a:avLst>
          </a:prstGeom>
          <a:noFill/>
          <a:ln w="285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9079" y="1231109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4527" y="3743336"/>
            <a:ext cx="7234904" cy="2446008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079" y="3587888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9526" y="1593770"/>
            <a:ext cx="3664458" cy="1915239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4078" y="1438322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0" y="120700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0848" y="1170432"/>
            <a:ext cx="28190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1B2E"/>
                </a:solidFill>
                <a:latin typeface="Calibri"/>
              </a:rPr>
              <a:t>Who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Who started the job and who approved it.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0" y="193852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0848" y="1901952"/>
            <a:ext cx="28190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1B2E"/>
                </a:solidFill>
                <a:latin typeface="Calibri"/>
              </a:rPr>
              <a:t>Progress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Live progress and the time it took.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0" y="267004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0848" y="2633472"/>
            <a:ext cx="28190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1B2E"/>
                </a:solidFill>
                <a:latin typeface="Calibri"/>
              </a:rPr>
              <a:t>What changed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The before-and-after diff per router. Secrets are masked but their change is still visible.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0" y="376732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0848" y="3730752"/>
            <a:ext cx="28190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1B2E"/>
                </a:solidFill>
                <a:latin typeface="Calibri"/>
              </a:rPr>
              <a:t>Every step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Each step's result, for example '54 IKE SAs on 8 routers, all made after the rotation'.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5229225"/>
            <a:ext cx="3139135" cy="960119"/>
          </a:xfrm>
          <a:prstGeom prst="roundRect">
            <a:avLst>
              <a:gd name="adj" fmla="val 8000"/>
            </a:avLst>
          </a:prstGeom>
          <a:solidFill>
            <a:srgbClr val="E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960" y="5302377"/>
            <a:ext cx="2864815" cy="8138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0E7490"/>
                </a:solidFill>
                <a:latin typeface="Calibri"/>
              </a:rPr>
              <a:t>Why it matters  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Every change leaves evidence: the steps, the approvals and the exact configuration difference.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7490"/>
                </a:solidFill>
                <a:latin typeface="Calibri"/>
              </a:rPr>
              <a:t>SECURE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111556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0B1B2E"/>
                </a:solidFill>
                <a:latin typeface="Calibri"/>
              </a:rPr>
              <a:t>Lab tools and accounts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C8000v DMVPN Portal · v0.21.0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" y="1243584"/>
            <a:ext cx="8001000" cy="5000625"/>
          </a:xfrm>
          <a:prstGeom prst="rect">
            <a:avLst/>
          </a:prstGeom>
          <a:solidFill>
            <a:srgbClr val="D6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3_t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8001000" cy="5000625"/>
          </a:xfrm>
          <a:prstGeom prst="rect">
            <a:avLst/>
          </a:prstGeom>
          <a:ln w="9525">
            <a:solidFill>
              <a:srgbClr val="D6DDE5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709517" y="1766839"/>
            <a:ext cx="7404925" cy="2171599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54069" y="1611391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4527" y="4801359"/>
            <a:ext cx="7234904" cy="1387985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9079" y="4645911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0" y="120700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0848" y="1170432"/>
            <a:ext cx="28190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1B2E"/>
                </a:solidFill>
                <a:latin typeface="Calibri"/>
              </a:rPr>
              <a:t>Accounts and roles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Admins add, disable and delete accounts and set passwords. Accounts still on their lab-default password are flagged.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0" y="230428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8" y="2267712"/>
            <a:ext cx="28190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1B2E"/>
                </a:solidFill>
                <a:latin typeface="Calibri"/>
              </a:rPr>
              <a:t>Every tool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Nautobot, the API, the lab hub and the repository, each with how to sign 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5229225"/>
            <a:ext cx="3139135" cy="960119"/>
          </a:xfrm>
          <a:prstGeom prst="roundRect">
            <a:avLst>
              <a:gd name="adj" fmla="val 8000"/>
            </a:avLst>
          </a:prstGeom>
          <a:solidFill>
            <a:srgbClr val="E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60" y="5302377"/>
            <a:ext cx="2864815" cy="8138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0E7490"/>
                </a:solidFill>
                <a:latin typeface="Calibri"/>
              </a:rPr>
              <a:t>Why it matters  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Access is managed in one place, with visible warnings when the defaults have not been changed.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7490"/>
                </a:solidFill>
                <a:latin typeface="Calibri"/>
              </a:rPr>
              <a:t>CUSTOMERS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111556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0B1B2E"/>
                </a:solidFill>
                <a:latin typeface="Calibri"/>
              </a:rPr>
              <a:t>The customer's own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C8000v DMVPN Portal · v0.21.0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" y="1243584"/>
            <a:ext cx="8001000" cy="5000625"/>
          </a:xfrm>
          <a:prstGeom prst="rect">
            <a:avLst/>
          </a:prstGeom>
          <a:solidFill>
            <a:srgbClr val="D6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4_custo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8001000" cy="5000625"/>
          </a:xfrm>
          <a:prstGeom prst="rect">
            <a:avLst/>
          </a:prstGeom>
          <a:ln w="9525">
            <a:solidFill>
              <a:srgbClr val="D6DDE5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709517" y="1576190"/>
            <a:ext cx="7404925" cy="318789"/>
          </a:xfrm>
          <a:prstGeom prst="roundRect">
            <a:avLst>
              <a:gd name="adj" fmla="val 25000"/>
            </a:avLst>
          </a:prstGeom>
          <a:noFill/>
          <a:ln w="285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54069" y="1420742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4527" y="2158763"/>
            <a:ext cx="5564695" cy="3707103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9079" y="2003315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50234" y="1924983"/>
            <a:ext cx="1664208" cy="4264361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94786" y="1769535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65430" y="1251696"/>
            <a:ext cx="2121608" cy="191508"/>
          </a:xfrm>
          <a:prstGeom prst="roundRect">
            <a:avLst>
              <a:gd name="adj" fmla="val 25000"/>
            </a:avLst>
          </a:prstGeom>
          <a:noFill/>
          <a:ln w="285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609982" y="1096248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0" y="120700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0848" y="1170432"/>
            <a:ext cx="28190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1B2E"/>
                </a:solidFill>
                <a:latin typeface="Calibri"/>
              </a:rPr>
              <a:t>Status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Service status, incidents and planned maintenance for this customer.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0" y="212140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0848" y="2084831"/>
            <a:ext cx="28190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1B2E"/>
                </a:solidFill>
                <a:latin typeface="Calibri"/>
              </a:rPr>
              <a:t>Its own site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The map, cut down to the customer's own site and the hubs it uses.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0" y="303580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0848" y="2999232"/>
            <a:ext cx="28190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1B2E"/>
                </a:solidFill>
                <a:latin typeface="Calibri"/>
              </a:rPr>
              <a:t>Its applications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Its company details and live application status.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0" y="3950207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0848" y="3913632"/>
            <a:ext cx="28190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1B2E"/>
                </a:solidFill>
                <a:latin typeface="Calibri"/>
              </a:rPr>
              <a:t>Its own pages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Network, service levels, requests and diagnostics. Nothing else is reachable.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5229225"/>
            <a:ext cx="3139135" cy="960119"/>
          </a:xfrm>
          <a:prstGeom prst="roundRect">
            <a:avLst>
              <a:gd name="adj" fmla="val 8000"/>
            </a:avLst>
          </a:prstGeom>
          <a:solidFill>
            <a:srgbClr val="E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960" y="5302377"/>
            <a:ext cx="2864815" cy="8138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0E7490"/>
                </a:solidFill>
                <a:latin typeface="Calibri"/>
              </a:rPr>
              <a:t>Why it matters  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Customers can answer their own questions, which means fewer tickets and more trust.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7490"/>
                </a:solidFill>
                <a:latin typeface="Calibri"/>
              </a:rPr>
              <a:t>CUSTOMERS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111556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0B1B2E"/>
                </a:solidFill>
                <a:latin typeface="Calibri"/>
              </a:rPr>
              <a:t>Customer self-service requests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C8000v DMVPN Portal · v0.21.0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" y="1243584"/>
            <a:ext cx="8001000" cy="5000625"/>
          </a:xfrm>
          <a:prstGeom prst="rect">
            <a:avLst/>
          </a:prstGeom>
          <a:solidFill>
            <a:srgbClr val="D6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5_requ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8001000" cy="5000625"/>
          </a:xfrm>
          <a:prstGeom prst="rect">
            <a:avLst/>
          </a:prstGeom>
          <a:ln w="9525">
            <a:solidFill>
              <a:srgbClr val="D6DDE5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794527" y="1809969"/>
            <a:ext cx="7234904" cy="1114201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9079" y="1654521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4527" y="3262963"/>
            <a:ext cx="7234904" cy="579134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9079" y="3107515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0" y="120700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0848" y="1170432"/>
            <a:ext cx="28190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1B2E"/>
                </a:solidFill>
                <a:latin typeface="Calibri"/>
              </a:rPr>
              <a:t>Ask for a change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Applications, the preferred hub or a second provider, with a reason.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0" y="212140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8" y="2084831"/>
            <a:ext cx="28190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1B2E"/>
                </a:solidFill>
                <a:latin typeface="Calibri"/>
              </a:rPr>
              <a:t>Track it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Each request becomes a change request for the operators, and its progress is shown here.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5229225"/>
            <a:ext cx="3139135" cy="960119"/>
          </a:xfrm>
          <a:prstGeom prst="roundRect">
            <a:avLst>
              <a:gd name="adj" fmla="val 8000"/>
            </a:avLst>
          </a:prstGeom>
          <a:solidFill>
            <a:srgbClr val="E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60" y="5302377"/>
            <a:ext cx="2864815" cy="8138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0E7490"/>
                </a:solidFill>
                <a:latin typeface="Calibri"/>
              </a:rPr>
              <a:t>Why it matters  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Customers can request changes without email, and the request still goes through staff approval.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7490"/>
                </a:solidFill>
                <a:latin typeface="Calibri"/>
              </a:rPr>
              <a:t>CUSTOMERS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111556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0B1B2E"/>
                </a:solidFill>
                <a:latin typeface="Calibri"/>
              </a:rPr>
              <a:t>Self-service diagnostics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C8000v DMVPN Portal · v0.21.0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" y="1243584"/>
            <a:ext cx="8001000" cy="5000625"/>
          </a:xfrm>
          <a:prstGeom prst="rect">
            <a:avLst/>
          </a:prstGeom>
          <a:solidFill>
            <a:srgbClr val="D6D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6_di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8001000" cy="5000625"/>
          </a:xfrm>
          <a:prstGeom prst="rect">
            <a:avLst/>
          </a:prstGeom>
          <a:ln w="9525">
            <a:solidFill>
              <a:srgbClr val="D6DDE5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794527" y="1809969"/>
            <a:ext cx="7234904" cy="317539"/>
          </a:xfrm>
          <a:prstGeom prst="roundRect">
            <a:avLst>
              <a:gd name="adj" fmla="val 25000"/>
            </a:avLst>
          </a:prstGeom>
          <a:noFill/>
          <a:ln w="285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9079" y="1654521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4527" y="2137510"/>
            <a:ext cx="7234904" cy="2602200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9079" y="1982062"/>
            <a:ext cx="310896" cy="310896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0" y="120700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0848" y="1170432"/>
            <a:ext cx="28190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1B2E"/>
                </a:solidFill>
                <a:latin typeface="Calibri"/>
              </a:rPr>
              <a:t>Tests from its LAN host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The customer tests its applications, the hubs, or traces a path.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0" y="2121408"/>
            <a:ext cx="274320" cy="274320"/>
          </a:xfrm>
          <a:prstGeom prst="ellipse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8" y="2084831"/>
            <a:ext cx="2819095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1B2E"/>
                </a:solidFill>
                <a:latin typeface="Calibri"/>
              </a:rPr>
              <a:t>Every application, every hub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Round-trip time, loss and HTTP status, run on demand.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5229225"/>
            <a:ext cx="3139135" cy="960119"/>
          </a:xfrm>
          <a:prstGeom prst="roundRect">
            <a:avLst>
              <a:gd name="adj" fmla="val 8000"/>
            </a:avLst>
          </a:prstGeom>
          <a:solidFill>
            <a:srgbClr val="E0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60" y="5302377"/>
            <a:ext cx="2864815" cy="8138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0E7490"/>
                </a:solidFill>
                <a:latin typeface="Calibri"/>
              </a:rPr>
              <a:t>Why it matters  </a:t>
            </a:r>
          </a:p>
          <a:p>
            <a:pPr algn="l"/>
            <a:r>
              <a:rPr sz="1150" b="0" i="0">
                <a:solidFill>
                  <a:srgbClr val="1F2937"/>
                </a:solidFill>
                <a:latin typeface="Calibri"/>
              </a:rPr>
              <a:t>The first-line diagnosis is done by the customer in seconds, with no ticket needed.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7490"/>
                </a:solidFill>
                <a:latin typeface="Calibri"/>
              </a:rPr>
              <a:t>CHANGE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111556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0B1B2E"/>
                </a:solidFill>
                <a:latin typeface="Calibri"/>
              </a:rPr>
              <a:t>How a change moves through the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C8000v DMVPN Portal · v0.21.0</a:t>
            </a:r>
          </a:p>
        </p:txBody>
      </p:sp>
      <p:sp>
        <p:nvSpPr>
          <p:cNvPr id="8" name="Pentagon 7"/>
          <p:cNvSpPr/>
          <p:nvPr/>
        </p:nvSpPr>
        <p:spPr>
          <a:xfrm>
            <a:off x="411480" y="1463040"/>
            <a:ext cx="2103120" cy="1143000"/>
          </a:xfrm>
          <a:prstGeom prst="homePlate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1828799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An operator (or a customer) asks: add, modify, remove, deploy, rotate the key…</a:t>
            </a:r>
          </a:p>
        </p:txBody>
      </p:sp>
      <p:sp>
        <p:nvSpPr>
          <p:cNvPr id="10" name="Chevron 9"/>
          <p:cNvSpPr/>
          <p:nvPr/>
        </p:nvSpPr>
        <p:spPr>
          <a:xfrm>
            <a:off x="2340864" y="1463040"/>
            <a:ext cx="2103120" cy="1143000"/>
          </a:xfrm>
          <a:prstGeom prst="chevron">
            <a:avLst/>
          </a:prstGeom>
          <a:solidFill>
            <a:srgbClr val="0B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Approve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86584" y="2788920"/>
            <a:ext cx="1828799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Someone else approves it (four eyes). An emergency change needs a reason.</a:t>
            </a:r>
          </a:p>
        </p:txBody>
      </p:sp>
      <p:sp>
        <p:nvSpPr>
          <p:cNvPr id="12" name="Chevron 11"/>
          <p:cNvSpPr/>
          <p:nvPr/>
        </p:nvSpPr>
        <p:spPr>
          <a:xfrm>
            <a:off x="4270248" y="1463040"/>
            <a:ext cx="2103120" cy="1143000"/>
          </a:xfrm>
          <a:prstGeom prst="chevron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Window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2788920"/>
            <a:ext cx="1828799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It runs now if a change window is open. Otherwise it is scheduled for the next window.</a:t>
            </a:r>
          </a:p>
        </p:txBody>
      </p:sp>
      <p:sp>
        <p:nvSpPr>
          <p:cNvPr id="14" name="Chevron 13"/>
          <p:cNvSpPr/>
          <p:nvPr/>
        </p:nvSpPr>
        <p:spPr>
          <a:xfrm>
            <a:off x="6199632" y="1463040"/>
            <a:ext cx="2103120" cy="1143000"/>
          </a:xfrm>
          <a:prstGeom prst="chevron">
            <a:avLst/>
          </a:prstGeom>
          <a:solidFill>
            <a:srgbClr val="0B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Run the job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2788920"/>
            <a:ext cx="1828799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Snapshot, render, NAC and VyOS push, then verify. Progress and ETA are shown live.</a:t>
            </a:r>
          </a:p>
        </p:txBody>
      </p:sp>
      <p:sp>
        <p:nvSpPr>
          <p:cNvPr id="16" name="Chevron 15"/>
          <p:cNvSpPr/>
          <p:nvPr/>
        </p:nvSpPr>
        <p:spPr>
          <a:xfrm>
            <a:off x="8129015" y="1463040"/>
            <a:ext cx="2103120" cy="1143000"/>
          </a:xfrm>
          <a:prstGeom prst="chevron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Prove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2788920"/>
            <a:ext cx="1828799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Every router registered, every host reachable, 73 tests, Nautobot == lab.conf.</a:t>
            </a:r>
          </a:p>
        </p:txBody>
      </p:sp>
      <p:sp>
        <p:nvSpPr>
          <p:cNvPr id="18" name="Chevron 17"/>
          <p:cNvSpPr/>
          <p:nvPr/>
        </p:nvSpPr>
        <p:spPr>
          <a:xfrm>
            <a:off x="10058399" y="1463040"/>
            <a:ext cx="1874519" cy="1143000"/>
          </a:xfrm>
          <a:prstGeom prst="chevron">
            <a:avLst/>
          </a:prstGeom>
          <a:solidFill>
            <a:srgbClr val="0B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0" bIns="0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04119" y="2788920"/>
            <a:ext cx="1828799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The config diff per router, who asked, who approved and the outcome, kept per job.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160520"/>
            <a:ext cx="11338560" cy="2057400"/>
          </a:xfrm>
          <a:prstGeom prst="roundRect">
            <a:avLst>
              <a:gd name="adj" fmla="val 4000"/>
            </a:avLst>
          </a:prstGeom>
          <a:solidFill>
            <a:srgbClr val="F6F8FA"/>
          </a:solidFill>
          <a:ln w="9525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325112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B1B2E"/>
                </a:solidFill>
                <a:latin typeface="Calibri"/>
              </a:rPr>
              <a:t>What is never allowed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709159"/>
            <a:ext cx="530352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• Approving your own request (four eyes)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• A viewer or customer starting a job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• Rotating the pre-shared key unless you are an admin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• A secret reaching git, a job log or the screen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325112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B1B2E"/>
                </a:solidFill>
                <a:latin typeface="Calibri"/>
              </a:rPr>
              <a:t>What never needs approval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709159"/>
            <a:ext cx="521208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• Adding a customer: it takes nothing away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• Dry runs, tests and drift checks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• Customer diagnostics from its own LAN host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• Reading anything the role allows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E7490"/>
                </a:solidFill>
                <a:latin typeface="Calibri"/>
              </a:rPr>
              <a:t>RESULTS IN THE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57200"/>
            <a:ext cx="111556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0B1B2E"/>
                </a:solidFill>
                <a:latin typeface="Calibri"/>
              </a:rPr>
              <a:t>Measured, not assumed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C8000v DMVPN Portal · v0.21.0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34440"/>
            <a:ext cx="2743200" cy="16002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9525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23774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5803D"/>
                </a:solidFill>
                <a:latin typeface="Calibri"/>
              </a:rPr>
              <a:t>3 /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75688"/>
            <a:ext cx="23774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hubs every spoke is registered with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64408" y="1234440"/>
            <a:ext cx="2743200" cy="16002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9525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1371600"/>
            <a:ext cx="23774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5803D"/>
                </a:solidFill>
                <a:latin typeface="Calibri"/>
              </a:rPr>
              <a:t>20 /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2075688"/>
            <a:ext cx="23774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LAN hosts reach every other host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17336" y="1234440"/>
            <a:ext cx="2743200" cy="16002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9525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0216" y="1371600"/>
            <a:ext cx="23774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5803D"/>
                </a:solidFill>
                <a:latin typeface="Calibri"/>
              </a:rPr>
              <a:t>33 / 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2075688"/>
            <a:ext cx="23774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application checks passing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70263" y="1234440"/>
            <a:ext cx="2743200" cy="16002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9525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53143" y="1371600"/>
            <a:ext cx="23774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15803D"/>
                </a:solidFill>
                <a:latin typeface="Calibri"/>
              </a:rPr>
              <a:t>73 / 73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3143" y="2075688"/>
            <a:ext cx="23774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Robot tests pass after each change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2980944"/>
            <a:ext cx="2743200" cy="16002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9525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118103"/>
            <a:ext cx="23774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0E7490"/>
                </a:solidFill>
                <a:latin typeface="Calibri"/>
              </a:rPr>
              <a:t>0.6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822191"/>
            <a:ext cx="23774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worst failover when a hub fails; 29 of 35 flows never noticed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64408" y="2980944"/>
            <a:ext cx="2743200" cy="16002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9525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47288" y="3118103"/>
            <a:ext cx="23774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0E7490"/>
                </a:solidFill>
                <a:latin typeface="Calibri"/>
              </a:rPr>
              <a:t>6.8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47288" y="3822191"/>
            <a:ext cx="23774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worst failover for dual-homed flows when a provider fails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17336" y="2980944"/>
            <a:ext cx="2743200" cy="16002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9525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0216" y="3118103"/>
            <a:ext cx="23774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0E7490"/>
                </a:solidFill>
                <a:latin typeface="Calibri"/>
              </a:rPr>
              <a:t>54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3822191"/>
            <a:ext cx="23774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IKE SAs re-authenticated with the new pre-shared key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70263" y="2980944"/>
            <a:ext cx="2743200" cy="16002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9525">
            <a:solidFill>
              <a:srgbClr val="D6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53143" y="3118103"/>
            <a:ext cx="23774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200" b="1" i="0">
                <a:solidFill>
                  <a:srgbClr val="0E7490"/>
                </a:solidFill>
                <a:latin typeface="Calibri"/>
              </a:rPr>
              <a:t>5 m 28 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53143" y="3822191"/>
            <a:ext cx="23774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F2937"/>
                </a:solidFill>
                <a:latin typeface="Calibri"/>
              </a:rPr>
              <a:t>key rotation end to end, one router at a time, then verified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4800600"/>
            <a:ext cx="1133856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0B1B2E"/>
                </a:solidFill>
                <a:latin typeface="Calibri"/>
              </a:rPr>
              <a:t>Provider failure: </a:t>
            </a:r>
            <a:r>
              <a:rPr sz="1250" b="0" i="0">
                <a:solidFill>
                  <a:srgbClr val="1F2937"/>
                </a:solidFill>
                <a:latin typeface="Calibri"/>
              </a:rPr>
              <a:t>dual-homed customers (cust1, cust4) move to cloud 2 over the second provider. Single-homed customers lose that provider by design, and the portal shows it as 'cut off' rather than hiding it.</a:t>
            </a:r>
          </a:p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0B1B2E"/>
                </a:solidFill>
                <a:latin typeface="Calibri"/>
              </a:rPr>
              <a:t>Hub failure: </a:t>
            </a:r>
            <a:r>
              <a:rPr sz="1250" b="0" i="0">
                <a:solidFill>
                  <a:srgbClr val="1F2937"/>
                </a:solidFill>
                <a:latin typeface="Calibri"/>
              </a:rPr>
              <a:t>customers keep two other hubs, live shortcuts need no hub, and routing converges when BGP gives up on the failed hub (hold 9 s).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In short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10512"/>
            <a:ext cx="128016" cy="4572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73736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One source of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21408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lab.conf drives the configuration, Nautobot and the portal, and drift is detected against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706624"/>
            <a:ext cx="128016" cy="4572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33472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Every change is a job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01752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It is planned, approved, run, verified and recorded with a before-and-after diff per router.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602736"/>
            <a:ext cx="128016" cy="4572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529584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Resilience you can measure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913632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Simulate a failure and get the outage timeline for every flow.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498848"/>
            <a:ext cx="128016" cy="4572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425696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Customers see their own 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809744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SLA, applications, requests and self-service diagnostics, and nothing else.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94960"/>
            <a:ext cx="128016" cy="4572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321808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Secure by default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705856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Calibri"/>
              </a:rPr>
              <a:t>Roles, four eyes, key rotation on demand, and secrets never shown.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26364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github.com/dcantor/c8000v-dmvpn-lab · portal on the lab host at :8094 · API at /docs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