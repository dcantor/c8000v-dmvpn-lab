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The portal runs on the lab host at :8094 and fronts the whole lab: lab.conf is the source of truth, Network-as-Code pushes the Catalyst 8000v routers, SSH pushes the VyOS routers, Nautobot mirrors the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statement: the service is simple to draw but has many moving parts, and without tooling every question costs a round of logins.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the portal never edits routers ad hoc. Changes go through lab.conf, the renderer and the same push pipeline, then a verification step.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capability areas. The tour that follows shows each one in the portal, with numbered callouts matching the explanation beside each screenshot.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signs in, and the role decides what they see</a:t>
            </a:r>
          </a:p>
          <a:p/>
          <a:p>
            <a:r>
              <a:t>1. Sign in: Staff roles are viewer, operator, approver and admin. A customer account sees only its own service. Sessions are signed cookies, passwords are PBKDF2 hashes.</a:t>
            </a:r>
          </a:p>
          <a:p/>
          <a:p>
            <a:r>
              <a:t>Read-only users cannot start jobs, nobody approves their own change, and customers never see another customer.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cloud: every router, read live</a:t>
            </a:r>
          </a:p>
          <a:p/>
          <a:p>
            <a:r>
              <a:t>1. KPIs: Hubs, customers, registrations, shortcuts and BGP at a glance.</a:t>
            </a:r>
          </a:p>
          <a:p>
            <a:r>
              <a:t>2. Every router: NHRP registrations, IPsec, overlay BGP, the provider and the preferred hub, read from the routers themselves.</a:t>
            </a:r>
          </a:p>
          <a:p>
            <a:r>
              <a:t>3. Both providers: Access links and eBGP on mpls and mpls2.</a:t>
            </a:r>
          </a:p>
          <a:p>
            <a:r>
              <a:t>4. Who you are: The account, its role and the portal version, always visible.</a:t>
            </a:r>
          </a:p>
          <a:p/>
          <a:p>
            <a:r>
              <a:t>One screen answers 'is every spoke registered with every hub?' with no CLI logins.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and configuration drift</a:t>
            </a:r>
          </a:p>
          <a:p/>
          <a:p>
            <a:r>
              <a:t>1. Health: Everything the model expects to be up is checked, and anything missing is named.</a:t>
            </a:r>
          </a:p>
          <a:p>
            <a:r>
              <a:t>2. Drift: Each router is compared with what lab.conf renders. 'Fix drift' puts it back as a controlled job.</a:t>
            </a:r>
          </a:p>
          <a:p/>
          <a:p>
            <a:r>
              <a:t>Hand edits no longer go unnoticed: drift is visible per router, and fixing it is one approved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topology map drawn from live state</a:t>
            </a:r>
          </a:p>
          <a:p/>
          <a:p>
            <a:r>
              <a:t>1. The map: Hubs, providers, customers and LAN hosts. Tunnel colour shows health, and the preferred hub is drawn bold.</a:t>
            </a:r>
          </a:p>
          <a:p>
            <a:r>
              <a:t>2. Layers: Turn provider 2 and cloud 2, shortcuts, hosts and labels on or off.</a:t>
            </a:r>
          </a:p>
          <a:p>
            <a:r>
              <a:t>3. Export: SVG or PNG, light or dark, exactly as drawn.</a:t>
            </a:r>
          </a:p>
          <a:p>
            <a:r>
              <a:t>4. Details: Click a node to see the customer company, its applications (checked every minute) and the router's live state.</a:t>
            </a:r>
          </a:p>
          <a:p/>
          <a:p>
            <a:r>
              <a:t>Everyone gets the same live picture, from operations to account managers and customers.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Path trace: watch the phase 3 shortcut form</a:t>
            </a:r>
          </a:p>
          <a:p/>
          <a:p>
            <a:r>
              <a:t>1. First via a hub, then direct: The first packets go through a hub. NHRP then builds a spoke-to-spoke shortcut, drawn in purple.</a:t>
            </a:r>
          </a:p>
          <a:p>
            <a:r>
              <a:t>2. Details and actions: Trace, watch the shortcut form, ping every host, and view the config history per router.</a:t>
            </a:r>
          </a:p>
          <a:p>
            <a:r>
              <a:t>3. Every trace, hop by hop: The raw output is kept so you can copy or download it.</a:t>
            </a:r>
          </a:p>
          <a:p/>
          <a:p>
            <a:r>
              <a:t>It shows that DMVPN phase 3 works end to end, and makes it easy to explain.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router's configuration history</a:t>
            </a:r>
          </a:p>
          <a:p/>
          <a:p>
            <a:r>
              <a:t>1. Router details: Its live state: addresses, NHRP, IPsec, BGP, and its actions.</a:t>
            </a:r>
          </a:p>
          <a:p>
            <a:r>
              <a:t>2. Every job that changed it: Each job's diff for this router, newest first, with masked secrets.</a:t>
            </a:r>
          </a:p>
          <a:p/>
          <a:p>
            <a:r>
              <a:t>When something changed on a router, you can see which job did it and exactly what it changed.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SLA per customer, from VictoriaMetrics</a:t>
            </a:r>
          </a:p>
          <a:p/>
          <a:p>
            <a:r>
              <a:t>1. Against targets: Availability, latency, loss and tunnel uptime, each compared with its SLA target.</a:t>
            </a:r>
          </a:p>
          <a:p>
            <a:r>
              <a:t>2. Latency to each hub: Probed every minute from the customer's own LAN host.</a:t>
            </a:r>
          </a:p>
          <a:p>
            <a:r>
              <a:t>3. Window and report: 24 hours, 30 days or this month, with a monthly PDF report for the customer.</a:t>
            </a:r>
          </a:p>
          <a:p/>
          <a:p>
            <a:r>
              <a:t>SLA reporting is automatic and based on measurements the customer can check.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Simulate failures on purpose</a:t>
            </a:r>
          </a:p>
          <a:p/>
          <a:p>
            <a:r>
              <a:t>1. Choose a failure: A hub, a provider, or a customer circuit. The page says what should happen before you press anything.</a:t>
            </a:r>
          </a:p>
          <a:p>
            <a:r>
              <a:t>2. Measure failover: Every LAN host pings every other host five times a second while the fault is in.</a:t>
            </a:r>
          </a:p>
          <a:p>
            <a:r>
              <a:t>3. Every measurement: Flows unaffected, failed over or cut off, the worst failover and the time back to healthy.</a:t>
            </a:r>
          </a:p>
          <a:p/>
          <a:p>
            <a:r>
              <a:t>Resilience becomes a number rather than a claim, for example 0.6 s worst case for a hub failure.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failover experiment, flow by flow</a:t>
            </a:r>
          </a:p>
          <a:p/>
          <a:p>
            <a:r>
              <a:t>1. The experiment: What failed, for how long, and the headline figures.</a:t>
            </a:r>
          </a:p>
          <a:p>
            <a:r>
              <a:t>2. Each flow: The verdict and an outage timeline for every host pair, so you can see which paths moved and which were cut.</a:t>
            </a:r>
          </a:p>
          <a:p/>
          <a:p>
            <a:r>
              <a:t>You can see exactly which customers a failure affects, and for how long.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Capacity: hub load and room to grow</a:t>
            </a:r>
          </a:p>
          <a:p/>
          <a:p>
            <a:r>
              <a:t>1. Room to grow: How many more C8000v or VyOS customers fit, and which limit runs out first: here, the provider's customer ports.</a:t>
            </a:r>
          </a:p>
          <a:p>
            <a:r>
              <a:t>2. Each hub: Spokes against the planning figure, IPsec against the platform maximum, CPU and DRAM against the router's own levels, WAN traffic against the licensed throughput.</a:t>
            </a:r>
          </a:p>
          <a:p>
            <a:r>
              <a:t>3. Providers: Customer ports used and free on each provider.</a:t>
            </a:r>
          </a:p>
          <a:p>
            <a:r>
              <a:t>4. The lab host: Memory, CPU, and vCPUs allocated against its cores, for every lab on the machine.</a:t>
            </a:r>
          </a:p>
          <a:p/>
          <a:p>
            <a:r>
              <a:t>Growth is planned, not discovered: you see the next bottleneck before a hub or the lab fills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Provision: every change is a job</a:t>
            </a:r>
          </a:p>
          <a:p/>
          <a:p>
            <a:r>
              <a:t>1. Tasks: Eleven tasks: each shows what it does, how long it takes and who may run it. The next slides walk through them.</a:t>
            </a:r>
          </a:p>
          <a:p>
            <a:r>
              <a:t>2. Pre-shared key: Admins rotate the DMVPN key. The system picks a random 40-character key, and only its fingerprint is ever shown.</a:t>
            </a:r>
          </a:p>
          <a:p/>
          <a:p>
            <a:r>
              <a:t>Operators pick what they want done, and the portal carries it out consistently on every router.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eleven Provision tasks. Anything that could take something away needs a second person; adding and reading never 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a customer: everything allocated for you</a:t>
            </a:r>
          </a:p>
          <a:p/>
          <a:p>
            <a:r>
              <a:t>1. Router type: Catalyst 8000v (NAC) or VyOS.</a:t>
            </a:r>
          </a:p>
          <a:p>
            <a:r>
              <a:t>2. Preferred hub: Or none: any hub.</a:t>
            </a:r>
          </a:p>
          <a:p>
            <a:r>
              <a:t>3. Dual-homed: A backup link into mpls2 and cloud 2.</a:t>
            </a:r>
          </a:p>
          <a:p>
            <a:r>
              <a:t>4. Name and addresses: The next free name, management IP and LAN.</a:t>
            </a:r>
          </a:p>
          <a:p>
            <a:r>
              <a:t>5. Index, port, host: Tunnel index, provider port, LAN host.</a:t>
            </a:r>
          </a:p>
          <a:p>
            <a:r>
              <a:t>6. The company: Pre-filled; goes to Nautobot as a tenant.</a:t>
            </a:r>
          </a:p>
          <a:p/>
          <a:p>
            <a:r>
              <a:t>Nothing to look up or calculate: every address and port is allocated and checked free.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a customer: the plan, before anything runs</a:t>
            </a:r>
          </a:p>
          <a:p/>
          <a:p>
            <a:r>
              <a:t>1. Applications: What the customer subscribes to; application checks start for them.</a:t>
            </a:r>
          </a:p>
          <a:p>
            <a:r>
              <a:t>2. The plan: Router, cloud, hub, WAN, LAN, what changes, and the capacity left afterwards. Here, a new VyOS router on both providers, with no hub changes.</a:t>
            </a:r>
          </a:p>
          <a:p>
            <a:r>
              <a:t>3. Provision: Starts the job, or files a change request if the policy asks for approval.</a:t>
            </a:r>
          </a:p>
          <a:p/>
          <a:p>
            <a:r>
              <a:t>Onboarding a customer takes one form and about 15 minutes, with the whole impact visible up front.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Modify a customer, with the plan shown first</a:t>
            </a:r>
          </a:p>
          <a:p/>
          <a:p>
            <a:r>
              <a:t>1. Router type: Move a customer between C8000v and VyOS.</a:t>
            </a:r>
          </a:p>
          <a:p>
            <a:r>
              <a:t>2. Preferred hub: Pick the hub its traffic should prefer (local-preference 200).</a:t>
            </a:r>
          </a:p>
          <a:p>
            <a:r>
              <a:t>3. Second provider: Dual-home the customer onto mpls2 and cloud 2.</a:t>
            </a:r>
          </a:p>
          <a:p>
            <a:r>
              <a:t>4. The plan: Exactly what will change on which routers, before anything runs.</a:t>
            </a:r>
          </a:p>
          <a:p/>
          <a:p>
            <a:r>
              <a:t>No surprises: the impact is visible and reviewed before a change request is filed.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Remove a customer, safely</a:t>
            </a:r>
          </a:p>
          <a:p/>
          <a:p>
            <a:r>
              <a:t>1. Which customer: Its router type, region and addressing are shown.</a:t>
            </a:r>
          </a:p>
          <a:p>
            <a:r>
              <a:t>2. What goes with it: The company and its subscriptions are removed from customers.json and Nautobot.</a:t>
            </a:r>
          </a:p>
          <a:p>
            <a:r>
              <a:t>3. The plan: The router and host deleted, Terraform state, the provider port released, lab.conf and Nautobot updated.</a:t>
            </a:r>
          </a:p>
          <a:p>
            <a:r>
              <a:t>4. Remove: Destructive: it needs an approver under the default policy.</a:t>
            </a:r>
          </a:p>
          <a:p/>
          <a:p>
            <a:r>
              <a:t>Decommissioning leaves nothing behind: no orphaned ports, config, Terraform state or Nautobot records.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 the model: lab.conf onto every router</a:t>
            </a:r>
          </a:p>
          <a:p/>
          <a:p>
            <a:r>
              <a:t>1. The job: Who started it, who approved it, 7 of 7 steps, 4 minutes.</a:t>
            </a:r>
          </a:p>
          <a:p>
            <a:r>
              <a:t>2. The steps: Snapshot, render, Terraform apply (NAC), the providers, Nautobot seeded, Nautobot's rendering compared with lab.conf, snapshot and compare. The log is kept below.</a:t>
            </a:r>
          </a:p>
          <a:p/>
          <a:p>
            <a:r>
              <a:t>The same pipeline builds, fixes and restores the lab, so the result is always the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Restore from a backup: see the difference first</a:t>
            </a:r>
          </a:p>
          <a:p/>
          <a:p>
            <a:r>
              <a:t>1. The backup: A .tar.gz made by Back up the lab, uploaded here.</a:t>
            </a:r>
          </a:p>
          <a:p>
            <a:r>
              <a:t>2. What is in it: Version, date, host, files, every checksum verified, and its customers.</a:t>
            </a:r>
          </a:p>
          <a:p>
            <a:r>
              <a:t>3. What would change: Customers changed, added or removed, other settings, then NAC, pushes, Nautobot and verification.</a:t>
            </a:r>
          </a:p>
          <a:p>
            <a:r>
              <a:t>4. Restore: Only after approval; nothing changes before.</a:t>
            </a:r>
          </a:p>
          <a:p/>
          <a:p>
            <a:r>
              <a:t>A known-good state is always one approved job away, and you know exactly what it will undo.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DMVPN pre-shared key</a:t>
            </a:r>
          </a:p>
          <a:p/>
          <a:p>
            <a:r>
              <a:t>1. Key: Where it is kept (secrets/ on the lab host) and its fingerprint. The key itself is never shown.</a:t>
            </a:r>
          </a:p>
          <a:p>
            <a:r>
              <a:t>2. Set: When it was last rotated, by whom, and the job.</a:t>
            </a:r>
          </a:p>
          <a:p>
            <a:r>
              <a:t>3. Used by: Every hub and customer router.</a:t>
            </a:r>
          </a:p>
          <a:p>
            <a:r>
              <a:t>4. Rotate: Admins only, with a confirmation, and through change control.</a:t>
            </a:r>
          </a:p>
          <a:p/>
          <a:p>
            <a:r>
              <a:t>Rotating the key becomes routine: one button, a random key, and proof that every session uses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job: who, what, and the proof</a:t>
            </a:r>
          </a:p>
          <a:p/>
          <a:p>
            <a:r>
              <a:t>1. Who: Who started the job and who approved it.</a:t>
            </a:r>
          </a:p>
          <a:p>
            <a:r>
              <a:t>2. Progress: Live progress and the time it took.</a:t>
            </a:r>
          </a:p>
          <a:p>
            <a:r>
              <a:t>3. What changed: The before-and-after diff per router. Secrets are masked but their change is still visible.</a:t>
            </a:r>
          </a:p>
          <a:p>
            <a:r>
              <a:t>4. Every step: Each step's result, for example '54 IKE SAs on 8 routers, all made after the rotation'.</a:t>
            </a:r>
          </a:p>
          <a:p/>
          <a:p>
            <a:r>
              <a:t>Every change leaves evidence: the steps, the approvals and the exact configuration difference.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tests: the lab proves itself</a:t>
            </a:r>
          </a:p>
          <a:p/>
          <a:p>
            <a:r>
              <a:t>1. The job: Robot Framework suites against the live lab.</a:t>
            </a:r>
          </a:p>
          <a:p>
            <a:r>
              <a:t>2. The result: 73 of 73 passed, in about 11 minutes.</a:t>
            </a:r>
          </a:p>
          <a:p>
            <a:r>
              <a:t>3. The evidence: The Robot report and log, and every router's configuration before and after.</a:t>
            </a:r>
          </a:p>
          <a:p/>
          <a:p>
            <a:r>
              <a:t>Every change can end with a full test run, and the evidence is one click away.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Maintenance and the job list</a:t>
            </a:r>
          </a:p>
          <a:p/>
          <a:p>
            <a:r>
              <a:t>1. Maintenance: Declared here or started automatically by disruptive jobs and simulated failures. Alerts are muted, customers told, and SLA leaves it out.</a:t>
            </a:r>
          </a:p>
          <a:p>
            <a:r>
              <a:t>2. Declare: What, and which nodes it affects.</a:t>
            </a:r>
          </a:p>
          <a:p>
            <a:r>
              <a:t>3. Every job: Status, a progress bar, duration and test results. A failed job resumes from the step that failed.</a:t>
            </a:r>
          </a:p>
          <a:p/>
          <a:p>
            <a:r>
              <a:t>Planned work does not page anyone or count against the SLA, and customers see it coming.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Change requests: four eyes and change windows</a:t>
            </a:r>
          </a:p>
          <a:p/>
          <a:p>
            <a:r>
              <a:t>1. Change requests: Each request shows who asked, what for, who approved or rejected it, and its status, including requests from customers.</a:t>
            </a:r>
          </a:p>
          <a:p/>
          <a:p>
            <a:r>
              <a:t>Disruptive work cannot start without a second person, and it runs only inside the agreed windows.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change policy, edited in the portal</a:t>
            </a:r>
          </a:p>
          <a:p/>
          <a:p>
            <a:r>
              <a:t>1. The policy: Which tasks need approval, four eyes, emergency approvals with a reason, expiry after 72 h, and change windows by day and time.</a:t>
            </a:r>
          </a:p>
          <a:p>
            <a:r>
              <a:t>2. In one line: The current policy is always shown above the requests.</a:t>
            </a:r>
          </a:p>
          <a:p/>
          <a:p>
            <a:r>
              <a:t>The rules for change are visible and adjustable, not tribal knowledge.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policy is editable in the portal: which job types need approval, change windows, emergency changes and expiry of stale requests.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customer's own view</a:t>
            </a:r>
          </a:p>
          <a:p/>
          <a:p>
            <a:r>
              <a:t>1. Status: Service status, incidents and planned maintenance for this customer.</a:t>
            </a:r>
          </a:p>
          <a:p>
            <a:r>
              <a:t>2. Its own site: The map, cut down to the customer's own site and the hubs it uses.</a:t>
            </a:r>
          </a:p>
          <a:p>
            <a:r>
              <a:t>3. Its applications: Its company details and live application status.</a:t>
            </a:r>
          </a:p>
          <a:p>
            <a:r>
              <a:t>4. Its own pages: Network, service levels, requests and diagnostics. Nothing else is reachable.</a:t>
            </a:r>
          </a:p>
          <a:p/>
          <a:p>
            <a:r>
              <a:t>Customers can answer their own questions, which means fewer tickets and more trust.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self-service requests</a:t>
            </a:r>
          </a:p>
          <a:p/>
          <a:p>
            <a:r>
              <a:t>1. Ask for a change: Applications, the preferred hub or a second provider, with a reason.</a:t>
            </a:r>
          </a:p>
          <a:p>
            <a:r>
              <a:t>2. Track it: Each request becomes a change request for the operators, and its progress is shown here.</a:t>
            </a:r>
          </a:p>
          <a:p/>
          <a:p>
            <a:r>
              <a:t>Customers can request changes without email, and the request still goes through staff approval.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Self-service diagnostics</a:t>
            </a:r>
          </a:p>
          <a:p/>
          <a:p>
            <a:r>
              <a:t>1. Tests from its LAN host: The customer tests its applications, the hubs, or traces a path.</a:t>
            </a:r>
          </a:p>
          <a:p>
            <a:r>
              <a:t>2. Every application, every hub: Round-trip time, loss and HTTP status, run on demand.</a:t>
            </a:r>
          </a:p>
          <a:p/>
          <a:p>
            <a:r>
              <a:t>The first-line diagnosis is done by the customer in seconds, with no ticket needed.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tools and accounts</a:t>
            </a:r>
          </a:p>
          <a:p/>
          <a:p>
            <a:r>
              <a:t>1. Accounts and roles: Admins add, disable and delete accounts and set passwords. Accounts still on their lab-default password are flagged.</a:t>
            </a:r>
          </a:p>
          <a:p>
            <a:r>
              <a:t>2. Every tool: Nautobot, the API, the lab hub and the repository, each with how to sign in.</a:t>
            </a:r>
          </a:p>
          <a:p/>
          <a:p>
            <a:r>
              <a:t>Access is managed in one place, with visible warnings when the defaults have not been changed.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an API</a:t>
            </a:r>
          </a:p>
          <a:p/>
          <a:p>
            <a:r>
              <a:t>1. REST API: Every screen in the portal is built on the same API, documented with Swagger.</a:t>
            </a:r>
          </a:p>
          <a:p>
            <a:r>
              <a:t>2. By area: Monitoring, state, customers, jobs, changes, SLA, and more.</a:t>
            </a:r>
          </a:p>
          <a:p/>
          <a:p>
            <a:r>
              <a:t>Other tools and pipelines can drive the lab the way the portal does.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Light or dark, and roles everywhere</a:t>
            </a:r>
          </a:p>
          <a:p/>
          <a:p>
            <a:r>
              <a:t>1. Dark mode: Every page, including the live map.</a:t>
            </a:r>
          </a:p>
          <a:p>
            <a:r>
              <a:t>2. An operator: It sees and changes the lab, but admin tasks such as key rotation and accounts are hidden.</a:t>
            </a:r>
          </a:p>
          <a:p/>
          <a:p>
            <a:r>
              <a:t>The portal fits the user, and each role only sees the actions it may take.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Nautobot model. ./lab.sh nautobot render --check rebuilds every rendered file from the saved GraphQL query and compares it with lab.conf's.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every device of the lab</a:t>
            </a:r>
          </a:p>
          <a:p/>
          <a:p>
            <a:r>
              <a:t>1. The lab's devices: Routers, providers and LAN hosts, under their c8d- names in the shared Nautobot.</a:t>
            </a:r>
          </a:p>
          <a:p>
            <a:r>
              <a:t>2. Tenant: Each customer's router and host belong to its company.</a:t>
            </a:r>
          </a:p>
          <a:p>
            <a:r>
              <a:t>3. Role: dmvpn-hub, dmvpn-spoke, wan-provider, host.</a:t>
            </a:r>
          </a:p>
          <a:p>
            <a:r>
              <a:t>4. Location: Its region: c8d-east, -central or -west.</a:t>
            </a:r>
          </a:p>
          <a:p/>
          <a:p>
            <a:r>
              <a:t>One inventory for every lab on the host; this lab's part is easy to find and to filter.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a customer company as a tenant</a:t>
            </a:r>
          </a:p>
          <a:p/>
          <a:p>
            <a:r>
              <a:t>1. Tenant: Prairie Grain Logistics, in the c8000v-dmvpn-lab customers group.</a:t>
            </a:r>
          </a:p>
          <a:p>
            <a:r>
              <a:t>2. Custom fields: Account, address, contact, email, industry, phone.</a:t>
            </a:r>
          </a:p>
          <a:p>
            <a:r>
              <a:t>3. Subscribed applications: A relationship to the virtual servers it uses, at every hub.</a:t>
            </a:r>
          </a:p>
          <a:p>
            <a:r>
              <a:t>4. Its devices: Its router and its LAN host.</a:t>
            </a:r>
          </a:p>
          <a:p/>
          <a:p>
            <a:r>
              <a:t>The customer record the portal edits is the one Nautobot holds: no second customer list to keep in sync.</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applications as virtual servers</a:t>
            </a:r>
          </a:p>
          <a:p/>
          <a:p>
            <a:r>
              <a:t>1. One per application per hub: APP-1001 to APP-1010, each at the hubs that host it.</a:t>
            </a:r>
          </a:p>
          <a:p>
            <a:r>
              <a:t>2. Its VIP: An address on the hub's Loopback10, with port and protocol; the portal's application checks test these.</a:t>
            </a:r>
          </a:p>
          <a:p/>
          <a:p>
            <a:r>
              <a:t>Applications and who subscribes to them are modelled, not just the routers.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a hub</a:t>
            </a:r>
          </a:p>
          <a:p/>
          <a:p>
            <a:r>
              <a:t>1. The device: Location, role dmvpn-hub, platform, management address, autonomous system.</a:t>
            </a:r>
          </a:p>
          <a:p>
            <a:r>
              <a:t>2. Interfaces: Its tunnels, loopbacks and access links.</a:t>
            </a:r>
          </a:p>
          <a:p>
            <a:r>
              <a:t>3. Autonomous system: AS 65100, from the BGP models; the Config Context tab shows the DMVPN service data that applies to it.</a:t>
            </a:r>
          </a:p>
          <a:p/>
          <a:p>
            <a:r>
              <a:t>Everything needed to build this hub's configuration is on this page or one click away.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the VPN on the hub's interfaces</a:t>
            </a:r>
          </a:p>
          <a:p/>
          <a:p>
            <a:r>
              <a:t>1. Tunnel0: Cloud 1: mGRE, phase 3, sourced from GigabitEthernet2.</a:t>
            </a:r>
          </a:p>
          <a:p>
            <a:r>
              <a:t>2. Tunnel1: Cloud 2, the backup: sourced from GigabitEthernet4 into mpls2.</a:t>
            </a:r>
          </a:p>
          <a:p>
            <a:r>
              <a:t>3. Loopback10: The hub LAN, carrying the application VIPs.</a:t>
            </a:r>
          </a:p>
          <a:p>
            <a:r>
              <a:t>4. Access link: Cabled to the provider's port.</a:t>
            </a:r>
          </a:p>
          <a:p/>
          <a:p>
            <a:r>
              <a:t>The two DMVPN clouds are modelled as real interfaces with their sources, addresses and cables.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the addressing plan</a:t>
            </a:r>
          </a:p>
          <a:p/>
          <a:p>
            <a:r>
              <a:t>1. Cloud 1: 172.28.0.0/24, role dmvpn-overlay: network-id 1, tunnel key 100.</a:t>
            </a:r>
          </a:p>
          <a:p>
            <a:r>
              <a:t>2. Cloud 2: 172.29.0.0/24: network-id 2, tunnel key 200.</a:t>
            </a:r>
          </a:p>
          <a:p>
            <a:r>
              <a:t>3. Site LANs: Each customer's LAN, role site-lan.</a:t>
            </a:r>
          </a:p>
          <a:p>
            <a:r>
              <a:t>4. Roles: site-lan, dmvpn-overlay, wan-p2p, oob-management.</a:t>
            </a:r>
          </a:p>
          <a:p/>
          <a:p>
            <a:r>
              <a:t>Every prefix says what it is for, so the allocator and the renderer agree.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tunnel addresses</a:t>
            </a:r>
          </a:p>
          <a:p/>
          <a:p>
            <a:r>
              <a:t>1. Tunnel0 addresses: Each router's address in cloud 1, assigned to its Tunnel0: hubs .1 to .3, customers from their index.</a:t>
            </a:r>
          </a:p>
          <a:p/>
          <a:p>
            <a:r>
              <a:t>NHRP registrations and BGP neighbours come straight from these addresses.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every BGP session</a:t>
            </a:r>
          </a:p>
          <a:p/>
          <a:p>
            <a:r>
              <a:t>1. Peerings: Hub↔hub, hub (route reflector) ↔ customer, and site ↔ provider, over both clouds and both providers.</a:t>
            </a:r>
          </a:p>
          <a:p/>
          <a:p>
            <a:r>
              <a:t>The routing design is data: a missing or extra session shows up as a difference, not a surprise.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BGP routing instances</a:t>
            </a:r>
          </a:p>
          <a:p/>
          <a:p>
            <a:r>
              <a:t>1. Routing instances: One per router: its autonomous system (65100 sites, 65000 and 65010 providers) and router-id.</a:t>
            </a:r>
          </a:p>
          <a:p/>
          <a:p>
            <a:r>
              <a:t>AS numbers and router-ids are allocated once and read from here.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the DMVPN service as a config context</a:t>
            </a:r>
          </a:p>
          <a:p/>
          <a:p>
            <a:r>
              <a:t>1. The service: AS, both clouds (overlay, network-id, tunnel key), NHRP hold times, hubs and spokes, the IKEv2 and IPsec proposals, the providers. No pre-shared key.</a:t>
            </a:r>
          </a:p>
          <a:p/>
          <a:p>
            <a:r>
              <a:t>The VPN service's settings are one reviewed document, applied to the whole lab.</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Nautobot: the query the renderer reads</a:t>
            </a:r>
          </a:p>
          <a:p/>
          <a:p>
            <a:r>
              <a:t>1. Saved GraphQL query: c8000v-dmvpn-lab-model: the config context, devices, interfaces, IPs and BGP in one call. The same renderer turns it into every configuration.</a:t>
            </a:r>
          </a:p>
          <a:p/>
          <a:p>
            <a:r>
              <a:t>lab.sh nautobot render --check proves Nautobot and lab.conf produce identical configurations.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Monitoring architecture. The portal is a Prometheus target like any exporter: lab_dmvpn_*, lab_bgp_*, lab_ipsec_*, lab_router_cpu_pct, lab_sla_*, lab_app_up.</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Grafana: the DMVPN cloud over the last 24 hours</a:t>
            </a:r>
          </a:p>
          <a:p/>
          <a:p>
            <a:r>
              <a:t>1. Portal jobs on the timeline: Purple markers: every test run, failover and steering change the portal made.</a:t>
            </a:r>
          </a:p>
          <a:p>
            <a:r>
              <a:t>2. Health: The portal's verdict and firing alerts.</a:t>
            </a:r>
          </a:p>
          <a:p>
            <a:r>
              <a:t>3. Registrations: 15 of 15: five customers, three hubs each.</a:t>
            </a:r>
          </a:p>
          <a:p>
            <a:r>
              <a:t>4. Each customer, each hub: Gaps line up with the failover experiments.</a:t>
            </a:r>
          </a:p>
          <a:p>
            <a:r>
              <a:t>5. eBGP to the provider: Per router, over time.</a:t>
            </a:r>
          </a:p>
          <a:p>
            <a:r>
              <a:t>6. IPsec per router: Sessions UP-ACTIVE.</a:t>
            </a:r>
          </a:p>
          <a:p/>
          <a:p>
            <a:r>
              <a:t>What the portal shows now, Grafana shows over time, next to what the portal was doing.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Grafana: the overlay, the routers and the provider</a:t>
            </a:r>
          </a:p>
          <a:p/>
          <a:p>
            <a:r>
              <a:t>1. Overlay iBGP: Established vs configured sessions per router.</a:t>
            </a:r>
          </a:p>
          <a:p>
            <a:r>
              <a:t>2. C8000v CPU: Measured by the portal over SSH: IOS XE has no exporter.</a:t>
            </a:r>
          </a:p>
          <a:p>
            <a:r>
              <a:t>3. The provider: node-exporter, frr-exporter and Telegraf: traffic on every access port.</a:t>
            </a:r>
          </a:p>
          <a:p>
            <a:r>
              <a:t>4. Syslog events: NHRP, IKE and IPsec messages per router, counted in VictoriaLogs.</a:t>
            </a:r>
          </a:p>
          <a:p/>
          <a:p>
            <a:r>
              <a:t>Underlay and overlay on one page: a provider problem and its DMVPN symptoms line up.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Grafana: router syslog</a:t>
            </a:r>
          </a:p>
          <a:p/>
          <a:p>
            <a:r>
              <a:t>1. BGP Down from syslog: Neighbour-down messages counted every 5 minutes per router.</a:t>
            </a:r>
          </a:p>
          <a:p>
            <a:r>
              <a:t>2. Router syslog: Every C8000v line, newest first, from VictoriaLogs.</a:t>
            </a:r>
          </a:p>
          <a:p>
            <a:r>
              <a:t>3. The lab host: CPU, memory, load and swap of the KVM host.</a:t>
            </a:r>
          </a:p>
          <a:p/>
          <a:p>
            <a:r>
              <a:t>Logs and metrics side by side: no logging in to routers to read their buffers.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Grafana: the lab and the portal's jobs</a:t>
            </a:r>
          </a:p>
          <a:p/>
          <a:p>
            <a:r>
              <a:t>1. Host CPU: All cores, per mode.</a:t>
            </a:r>
          </a:p>
          <a:p>
            <a:r>
              <a:t>2. VMs running: Every router, host and provider VM.</a:t>
            </a:r>
          </a:p>
          <a:p>
            <a:r>
              <a:t>3. LAN hosts answering: Reachability of each site's host.</a:t>
            </a:r>
          </a:p>
          <a:p>
            <a:r>
              <a:t>4. The portal's jobs: The last outcome of each job type; red was a failed run.</a:t>
            </a:r>
          </a:p>
          <a:p/>
          <a:p>
            <a:r>
              <a:t>Even the automation is monitored: a failing job type shows up like any other fault.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Grafana: the provider router in detail</a:t>
            </a:r>
          </a:p>
          <a:p/>
          <a:p>
            <a:r>
              <a:t>1. BGP peers: 8 of 8 established on mpls.</a:t>
            </a:r>
          </a:p>
          <a:p>
            <a:r>
              <a:t>2. Access links: Traffic on every customer and hub port.</a:t>
            </a:r>
          </a:p>
          <a:p>
            <a:r>
              <a:t>3. CPU, memory, load: From node-exporter and Telegraf.</a:t>
            </a:r>
          </a:p>
          <a:p/>
          <a:p>
            <a:r>
              <a:t>Each VyOS router has full telemetry, down to each interface and BGP peer.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alert rules</a:t>
            </a:r>
          </a:p>
          <a:p/>
          <a:p>
            <a:r>
              <a:t>1. Dmvpn* rules: Six metric rules for this lab, all inactive: healthy. Three more rules watch syslog in vmalert. All are gated on the lab running and muted during maintenance.</a:t>
            </a:r>
          </a:p>
          <a:p/>
          <a:p>
            <a:r>
              <a:t>Problems page someone before a customer calls, and planned work does not.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Figures from the lab on 27 September 2026: the health check, the failover measurements on the Resilience page, and the pre-shared key rotation job (CR-0021).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5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5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5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5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5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0"/>
            <a:ext cx="12191695" cy="5486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138160" y="1188720"/>
            <a:ext cx="365760" cy="2103120"/>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503920" y="1188720"/>
            <a:ext cx="640080" cy="2560319"/>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503920" y="1188720"/>
            <a:ext cx="1737360" cy="2651760"/>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503920" y="1188720"/>
            <a:ext cx="2834640" cy="2194560"/>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8138160" y="914400"/>
            <a:ext cx="1737360" cy="2377440"/>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9144000" y="914400"/>
            <a:ext cx="731520" cy="2834639"/>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875520" y="914400"/>
            <a:ext cx="365760" cy="2926080"/>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875520" y="914400"/>
            <a:ext cx="1463040" cy="2468880"/>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8138160" y="1188720"/>
            <a:ext cx="3108960" cy="2103120"/>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9144000" y="1188720"/>
            <a:ext cx="2103120" cy="2560319"/>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10241280" y="1188720"/>
            <a:ext cx="1005840" cy="2651760"/>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247120" y="1188720"/>
            <a:ext cx="91440" cy="2194560"/>
          </a:xfrm>
          <a:prstGeom prst="line">
            <a:avLst/>
          </a:prstGeom>
          <a:ln w="12700">
            <a:solidFill>
              <a:srgbClr val="2B4C6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9144000" y="3383280"/>
            <a:ext cx="2194560" cy="365759"/>
          </a:xfrm>
          <a:prstGeom prst="line">
            <a:avLst/>
          </a:prstGeom>
          <a:ln w="38100">
            <a:solidFill>
              <a:srgbClr val="A78BFA"/>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8302752" y="987552"/>
            <a:ext cx="402336" cy="402336"/>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674352" y="713232"/>
            <a:ext cx="402336" cy="402336"/>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45952" y="987552"/>
            <a:ext cx="402336" cy="402336"/>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991856" y="3145536"/>
            <a:ext cx="292608" cy="292608"/>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997696" y="3602735"/>
            <a:ext cx="292608" cy="292608"/>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94976" y="3694176"/>
            <a:ext cx="292608" cy="292608"/>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192256" y="3236976"/>
            <a:ext cx="292608" cy="292608"/>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1463040"/>
            <a:ext cx="7315200" cy="365760"/>
          </a:xfrm>
          <a:prstGeom prst="rect">
            <a:avLst/>
          </a:prstGeom>
          <a:noFill/>
        </p:spPr>
        <p:txBody>
          <a:bodyPr wrap="square" lIns="36576" rIns="36576" tIns="18288" bIns="18288" anchor="t">
            <a:spAutoFit/>
          </a:bodyPr>
          <a:lstStyle/>
          <a:p>
            <a:pPr algn="l"/>
            <a:r>
              <a:rPr sz="1300" b="1" i="0">
                <a:solidFill>
                  <a:srgbClr val="5EC8DB"/>
                </a:solidFill>
                <a:latin typeface="Calibri"/>
              </a:rPr>
              <a:t>NETWORK AS CODE · DMVPN PHASE 3</a:t>
            </a:r>
          </a:p>
        </p:txBody>
      </p:sp>
      <p:sp>
        <p:nvSpPr>
          <p:cNvPr id="25" name="TextBox 24"/>
          <p:cNvSpPr txBox="1"/>
          <p:nvPr/>
        </p:nvSpPr>
        <p:spPr>
          <a:xfrm>
            <a:off x="731520" y="1874519"/>
            <a:ext cx="7498079" cy="1280160"/>
          </a:xfrm>
          <a:prstGeom prst="rect">
            <a:avLst/>
          </a:prstGeom>
          <a:noFill/>
        </p:spPr>
        <p:txBody>
          <a:bodyPr wrap="square" lIns="36576" rIns="36576" tIns="18288" bIns="18288" anchor="t">
            <a:spAutoFit/>
          </a:bodyPr>
          <a:lstStyle/>
          <a:p>
            <a:pPr algn="l"/>
            <a:r>
              <a:rPr sz="4600" b="1" i="0">
                <a:solidFill>
                  <a:srgbClr val="FFFFFF"/>
                </a:solidFill>
                <a:latin typeface="Calibri"/>
              </a:rPr>
              <a:t>C8000v DMVPN Portal</a:t>
            </a:r>
          </a:p>
        </p:txBody>
      </p:sp>
      <p:sp>
        <p:nvSpPr>
          <p:cNvPr id="26" name="TextBox 25"/>
          <p:cNvSpPr txBox="1"/>
          <p:nvPr/>
        </p:nvSpPr>
        <p:spPr>
          <a:xfrm>
            <a:off x="731520" y="2788920"/>
            <a:ext cx="6949440" cy="1371600"/>
          </a:xfrm>
          <a:prstGeom prst="rect">
            <a:avLst/>
          </a:prstGeom>
          <a:noFill/>
        </p:spPr>
        <p:txBody>
          <a:bodyPr wrap="square" lIns="36576" rIns="36576" tIns="18288" bIns="18288" anchor="t">
            <a:spAutoFit/>
          </a:bodyPr>
          <a:lstStyle/>
          <a:p>
            <a:pPr algn="l"/>
            <a:r>
              <a:rPr sz="1800" b="0" i="0">
                <a:solidFill>
                  <a:srgbClr val="CBD5E1"/>
                </a:solidFill>
                <a:latin typeface="Calibri"/>
              </a:rPr>
              <a:t>One place to see, change, prove and share a multi-hub DMVPN service: for the operators who run it and the customers who use it.</a:t>
            </a:r>
          </a:p>
        </p:txBody>
      </p:sp>
      <p:sp>
        <p:nvSpPr>
          <p:cNvPr id="27" name="TextBox 26"/>
          <p:cNvSpPr txBox="1"/>
          <p:nvPr/>
        </p:nvSpPr>
        <p:spPr>
          <a:xfrm>
            <a:off x="731520" y="5074920"/>
            <a:ext cx="10058400" cy="365760"/>
          </a:xfrm>
          <a:prstGeom prst="rect">
            <a:avLst/>
          </a:prstGeom>
          <a:noFill/>
        </p:spPr>
        <p:txBody>
          <a:bodyPr wrap="square" lIns="36576" rIns="36576" tIns="18288" bIns="18288" anchor="t">
            <a:spAutoFit/>
          </a:bodyPr>
          <a:lstStyle/>
          <a:p>
            <a:pPr algn="l"/>
            <a:r>
              <a:rPr sz="1300" b="0" i="0">
                <a:solidFill>
                  <a:srgbClr val="94A3B8"/>
                </a:solidFill>
                <a:latin typeface="Calibri"/>
              </a:rPr>
              <a:t>Three Catalyst 8000v hubs · C8000v and VyOS customers · two providers · Nautobot · Terraform (NAC) · VictoriaMetrics</a:t>
            </a:r>
          </a:p>
        </p:txBody>
      </p:sp>
      <p:sp>
        <p:nvSpPr>
          <p:cNvPr id="28" name="TextBox 27"/>
          <p:cNvSpPr txBox="1"/>
          <p:nvPr/>
        </p:nvSpPr>
        <p:spPr>
          <a:xfrm>
            <a:off x="731520" y="5486400"/>
            <a:ext cx="7315200" cy="365760"/>
          </a:xfrm>
          <a:prstGeom prst="rect">
            <a:avLst/>
          </a:prstGeom>
          <a:noFill/>
        </p:spPr>
        <p:txBody>
          <a:bodyPr wrap="square" lIns="36576" rIns="36576" tIns="18288" bIns="18288" anchor="t">
            <a:spAutoFit/>
          </a:bodyPr>
          <a:lstStyle/>
          <a:p>
            <a:pPr algn="l"/>
            <a:r>
              <a:rPr sz="1300" b="0" i="0">
                <a:solidFill>
                  <a:srgbClr val="94A3B8"/>
                </a:solidFill>
                <a:latin typeface="Calibri"/>
              </a:rPr>
              <a:t>Version 0.22.0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THE PROBLEM</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Running a DMVPN service by hand does not scale</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2</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TextBox 7"/>
          <p:cNvSpPr txBox="1"/>
          <p:nvPr/>
        </p:nvSpPr>
        <p:spPr>
          <a:xfrm>
            <a:off x="411480" y="1097280"/>
            <a:ext cx="11247120" cy="548640"/>
          </a:xfrm>
          <a:prstGeom prst="rect">
            <a:avLst/>
          </a:prstGeom>
          <a:noFill/>
        </p:spPr>
        <p:txBody>
          <a:bodyPr wrap="square" lIns="36576" rIns="36576" tIns="18288" bIns="18288" anchor="t">
            <a:spAutoFit/>
          </a:bodyPr>
          <a:lstStyle/>
          <a:p>
            <a:pPr algn="l"/>
            <a:r>
              <a:rPr sz="1500" b="0" i="0">
                <a:solidFill>
                  <a:srgbClr val="5B6778"/>
                </a:solidFill>
                <a:latin typeface="Calibri"/>
              </a:rPr>
              <a:t>A single customer touches three hubs, one or two providers, two router operating systems and a source of truth. Every question and every change means logging in to several boxes.</a:t>
            </a:r>
          </a:p>
        </p:txBody>
      </p:sp>
      <p:sp>
        <p:nvSpPr>
          <p:cNvPr id="9" name="Rounded Rectangle 8"/>
          <p:cNvSpPr/>
          <p:nvPr/>
        </p:nvSpPr>
        <p:spPr>
          <a:xfrm>
            <a:off x="411480" y="1874519"/>
            <a:ext cx="2743200" cy="201168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2039112"/>
            <a:ext cx="64008" cy="38404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020824"/>
            <a:ext cx="2468880" cy="411480"/>
          </a:xfrm>
          <a:prstGeom prst="rect">
            <a:avLst/>
          </a:prstGeom>
          <a:noFill/>
        </p:spPr>
        <p:txBody>
          <a:bodyPr wrap="square" lIns="36576" rIns="36576" tIns="18288" bIns="18288" anchor="t">
            <a:spAutoFit/>
          </a:bodyPr>
          <a:lstStyle/>
          <a:p>
            <a:pPr algn="l"/>
            <a:r>
              <a:rPr sz="1500" b="1" i="0">
                <a:solidFill>
                  <a:srgbClr val="0B1B2E"/>
                </a:solidFill>
                <a:latin typeface="Calibri"/>
              </a:rPr>
              <a:t>Scattered state</a:t>
            </a:r>
          </a:p>
        </p:txBody>
      </p:sp>
      <p:sp>
        <p:nvSpPr>
          <p:cNvPr id="12" name="TextBox 11"/>
          <p:cNvSpPr txBox="1"/>
          <p:nvPr/>
        </p:nvSpPr>
        <p:spPr>
          <a:xfrm>
            <a:off x="594360" y="2441448"/>
            <a:ext cx="2450592" cy="1371600"/>
          </a:xfrm>
          <a:prstGeom prst="rect">
            <a:avLst/>
          </a:prstGeom>
          <a:noFill/>
        </p:spPr>
        <p:txBody>
          <a:bodyPr wrap="square" lIns="36576" rIns="36576" tIns="18288" bIns="18288" anchor="t">
            <a:spAutoFit/>
          </a:bodyPr>
          <a:lstStyle/>
          <a:p>
            <a:pPr algn="l"/>
            <a:r>
              <a:rPr sz="1200" b="0" i="0">
                <a:solidFill>
                  <a:srgbClr val="1F2937"/>
                </a:solidFill>
                <a:latin typeface="Calibri"/>
              </a:rPr>
              <a:t>Is every spoke registered with every hub? Are shortcuts forming? Health lives in a dozen CLI sessions on IOS XE and VyOS.</a:t>
            </a:r>
          </a:p>
        </p:txBody>
      </p:sp>
      <p:sp>
        <p:nvSpPr>
          <p:cNvPr id="13" name="Rounded Rectangle 12"/>
          <p:cNvSpPr/>
          <p:nvPr/>
        </p:nvSpPr>
        <p:spPr>
          <a:xfrm>
            <a:off x="3264408" y="1874519"/>
            <a:ext cx="2743200" cy="201168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64408" y="2039112"/>
            <a:ext cx="64008" cy="38404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47288" y="2020824"/>
            <a:ext cx="2468880" cy="411480"/>
          </a:xfrm>
          <a:prstGeom prst="rect">
            <a:avLst/>
          </a:prstGeom>
          <a:noFill/>
        </p:spPr>
        <p:txBody>
          <a:bodyPr wrap="square" lIns="36576" rIns="36576" tIns="18288" bIns="18288" anchor="t">
            <a:spAutoFit/>
          </a:bodyPr>
          <a:lstStyle/>
          <a:p>
            <a:pPr algn="l"/>
            <a:r>
              <a:rPr sz="1500" b="1" i="0">
                <a:solidFill>
                  <a:srgbClr val="0B1B2E"/>
                </a:solidFill>
                <a:latin typeface="Calibri"/>
              </a:rPr>
              <a:t>Slow, risky changes</a:t>
            </a:r>
          </a:p>
        </p:txBody>
      </p:sp>
      <p:sp>
        <p:nvSpPr>
          <p:cNvPr id="16" name="TextBox 15"/>
          <p:cNvSpPr txBox="1"/>
          <p:nvPr/>
        </p:nvSpPr>
        <p:spPr>
          <a:xfrm>
            <a:off x="3447288" y="2441448"/>
            <a:ext cx="2450592" cy="1371600"/>
          </a:xfrm>
          <a:prstGeom prst="rect">
            <a:avLst/>
          </a:prstGeom>
          <a:noFill/>
        </p:spPr>
        <p:txBody>
          <a:bodyPr wrap="square" lIns="36576" rIns="36576" tIns="18288" bIns="18288" anchor="t">
            <a:spAutoFit/>
          </a:bodyPr>
          <a:lstStyle/>
          <a:p>
            <a:pPr algn="l"/>
            <a:r>
              <a:rPr sz="1200" b="0" i="0">
                <a:solidFill>
                  <a:srgbClr val="1F2937"/>
                </a:solidFill>
                <a:latin typeface="Calibri"/>
              </a:rPr>
              <a:t>Adding, changing or removing a customer means consistent edits on hubs, spoke, provider and Nautobot. It is easy to miss one.</a:t>
            </a:r>
          </a:p>
        </p:txBody>
      </p:sp>
      <p:sp>
        <p:nvSpPr>
          <p:cNvPr id="17" name="Rounded Rectangle 16"/>
          <p:cNvSpPr/>
          <p:nvPr/>
        </p:nvSpPr>
        <p:spPr>
          <a:xfrm>
            <a:off x="6117336" y="1874519"/>
            <a:ext cx="2743200" cy="201168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17336" y="2039112"/>
            <a:ext cx="64008" cy="38404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0216" y="2020824"/>
            <a:ext cx="2468880" cy="411480"/>
          </a:xfrm>
          <a:prstGeom prst="rect">
            <a:avLst/>
          </a:prstGeom>
          <a:noFill/>
        </p:spPr>
        <p:txBody>
          <a:bodyPr wrap="square" lIns="36576" rIns="36576" tIns="18288" bIns="18288" anchor="t">
            <a:spAutoFit/>
          </a:bodyPr>
          <a:lstStyle/>
          <a:p>
            <a:pPr algn="l"/>
            <a:r>
              <a:rPr sz="1500" b="1" i="0">
                <a:solidFill>
                  <a:srgbClr val="0B1B2E"/>
                </a:solidFill>
                <a:latin typeface="Calibri"/>
              </a:rPr>
              <a:t>Drift</a:t>
            </a:r>
          </a:p>
        </p:txBody>
      </p:sp>
      <p:sp>
        <p:nvSpPr>
          <p:cNvPr id="20" name="TextBox 19"/>
          <p:cNvSpPr txBox="1"/>
          <p:nvPr/>
        </p:nvSpPr>
        <p:spPr>
          <a:xfrm>
            <a:off x="6300216" y="2441448"/>
            <a:ext cx="2450592" cy="1371600"/>
          </a:xfrm>
          <a:prstGeom prst="rect">
            <a:avLst/>
          </a:prstGeom>
          <a:noFill/>
        </p:spPr>
        <p:txBody>
          <a:bodyPr wrap="square" lIns="36576" rIns="36576" tIns="18288" bIns="18288" anchor="t">
            <a:spAutoFit/>
          </a:bodyPr>
          <a:lstStyle/>
          <a:p>
            <a:pPr algn="l"/>
            <a:r>
              <a:rPr sz="1200" b="0" i="0">
                <a:solidFill>
                  <a:srgbClr val="1F2937"/>
                </a:solidFill>
                <a:latin typeface="Calibri"/>
              </a:rPr>
              <a:t>Hand edits leave routers differing from the intended design, and nobody notices until something breaks.</a:t>
            </a:r>
          </a:p>
        </p:txBody>
      </p:sp>
      <p:sp>
        <p:nvSpPr>
          <p:cNvPr id="21" name="Rounded Rectangle 20"/>
          <p:cNvSpPr/>
          <p:nvPr/>
        </p:nvSpPr>
        <p:spPr>
          <a:xfrm>
            <a:off x="8970263" y="1874519"/>
            <a:ext cx="2743200" cy="201168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970263" y="2039112"/>
            <a:ext cx="64008" cy="38404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53143" y="2020824"/>
            <a:ext cx="2468880" cy="411480"/>
          </a:xfrm>
          <a:prstGeom prst="rect">
            <a:avLst/>
          </a:prstGeom>
          <a:noFill/>
        </p:spPr>
        <p:txBody>
          <a:bodyPr wrap="square" lIns="36576" rIns="36576" tIns="18288" bIns="18288" anchor="t">
            <a:spAutoFit/>
          </a:bodyPr>
          <a:lstStyle/>
          <a:p>
            <a:pPr algn="l"/>
            <a:r>
              <a:rPr sz="1500" b="1" i="0">
                <a:solidFill>
                  <a:srgbClr val="0B1B2E"/>
                </a:solidFill>
                <a:latin typeface="Calibri"/>
              </a:rPr>
              <a:t>No change control</a:t>
            </a:r>
          </a:p>
        </p:txBody>
      </p:sp>
      <p:sp>
        <p:nvSpPr>
          <p:cNvPr id="24" name="TextBox 23"/>
          <p:cNvSpPr txBox="1"/>
          <p:nvPr/>
        </p:nvSpPr>
        <p:spPr>
          <a:xfrm>
            <a:off x="9153143" y="2441448"/>
            <a:ext cx="2450592" cy="1371600"/>
          </a:xfrm>
          <a:prstGeom prst="rect">
            <a:avLst/>
          </a:prstGeom>
          <a:noFill/>
        </p:spPr>
        <p:txBody>
          <a:bodyPr wrap="square" lIns="36576" rIns="36576" tIns="18288" bIns="18288" anchor="t">
            <a:spAutoFit/>
          </a:bodyPr>
          <a:lstStyle/>
          <a:p>
            <a:pPr algn="l"/>
            <a:r>
              <a:rPr sz="1200" b="0" i="0">
                <a:solidFill>
                  <a:srgbClr val="1F2937"/>
                </a:solidFill>
                <a:latin typeface="Calibri"/>
              </a:rPr>
              <a:t>Who changed what, who approved it, and what exactly changed on each router? Usually nobody can say.</a:t>
            </a:r>
          </a:p>
        </p:txBody>
      </p:sp>
      <p:sp>
        <p:nvSpPr>
          <p:cNvPr id="25" name="Rounded Rectangle 24"/>
          <p:cNvSpPr/>
          <p:nvPr/>
        </p:nvSpPr>
        <p:spPr>
          <a:xfrm>
            <a:off x="411480" y="3995928"/>
            <a:ext cx="2743200" cy="201168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60520"/>
            <a:ext cx="64008" cy="38404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142232"/>
            <a:ext cx="2468880" cy="411480"/>
          </a:xfrm>
          <a:prstGeom prst="rect">
            <a:avLst/>
          </a:prstGeom>
          <a:noFill/>
        </p:spPr>
        <p:txBody>
          <a:bodyPr wrap="square" lIns="36576" rIns="36576" tIns="18288" bIns="18288" anchor="t">
            <a:spAutoFit/>
          </a:bodyPr>
          <a:lstStyle/>
          <a:p>
            <a:pPr algn="l"/>
            <a:r>
              <a:rPr sz="1500" b="1" i="0">
                <a:solidFill>
                  <a:srgbClr val="0B1B2E"/>
                </a:solidFill>
                <a:latin typeface="Calibri"/>
              </a:rPr>
              <a:t>Unproven resilience</a:t>
            </a:r>
          </a:p>
        </p:txBody>
      </p:sp>
      <p:sp>
        <p:nvSpPr>
          <p:cNvPr id="28" name="TextBox 27"/>
          <p:cNvSpPr txBox="1"/>
          <p:nvPr/>
        </p:nvSpPr>
        <p:spPr>
          <a:xfrm>
            <a:off x="594360" y="4562856"/>
            <a:ext cx="2450592" cy="1371600"/>
          </a:xfrm>
          <a:prstGeom prst="rect">
            <a:avLst/>
          </a:prstGeom>
          <a:noFill/>
        </p:spPr>
        <p:txBody>
          <a:bodyPr wrap="square" lIns="36576" rIns="36576" tIns="18288" bIns="18288" anchor="t">
            <a:spAutoFit/>
          </a:bodyPr>
          <a:lstStyle/>
          <a:p>
            <a:pPr algn="l"/>
            <a:r>
              <a:rPr sz="1200" b="0" i="0">
                <a:solidFill>
                  <a:srgbClr val="1F2937"/>
                </a:solidFill>
                <a:latin typeface="Calibri"/>
              </a:rPr>
              <a:t>Dual hubs and dual providers look good on paper, but how long does failover really take?</a:t>
            </a:r>
          </a:p>
        </p:txBody>
      </p:sp>
      <p:sp>
        <p:nvSpPr>
          <p:cNvPr id="29" name="Rounded Rectangle 28"/>
          <p:cNvSpPr/>
          <p:nvPr/>
        </p:nvSpPr>
        <p:spPr>
          <a:xfrm>
            <a:off x="3264408" y="3995928"/>
            <a:ext cx="2743200" cy="201168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64408" y="4160520"/>
            <a:ext cx="64008" cy="38404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47288" y="4142232"/>
            <a:ext cx="2468880" cy="411480"/>
          </a:xfrm>
          <a:prstGeom prst="rect">
            <a:avLst/>
          </a:prstGeom>
          <a:noFill/>
        </p:spPr>
        <p:txBody>
          <a:bodyPr wrap="square" lIns="36576" rIns="36576" tIns="18288" bIns="18288" anchor="t">
            <a:spAutoFit/>
          </a:bodyPr>
          <a:lstStyle/>
          <a:p>
            <a:pPr algn="l"/>
            <a:r>
              <a:rPr sz="1500" b="1" i="0">
                <a:solidFill>
                  <a:srgbClr val="0B1B2E"/>
                </a:solidFill>
                <a:latin typeface="Calibri"/>
              </a:rPr>
              <a:t>Blind customers</a:t>
            </a:r>
          </a:p>
        </p:txBody>
      </p:sp>
      <p:sp>
        <p:nvSpPr>
          <p:cNvPr id="32" name="TextBox 31"/>
          <p:cNvSpPr txBox="1"/>
          <p:nvPr/>
        </p:nvSpPr>
        <p:spPr>
          <a:xfrm>
            <a:off x="3447288" y="4562856"/>
            <a:ext cx="2450592" cy="1371600"/>
          </a:xfrm>
          <a:prstGeom prst="rect">
            <a:avLst/>
          </a:prstGeom>
          <a:noFill/>
        </p:spPr>
        <p:txBody>
          <a:bodyPr wrap="square" lIns="36576" rIns="36576" tIns="18288" bIns="18288" anchor="t">
            <a:spAutoFit/>
          </a:bodyPr>
          <a:lstStyle/>
          <a:p>
            <a:pPr algn="l"/>
            <a:r>
              <a:rPr sz="1200" b="0" i="0">
                <a:solidFill>
                  <a:srgbClr val="1F2937"/>
                </a:solidFill>
                <a:latin typeface="Calibri"/>
              </a:rPr>
              <a:t>Customers cannot see their own service, test it, or ask for changes. SLA reports are assembled by hand.</a:t>
            </a:r>
          </a:p>
        </p:txBody>
      </p:sp>
      <p:sp>
        <p:nvSpPr>
          <p:cNvPr id="33" name="Rounded Rectangle 32"/>
          <p:cNvSpPr/>
          <p:nvPr/>
        </p:nvSpPr>
        <p:spPr>
          <a:xfrm>
            <a:off x="6117336" y="3995928"/>
            <a:ext cx="2743200" cy="201168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17336" y="4160520"/>
            <a:ext cx="64008" cy="38404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0216" y="4142232"/>
            <a:ext cx="2468880" cy="411480"/>
          </a:xfrm>
          <a:prstGeom prst="rect">
            <a:avLst/>
          </a:prstGeom>
          <a:noFill/>
        </p:spPr>
        <p:txBody>
          <a:bodyPr wrap="square" lIns="36576" rIns="36576" tIns="18288" bIns="18288" anchor="t">
            <a:spAutoFit/>
          </a:bodyPr>
          <a:lstStyle/>
          <a:p>
            <a:pPr algn="l"/>
            <a:r>
              <a:rPr sz="1500" b="1" i="0">
                <a:solidFill>
                  <a:srgbClr val="0B1B2E"/>
                </a:solidFill>
                <a:latin typeface="Calibri"/>
              </a:rPr>
              <a:t>Static secrets</a:t>
            </a:r>
          </a:p>
        </p:txBody>
      </p:sp>
      <p:sp>
        <p:nvSpPr>
          <p:cNvPr id="36" name="TextBox 35"/>
          <p:cNvSpPr txBox="1"/>
          <p:nvPr/>
        </p:nvSpPr>
        <p:spPr>
          <a:xfrm>
            <a:off x="6300216" y="4562856"/>
            <a:ext cx="2450592" cy="1371600"/>
          </a:xfrm>
          <a:prstGeom prst="rect">
            <a:avLst/>
          </a:prstGeom>
          <a:noFill/>
        </p:spPr>
        <p:txBody>
          <a:bodyPr wrap="square" lIns="36576" rIns="36576" tIns="18288" bIns="18288" anchor="t">
            <a:spAutoFit/>
          </a:bodyPr>
          <a:lstStyle/>
          <a:p>
            <a:pPr algn="l"/>
            <a:r>
              <a:rPr sz="1200" b="0" i="0">
                <a:solidFill>
                  <a:srgbClr val="1F2937"/>
                </a:solidFill>
                <a:latin typeface="Calibri"/>
              </a:rPr>
              <a:t>The DMVPN pre-shared key is set once and rarely rotated, because rotating it by hand risks an outage.</a:t>
            </a:r>
          </a:p>
        </p:txBody>
      </p:sp>
      <p:sp>
        <p:nvSpPr>
          <p:cNvPr id="37" name="Rounded Rectangle 36"/>
          <p:cNvSpPr/>
          <p:nvPr/>
        </p:nvSpPr>
        <p:spPr>
          <a:xfrm>
            <a:off x="8970263" y="3995928"/>
            <a:ext cx="2743200" cy="2011680"/>
          </a:xfrm>
          <a:prstGeom prst="roundRect">
            <a:avLst>
              <a:gd name="adj" fmla="val 6000"/>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53143" y="4178808"/>
            <a:ext cx="2377440" cy="1645920"/>
          </a:xfrm>
          <a:prstGeom prst="rect">
            <a:avLst/>
          </a:prstGeom>
          <a:noFill/>
        </p:spPr>
        <p:txBody>
          <a:bodyPr wrap="square" lIns="36576" rIns="36576" tIns="18288" bIns="18288" anchor="t">
            <a:spAutoFit/>
          </a:bodyPr>
          <a:lstStyle/>
          <a:p>
            <a:pPr algn="l">
              <a:spcAft>
                <a:spcPts val="600"/>
              </a:spcAft>
            </a:pPr>
            <a:r>
              <a:rPr sz="1500" b="1" i="0">
                <a:solidFill>
                  <a:srgbClr val="5EC8DB"/>
                </a:solidFill>
                <a:latin typeface="Calibri"/>
              </a:rPr>
              <a:t>The result</a:t>
            </a:r>
          </a:p>
          <a:p>
            <a:pPr algn="l">
              <a:spcAft>
                <a:spcPts val="600"/>
              </a:spcAft>
            </a:pPr>
            <a:r>
              <a:rPr sz="1300" b="0" i="0">
                <a:solidFill>
                  <a:srgbClr val="FFFFFF"/>
                </a:solidFill>
                <a:latin typeface="Calibri"/>
              </a:rPr>
              <a:t>Slow onboarding, outages from avoidable mistakes, and no evidence for customers or auditors.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THE SOLUTION</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What the portal does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3</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TextBox 7"/>
          <p:cNvSpPr txBox="1"/>
          <p:nvPr/>
        </p:nvSpPr>
        <p:spPr>
          <a:xfrm>
            <a:off x="411480" y="1097280"/>
            <a:ext cx="11247120" cy="640080"/>
          </a:xfrm>
          <a:prstGeom prst="rect">
            <a:avLst/>
          </a:prstGeom>
          <a:noFill/>
        </p:spPr>
        <p:txBody>
          <a:bodyPr wrap="square" lIns="36576" rIns="36576" tIns="18288" bIns="18288" anchor="t">
            <a:spAutoFit/>
          </a:bodyPr>
          <a:lstStyle/>
          <a:p>
            <a:pPr algn="l"/>
            <a:r>
              <a:rPr sz="1500" b="0" i="0">
                <a:solidFill>
                  <a:srgbClr val="5B6778"/>
                </a:solidFill>
                <a:latin typeface="Calibri"/>
              </a:rPr>
              <a:t>One web portal on top of a single source of truth (</a:t>
            </a:r>
            <a:r>
              <a:rPr sz="1500" b="1" i="0">
                <a:solidFill>
                  <a:srgbClr val="5B6778"/>
                </a:solidFill>
                <a:latin typeface="Calibri"/>
              </a:rPr>
              <a:t>lab.conf</a:t>
            </a:r>
            <a:r>
              <a:rPr sz="1500" b="0" i="0">
                <a:solidFill>
                  <a:srgbClr val="5B6778"/>
                </a:solidFill>
                <a:latin typeface="Calibri"/>
              </a:rPr>
              <a:t>). It reads every router live, turns every change into a controlled, verified job, and gives each customer a view of its own service.</a:t>
            </a:r>
          </a:p>
        </p:txBody>
      </p:sp>
      <p:sp>
        <p:nvSpPr>
          <p:cNvPr id="9" name="Rounded Rectangle 8"/>
          <p:cNvSpPr/>
          <p:nvPr/>
        </p:nvSpPr>
        <p:spPr>
          <a:xfrm>
            <a:off x="457200" y="2103120"/>
            <a:ext cx="2194560" cy="96012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194560"/>
            <a:ext cx="2048255" cy="320040"/>
          </a:xfrm>
          <a:prstGeom prst="rect">
            <a:avLst/>
          </a:prstGeom>
          <a:noFill/>
        </p:spPr>
        <p:txBody>
          <a:bodyPr wrap="square" lIns="36576" rIns="36576" tIns="18288" bIns="18288" anchor="t">
            <a:spAutoFit/>
          </a:bodyPr>
          <a:lstStyle/>
          <a:p>
            <a:pPr algn="ctr"/>
            <a:r>
              <a:rPr sz="1350" b="1" i="0">
                <a:solidFill>
                  <a:srgbClr val="0B1B2E"/>
                </a:solidFill>
                <a:latin typeface="Calibri"/>
              </a:rPr>
              <a:t>Operators</a:t>
            </a:r>
          </a:p>
        </p:txBody>
      </p:sp>
      <p:sp>
        <p:nvSpPr>
          <p:cNvPr id="11" name="TextBox 10"/>
          <p:cNvSpPr txBox="1"/>
          <p:nvPr/>
        </p:nvSpPr>
        <p:spPr>
          <a:xfrm>
            <a:off x="530352" y="2505456"/>
            <a:ext cx="2048255" cy="502920"/>
          </a:xfrm>
          <a:prstGeom prst="rect">
            <a:avLst/>
          </a:prstGeom>
          <a:noFill/>
        </p:spPr>
        <p:txBody>
          <a:bodyPr wrap="square" lIns="36576" rIns="36576" tIns="18288" bIns="18288" anchor="t">
            <a:spAutoFit/>
          </a:bodyPr>
          <a:lstStyle/>
          <a:p>
            <a:pPr algn="ctr"/>
            <a:r>
              <a:rPr sz="1050" b="0" i="0">
                <a:solidFill>
                  <a:srgbClr val="5B6778"/>
                </a:solidFill>
                <a:latin typeface="Calibri"/>
              </a:rPr>
              <a:t>viewer · operator · approver · admin</a:t>
            </a:r>
          </a:p>
        </p:txBody>
      </p:sp>
      <p:sp>
        <p:nvSpPr>
          <p:cNvPr id="12" name="Rounded Rectangle 11"/>
          <p:cNvSpPr/>
          <p:nvPr/>
        </p:nvSpPr>
        <p:spPr>
          <a:xfrm>
            <a:off x="457200" y="3931920"/>
            <a:ext cx="2194560" cy="96012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4023359"/>
            <a:ext cx="2048255" cy="320040"/>
          </a:xfrm>
          <a:prstGeom prst="rect">
            <a:avLst/>
          </a:prstGeom>
          <a:noFill/>
        </p:spPr>
        <p:txBody>
          <a:bodyPr wrap="square" lIns="36576" rIns="36576" tIns="18288" bIns="18288" anchor="t">
            <a:spAutoFit/>
          </a:bodyPr>
          <a:lstStyle/>
          <a:p>
            <a:pPr algn="ctr"/>
            <a:r>
              <a:rPr sz="1350" b="1" i="0">
                <a:solidFill>
                  <a:srgbClr val="0B1B2E"/>
                </a:solidFill>
                <a:latin typeface="Calibri"/>
              </a:rPr>
              <a:t>Customers</a:t>
            </a:r>
          </a:p>
        </p:txBody>
      </p:sp>
      <p:sp>
        <p:nvSpPr>
          <p:cNvPr id="14" name="TextBox 13"/>
          <p:cNvSpPr txBox="1"/>
          <p:nvPr/>
        </p:nvSpPr>
        <p:spPr>
          <a:xfrm>
            <a:off x="530352" y="4334256"/>
            <a:ext cx="2048255" cy="502920"/>
          </a:xfrm>
          <a:prstGeom prst="rect">
            <a:avLst/>
          </a:prstGeom>
          <a:noFill/>
        </p:spPr>
        <p:txBody>
          <a:bodyPr wrap="square" lIns="36576" rIns="36576" tIns="18288" bIns="18288" anchor="t">
            <a:spAutoFit/>
          </a:bodyPr>
          <a:lstStyle/>
          <a:p>
            <a:pPr algn="ctr"/>
            <a:r>
              <a:rPr sz="1050" b="0" i="0">
                <a:solidFill>
                  <a:srgbClr val="5B6778"/>
                </a:solidFill>
                <a:latin typeface="Calibri"/>
              </a:rPr>
              <a:t>their own site, SLA, requests, tests</a:t>
            </a:r>
          </a:p>
        </p:txBody>
      </p:sp>
      <p:sp>
        <p:nvSpPr>
          <p:cNvPr id="15" name="Rounded Rectangle 14"/>
          <p:cNvSpPr/>
          <p:nvPr/>
        </p:nvSpPr>
        <p:spPr>
          <a:xfrm>
            <a:off x="3474720" y="2377440"/>
            <a:ext cx="2651760" cy="2286000"/>
          </a:xfrm>
          <a:prstGeom prst="roundRect">
            <a:avLst>
              <a:gd name="adj" fmla="val 12000"/>
            </a:avLst>
          </a:prstGeom>
          <a:solidFill>
            <a:srgbClr val="0B1B2E"/>
          </a:solidFill>
          <a:ln w="19050">
            <a:solidFill>
              <a:srgbClr val="0B1B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468880"/>
            <a:ext cx="2505456" cy="320040"/>
          </a:xfrm>
          <a:prstGeom prst="rect">
            <a:avLst/>
          </a:prstGeom>
          <a:noFill/>
        </p:spPr>
        <p:txBody>
          <a:bodyPr wrap="square" lIns="36576" rIns="36576" tIns="18288" bIns="18288" anchor="t">
            <a:spAutoFit/>
          </a:bodyPr>
          <a:lstStyle/>
          <a:p>
            <a:pPr algn="ctr"/>
            <a:r>
              <a:rPr sz="1350" b="1" i="0">
                <a:solidFill>
                  <a:srgbClr val="FFFFFF"/>
                </a:solidFill>
                <a:latin typeface="Calibri"/>
              </a:rPr>
              <a:t>Portal  :8094</a:t>
            </a:r>
          </a:p>
        </p:txBody>
      </p:sp>
      <p:sp>
        <p:nvSpPr>
          <p:cNvPr id="17" name="TextBox 16"/>
          <p:cNvSpPr txBox="1"/>
          <p:nvPr/>
        </p:nvSpPr>
        <p:spPr>
          <a:xfrm>
            <a:off x="3547872" y="2779776"/>
            <a:ext cx="2505456" cy="1828800"/>
          </a:xfrm>
          <a:prstGeom prst="rect">
            <a:avLst/>
          </a:prstGeom>
          <a:noFill/>
        </p:spPr>
        <p:txBody>
          <a:bodyPr wrap="square" lIns="36576" rIns="36576" tIns="18288" bIns="18288" anchor="t">
            <a:spAutoFit/>
          </a:bodyPr>
          <a:lstStyle/>
          <a:p>
            <a:pPr algn="ctr"/>
            <a:r>
              <a:rPr sz="1050" b="0" i="0">
                <a:solidFill>
                  <a:srgbClr val="CBD5E1"/>
                </a:solidFill>
                <a:latin typeface="Calibri"/>
              </a:rPr>
              <a:t>FastAPI · jobs · change control · SLA probes · failover lab · config history · roles</a:t>
            </a:r>
          </a:p>
        </p:txBody>
      </p:sp>
      <p:cxnSp>
        <p:nvCxnSpPr>
          <p:cNvPr id="18" name="Connector 17"/>
          <p:cNvCxnSpPr/>
          <p:nvPr/>
        </p:nvCxnSpPr>
        <p:spPr>
          <a:xfrm>
            <a:off x="2651760" y="2587752"/>
            <a:ext cx="822960" cy="429768"/>
          </a:xfrm>
          <a:prstGeom prst="line">
            <a:avLst/>
          </a:prstGeom>
          <a:ln w="1905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651760" y="4023360"/>
            <a:ext cx="822960" cy="393192"/>
          </a:xfrm>
          <a:prstGeom prst="line">
            <a:avLst/>
          </a:prstGeom>
          <a:ln w="1905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949440" y="1783080"/>
            <a:ext cx="2148840" cy="91440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1874519"/>
            <a:ext cx="2002536" cy="320040"/>
          </a:xfrm>
          <a:prstGeom prst="rect">
            <a:avLst/>
          </a:prstGeom>
          <a:noFill/>
        </p:spPr>
        <p:txBody>
          <a:bodyPr wrap="square" lIns="36576" rIns="36576" tIns="18288" bIns="18288" anchor="t">
            <a:spAutoFit/>
          </a:bodyPr>
          <a:lstStyle/>
          <a:p>
            <a:pPr algn="ctr"/>
            <a:r>
              <a:rPr sz="1350" b="1" i="0">
                <a:solidFill>
                  <a:srgbClr val="0B1B2E"/>
                </a:solidFill>
                <a:latin typeface="Calibri"/>
              </a:rPr>
              <a:t>lab.conf</a:t>
            </a:r>
          </a:p>
        </p:txBody>
      </p:sp>
      <p:sp>
        <p:nvSpPr>
          <p:cNvPr id="22" name="TextBox 21"/>
          <p:cNvSpPr txBox="1"/>
          <p:nvPr/>
        </p:nvSpPr>
        <p:spPr>
          <a:xfrm>
            <a:off x="7022592" y="2185416"/>
            <a:ext cx="2002536" cy="457200"/>
          </a:xfrm>
          <a:prstGeom prst="rect">
            <a:avLst/>
          </a:prstGeom>
          <a:noFill/>
        </p:spPr>
        <p:txBody>
          <a:bodyPr wrap="square" lIns="36576" rIns="36576" tIns="18288" bIns="18288" anchor="t">
            <a:spAutoFit/>
          </a:bodyPr>
          <a:lstStyle/>
          <a:p>
            <a:pPr algn="ctr"/>
            <a:r>
              <a:rPr sz="1050" b="0" i="0">
                <a:solidFill>
                  <a:srgbClr val="5B6778"/>
                </a:solidFill>
                <a:latin typeface="Calibri"/>
              </a:rPr>
              <a:t>the intended design</a:t>
            </a:r>
          </a:p>
        </p:txBody>
      </p:sp>
      <p:sp>
        <p:nvSpPr>
          <p:cNvPr id="23" name="Rounded Rectangle 22"/>
          <p:cNvSpPr/>
          <p:nvPr/>
        </p:nvSpPr>
        <p:spPr>
          <a:xfrm>
            <a:off x="6949440" y="3063240"/>
            <a:ext cx="2148840" cy="91440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2592" y="3154680"/>
            <a:ext cx="2002536" cy="320040"/>
          </a:xfrm>
          <a:prstGeom prst="rect">
            <a:avLst/>
          </a:prstGeom>
          <a:noFill/>
        </p:spPr>
        <p:txBody>
          <a:bodyPr wrap="square" lIns="36576" rIns="36576" tIns="18288" bIns="18288" anchor="t">
            <a:spAutoFit/>
          </a:bodyPr>
          <a:lstStyle/>
          <a:p>
            <a:pPr algn="ctr"/>
            <a:r>
              <a:rPr sz="1350" b="1" i="0">
                <a:solidFill>
                  <a:srgbClr val="0B1B2E"/>
                </a:solidFill>
                <a:latin typeface="Calibri"/>
              </a:rPr>
              <a:t>Render</a:t>
            </a:r>
          </a:p>
        </p:txBody>
      </p:sp>
      <p:sp>
        <p:nvSpPr>
          <p:cNvPr id="25" name="TextBox 24"/>
          <p:cNvSpPr txBox="1"/>
          <p:nvPr/>
        </p:nvSpPr>
        <p:spPr>
          <a:xfrm>
            <a:off x="7022592" y="3465576"/>
            <a:ext cx="2002536" cy="457200"/>
          </a:xfrm>
          <a:prstGeom prst="rect">
            <a:avLst/>
          </a:prstGeom>
          <a:noFill/>
        </p:spPr>
        <p:txBody>
          <a:bodyPr wrap="square" lIns="36576" rIns="36576" tIns="18288" bIns="18288" anchor="t">
            <a:spAutoFit/>
          </a:bodyPr>
          <a:lstStyle/>
          <a:p>
            <a:pPr algn="ctr"/>
            <a:r>
              <a:rPr sz="1050" b="0" i="0">
                <a:solidFill>
                  <a:srgbClr val="5B6778"/>
                </a:solidFill>
                <a:latin typeface="Calibri"/>
              </a:rPr>
              <a:t>hub, spoke and provider config</a:t>
            </a:r>
          </a:p>
        </p:txBody>
      </p:sp>
      <p:sp>
        <p:nvSpPr>
          <p:cNvPr id="26" name="Rounded Rectangle 25"/>
          <p:cNvSpPr/>
          <p:nvPr/>
        </p:nvSpPr>
        <p:spPr>
          <a:xfrm>
            <a:off x="6949440" y="4343400"/>
            <a:ext cx="2148840" cy="91440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22592" y="4434840"/>
            <a:ext cx="2002536" cy="320040"/>
          </a:xfrm>
          <a:prstGeom prst="rect">
            <a:avLst/>
          </a:prstGeom>
          <a:noFill/>
        </p:spPr>
        <p:txBody>
          <a:bodyPr wrap="square" lIns="36576" rIns="36576" tIns="18288" bIns="18288" anchor="t">
            <a:spAutoFit/>
          </a:bodyPr>
          <a:lstStyle/>
          <a:p>
            <a:pPr algn="ctr"/>
            <a:r>
              <a:rPr sz="1350" b="1" i="0">
                <a:solidFill>
                  <a:srgbClr val="0B1B2E"/>
                </a:solidFill>
                <a:latin typeface="Calibri"/>
              </a:rPr>
              <a:t>Nautobot</a:t>
            </a:r>
          </a:p>
        </p:txBody>
      </p:sp>
      <p:sp>
        <p:nvSpPr>
          <p:cNvPr id="28" name="TextBox 27"/>
          <p:cNvSpPr txBox="1"/>
          <p:nvPr/>
        </p:nvSpPr>
        <p:spPr>
          <a:xfrm>
            <a:off x="7022592" y="4745736"/>
            <a:ext cx="2002536" cy="457200"/>
          </a:xfrm>
          <a:prstGeom prst="rect">
            <a:avLst/>
          </a:prstGeom>
          <a:noFill/>
        </p:spPr>
        <p:txBody>
          <a:bodyPr wrap="square" lIns="36576" rIns="36576" tIns="18288" bIns="18288" anchor="t">
            <a:spAutoFit/>
          </a:bodyPr>
          <a:lstStyle/>
          <a:p>
            <a:pPr algn="ctr"/>
            <a:r>
              <a:rPr sz="1050" b="0" i="0">
                <a:solidFill>
                  <a:srgbClr val="5B6778"/>
                </a:solidFill>
                <a:latin typeface="Calibri"/>
              </a:rPr>
              <a:t>mirrors the model</a:t>
            </a:r>
          </a:p>
        </p:txBody>
      </p:sp>
      <p:cxnSp>
        <p:nvCxnSpPr>
          <p:cNvPr id="29" name="Connector 28"/>
          <p:cNvCxnSpPr/>
          <p:nvPr/>
        </p:nvCxnSpPr>
        <p:spPr>
          <a:xfrm flipV="1">
            <a:off x="6126480" y="2240280"/>
            <a:ext cx="822960" cy="685800"/>
          </a:xfrm>
          <a:prstGeom prst="line">
            <a:avLst/>
          </a:prstGeom>
          <a:ln w="1905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023860" y="2697480"/>
            <a:ext cx="0" cy="365760"/>
          </a:xfrm>
          <a:prstGeom prst="line">
            <a:avLst/>
          </a:prstGeom>
          <a:ln w="1905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126480" y="3931920"/>
            <a:ext cx="822960" cy="822960"/>
          </a:xfrm>
          <a:prstGeom prst="line">
            <a:avLst/>
          </a:prstGeom>
          <a:ln w="1905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92640" y="1417320"/>
            <a:ext cx="2103120" cy="96012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65792" y="1508760"/>
            <a:ext cx="1956815" cy="320040"/>
          </a:xfrm>
          <a:prstGeom prst="rect">
            <a:avLst/>
          </a:prstGeom>
          <a:noFill/>
        </p:spPr>
        <p:txBody>
          <a:bodyPr wrap="square" lIns="36576" rIns="36576" tIns="18288" bIns="18288" anchor="t">
            <a:spAutoFit/>
          </a:bodyPr>
          <a:lstStyle/>
          <a:p>
            <a:pPr algn="ctr"/>
            <a:r>
              <a:rPr sz="1350" b="1" i="0">
                <a:solidFill>
                  <a:srgbClr val="0B1B2E"/>
                </a:solidFill>
                <a:latin typeface="Calibri"/>
              </a:rPr>
              <a:t>Catalyst 8000v</a:t>
            </a:r>
          </a:p>
        </p:txBody>
      </p:sp>
      <p:sp>
        <p:nvSpPr>
          <p:cNvPr id="34" name="TextBox 33"/>
          <p:cNvSpPr txBox="1"/>
          <p:nvPr/>
        </p:nvSpPr>
        <p:spPr>
          <a:xfrm>
            <a:off x="9765792" y="1819656"/>
            <a:ext cx="1956815" cy="502920"/>
          </a:xfrm>
          <a:prstGeom prst="rect">
            <a:avLst/>
          </a:prstGeom>
          <a:noFill/>
        </p:spPr>
        <p:txBody>
          <a:bodyPr wrap="square" lIns="36576" rIns="36576" tIns="18288" bIns="18288" anchor="t">
            <a:spAutoFit/>
          </a:bodyPr>
          <a:lstStyle/>
          <a:p>
            <a:pPr algn="ctr"/>
            <a:r>
              <a:rPr sz="1050" b="0" i="0">
                <a:solidFill>
                  <a:srgbClr val="5B6778"/>
                </a:solidFill>
                <a:latin typeface="Calibri"/>
              </a:rPr>
              <a:t>Terraform (NAC) → RESTCONF</a:t>
            </a:r>
          </a:p>
        </p:txBody>
      </p:sp>
      <p:sp>
        <p:nvSpPr>
          <p:cNvPr id="35" name="Rounded Rectangle 34"/>
          <p:cNvSpPr/>
          <p:nvPr/>
        </p:nvSpPr>
        <p:spPr>
          <a:xfrm>
            <a:off x="9692640" y="2697480"/>
            <a:ext cx="2103120" cy="96012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765792" y="2788920"/>
            <a:ext cx="1956815" cy="320040"/>
          </a:xfrm>
          <a:prstGeom prst="rect">
            <a:avLst/>
          </a:prstGeom>
          <a:noFill/>
        </p:spPr>
        <p:txBody>
          <a:bodyPr wrap="square" lIns="36576" rIns="36576" tIns="18288" bIns="18288" anchor="t">
            <a:spAutoFit/>
          </a:bodyPr>
          <a:lstStyle/>
          <a:p>
            <a:pPr algn="ctr"/>
            <a:r>
              <a:rPr sz="1350" b="1" i="0">
                <a:solidFill>
                  <a:srgbClr val="0B1B2E"/>
                </a:solidFill>
                <a:latin typeface="Calibri"/>
              </a:rPr>
              <a:t>VyOS</a:t>
            </a:r>
          </a:p>
        </p:txBody>
      </p:sp>
      <p:sp>
        <p:nvSpPr>
          <p:cNvPr id="37" name="TextBox 36"/>
          <p:cNvSpPr txBox="1"/>
          <p:nvPr/>
        </p:nvSpPr>
        <p:spPr>
          <a:xfrm>
            <a:off x="9765792" y="3099816"/>
            <a:ext cx="1956815" cy="502920"/>
          </a:xfrm>
          <a:prstGeom prst="rect">
            <a:avLst/>
          </a:prstGeom>
          <a:noFill/>
        </p:spPr>
        <p:txBody>
          <a:bodyPr wrap="square" lIns="36576" rIns="36576" tIns="18288" bIns="18288" anchor="t">
            <a:spAutoFit/>
          </a:bodyPr>
          <a:lstStyle/>
          <a:p>
            <a:pPr algn="ctr"/>
            <a:r>
              <a:rPr sz="1050" b="0" i="0">
                <a:solidFill>
                  <a:srgbClr val="5B6778"/>
                </a:solidFill>
                <a:latin typeface="Calibri"/>
              </a:rPr>
              <a:t>SSH push, declarative</a:t>
            </a:r>
          </a:p>
        </p:txBody>
      </p:sp>
      <p:sp>
        <p:nvSpPr>
          <p:cNvPr id="38" name="Rounded Rectangle 37"/>
          <p:cNvSpPr/>
          <p:nvPr/>
        </p:nvSpPr>
        <p:spPr>
          <a:xfrm>
            <a:off x="9692640" y="3977639"/>
            <a:ext cx="2103120" cy="96012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765792" y="4069079"/>
            <a:ext cx="1956815" cy="320040"/>
          </a:xfrm>
          <a:prstGeom prst="rect">
            <a:avLst/>
          </a:prstGeom>
          <a:noFill/>
        </p:spPr>
        <p:txBody>
          <a:bodyPr wrap="square" lIns="36576" rIns="36576" tIns="18288" bIns="18288" anchor="t">
            <a:spAutoFit/>
          </a:bodyPr>
          <a:lstStyle/>
          <a:p>
            <a:pPr algn="ctr"/>
            <a:r>
              <a:rPr sz="1350" b="1" i="0">
                <a:solidFill>
                  <a:srgbClr val="0B1B2E"/>
                </a:solidFill>
                <a:latin typeface="Calibri"/>
              </a:rPr>
              <a:t>Providers</a:t>
            </a:r>
          </a:p>
        </p:txBody>
      </p:sp>
      <p:sp>
        <p:nvSpPr>
          <p:cNvPr id="40" name="TextBox 39"/>
          <p:cNvSpPr txBox="1"/>
          <p:nvPr/>
        </p:nvSpPr>
        <p:spPr>
          <a:xfrm>
            <a:off x="9765792" y="4379976"/>
            <a:ext cx="1956815" cy="502920"/>
          </a:xfrm>
          <a:prstGeom prst="rect">
            <a:avLst/>
          </a:prstGeom>
          <a:noFill/>
        </p:spPr>
        <p:txBody>
          <a:bodyPr wrap="square" lIns="36576" rIns="36576" tIns="18288" bIns="18288" anchor="t">
            <a:spAutoFit/>
          </a:bodyPr>
          <a:lstStyle/>
          <a:p>
            <a:pPr algn="ctr"/>
            <a:r>
              <a:rPr sz="1050" b="0" i="0">
                <a:solidFill>
                  <a:srgbClr val="5B6778"/>
                </a:solidFill>
                <a:latin typeface="Calibri"/>
              </a:rPr>
              <a:t>mpls and mpls2 (VyOS)</a:t>
            </a:r>
          </a:p>
        </p:txBody>
      </p:sp>
      <p:sp>
        <p:nvSpPr>
          <p:cNvPr id="41" name="Rounded Rectangle 40"/>
          <p:cNvSpPr/>
          <p:nvPr/>
        </p:nvSpPr>
        <p:spPr>
          <a:xfrm>
            <a:off x="9692640" y="5257800"/>
            <a:ext cx="2103120" cy="82296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765792" y="5349240"/>
            <a:ext cx="1956815" cy="320040"/>
          </a:xfrm>
          <a:prstGeom prst="rect">
            <a:avLst/>
          </a:prstGeom>
          <a:noFill/>
        </p:spPr>
        <p:txBody>
          <a:bodyPr wrap="square" lIns="36576" rIns="36576" tIns="18288" bIns="18288" anchor="t">
            <a:spAutoFit/>
          </a:bodyPr>
          <a:lstStyle/>
          <a:p>
            <a:pPr algn="ctr"/>
            <a:r>
              <a:rPr sz="1350" b="1" i="0">
                <a:solidFill>
                  <a:srgbClr val="0B1B2E"/>
                </a:solidFill>
                <a:latin typeface="Calibri"/>
              </a:rPr>
              <a:t>VictoriaMetrics</a:t>
            </a:r>
          </a:p>
        </p:txBody>
      </p:sp>
      <p:sp>
        <p:nvSpPr>
          <p:cNvPr id="43" name="TextBox 42"/>
          <p:cNvSpPr txBox="1"/>
          <p:nvPr/>
        </p:nvSpPr>
        <p:spPr>
          <a:xfrm>
            <a:off x="9765792" y="5660136"/>
            <a:ext cx="1956815" cy="365760"/>
          </a:xfrm>
          <a:prstGeom prst="rect">
            <a:avLst/>
          </a:prstGeom>
          <a:noFill/>
        </p:spPr>
        <p:txBody>
          <a:bodyPr wrap="square" lIns="36576" rIns="36576" tIns="18288" bIns="18288" anchor="t">
            <a:spAutoFit/>
          </a:bodyPr>
          <a:lstStyle/>
          <a:p>
            <a:pPr algn="ctr"/>
            <a:r>
              <a:rPr sz="1050" b="0" i="0">
                <a:solidFill>
                  <a:srgbClr val="5B6778"/>
                </a:solidFill>
                <a:latin typeface="Calibri"/>
              </a:rPr>
              <a:t>SLA and application probes</a:t>
            </a:r>
          </a:p>
        </p:txBody>
      </p:sp>
      <p:cxnSp>
        <p:nvCxnSpPr>
          <p:cNvPr id="44" name="Connector 43"/>
          <p:cNvCxnSpPr/>
          <p:nvPr/>
        </p:nvCxnSpPr>
        <p:spPr>
          <a:xfrm flipV="1">
            <a:off x="9098280" y="1920240"/>
            <a:ext cx="594360" cy="1508760"/>
          </a:xfrm>
          <a:prstGeom prst="line">
            <a:avLst/>
          </a:prstGeom>
          <a:ln w="1905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098280" y="3154680"/>
            <a:ext cx="594360" cy="365760"/>
          </a:xfrm>
          <a:prstGeom prst="line">
            <a:avLst/>
          </a:prstGeom>
          <a:ln w="1905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9098280" y="3611880"/>
            <a:ext cx="594360" cy="822960"/>
          </a:xfrm>
          <a:prstGeom prst="line">
            <a:avLst/>
          </a:prstGeom>
          <a:ln w="1905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26480" y="4480560"/>
            <a:ext cx="3566160" cy="1188720"/>
          </a:xfrm>
          <a:prstGeom prst="line">
            <a:avLst/>
          </a:prstGeom>
          <a:ln w="1905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766560" y="5669280"/>
            <a:ext cx="2011680" cy="274320"/>
          </a:xfrm>
          <a:prstGeom prst="rect">
            <a:avLst/>
          </a:prstGeom>
          <a:noFill/>
        </p:spPr>
        <p:txBody>
          <a:bodyPr wrap="square" lIns="36576" rIns="36576" tIns="18288" bIns="18288" anchor="t">
            <a:spAutoFit/>
          </a:bodyPr>
          <a:lstStyle/>
          <a:p>
            <a:pPr algn="l"/>
            <a:r>
              <a:rPr sz="950" b="0" i="0">
                <a:solidFill>
                  <a:srgbClr val="5B6778"/>
                </a:solidFill>
                <a:latin typeface="Calibri"/>
              </a:rPr>
              <a:t>every minute: pings, app checks</a:t>
            </a:r>
          </a:p>
        </p:txBody>
      </p:sp>
      <p:sp>
        <p:nvSpPr>
          <p:cNvPr id="49" name="TextBox 48"/>
          <p:cNvSpPr txBox="1"/>
          <p:nvPr/>
        </p:nvSpPr>
        <p:spPr>
          <a:xfrm>
            <a:off x="457200" y="5440680"/>
            <a:ext cx="5760720" cy="822960"/>
          </a:xfrm>
          <a:prstGeom prst="rect">
            <a:avLst/>
          </a:prstGeom>
          <a:noFill/>
        </p:spPr>
        <p:txBody>
          <a:bodyPr wrap="square" lIns="36576" rIns="36576" tIns="18288" bIns="18288" anchor="t">
            <a:spAutoFit/>
          </a:bodyPr>
          <a:lstStyle/>
          <a:p>
            <a:pPr algn="l"/>
            <a:r>
              <a:rPr sz="1150" b="1" i="0">
                <a:solidFill>
                  <a:srgbClr val="0E7490"/>
                </a:solidFill>
                <a:latin typeface="Calibri"/>
              </a:rPr>
              <a:t>Read path: </a:t>
            </a:r>
            <a:r>
              <a:rPr sz="1150" b="0" i="0">
                <a:solidFill>
                  <a:srgbClr val="1F2937"/>
                </a:solidFill>
                <a:latin typeface="Calibri"/>
              </a:rPr>
              <a:t>the portal polls every router (RESTCONF, CLI, VyOS op mode) and draws what is really there, not what should be.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WHAT YOU CAN DO</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Capabilities at a glance</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ounded Rectangle 7"/>
          <p:cNvSpPr/>
          <p:nvPr/>
        </p:nvSpPr>
        <p:spPr>
          <a:xfrm>
            <a:off x="411480" y="1188720"/>
            <a:ext cx="2743200" cy="2487168"/>
          </a:xfrm>
          <a:prstGeom prst="roundRect">
            <a:avLst>
              <a:gd name="adj" fmla="val 5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12648" y="1408176"/>
            <a:ext cx="457200" cy="45720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1</a:t>
            </a:r>
          </a:p>
        </p:txBody>
      </p:sp>
      <p:sp>
        <p:nvSpPr>
          <p:cNvPr id="10" name="TextBox 9"/>
          <p:cNvSpPr txBox="1"/>
          <p:nvPr/>
        </p:nvSpPr>
        <p:spPr>
          <a:xfrm>
            <a:off x="1197864" y="1463040"/>
            <a:ext cx="1828800" cy="365760"/>
          </a:xfrm>
          <a:prstGeom prst="rect">
            <a:avLst/>
          </a:prstGeom>
          <a:noFill/>
        </p:spPr>
        <p:txBody>
          <a:bodyPr wrap="square" lIns="36576" rIns="36576" tIns="18288" bIns="18288" anchor="t">
            <a:spAutoFit/>
          </a:bodyPr>
          <a:lstStyle/>
          <a:p>
            <a:pPr algn="l"/>
            <a:r>
              <a:rPr sz="1800" b="1" i="0">
                <a:solidFill>
                  <a:srgbClr val="0B1B2E"/>
                </a:solidFill>
                <a:latin typeface="Calibri"/>
              </a:rPr>
              <a:t>See</a:t>
            </a:r>
          </a:p>
        </p:txBody>
      </p:sp>
      <p:sp>
        <p:nvSpPr>
          <p:cNvPr id="11" name="TextBox 10"/>
          <p:cNvSpPr txBox="1"/>
          <p:nvPr/>
        </p:nvSpPr>
        <p:spPr>
          <a:xfrm>
            <a:off x="612648" y="2029968"/>
            <a:ext cx="2377440" cy="1572768"/>
          </a:xfrm>
          <a:prstGeom prst="rect">
            <a:avLst/>
          </a:prstGeom>
          <a:noFill/>
        </p:spPr>
        <p:txBody>
          <a:bodyPr wrap="square" lIns="36576" rIns="36576" tIns="18288" bIns="18288" anchor="t">
            <a:spAutoFit/>
          </a:bodyPr>
          <a:lstStyle/>
          <a:p>
            <a:pPr algn="l"/>
            <a:r>
              <a:rPr sz="1250" b="0" i="0">
                <a:solidFill>
                  <a:srgbClr val="1F2937"/>
                </a:solidFill>
                <a:latin typeface="Calibri"/>
              </a:rPr>
              <a:t>Live cloud table and KPIs, a topology map drawn from live state, per-customer details, path trace and 'watch the shortcut form'.</a:t>
            </a:r>
          </a:p>
        </p:txBody>
      </p:sp>
      <p:sp>
        <p:nvSpPr>
          <p:cNvPr id="12" name="Rounded Rectangle 11"/>
          <p:cNvSpPr/>
          <p:nvPr/>
        </p:nvSpPr>
        <p:spPr>
          <a:xfrm>
            <a:off x="3264408" y="1188720"/>
            <a:ext cx="2743200" cy="2487168"/>
          </a:xfrm>
          <a:prstGeom prst="roundRect">
            <a:avLst>
              <a:gd name="adj" fmla="val 5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65576" y="1408176"/>
            <a:ext cx="457200" cy="45720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2</a:t>
            </a:r>
          </a:p>
        </p:txBody>
      </p:sp>
      <p:sp>
        <p:nvSpPr>
          <p:cNvPr id="14" name="TextBox 13"/>
          <p:cNvSpPr txBox="1"/>
          <p:nvPr/>
        </p:nvSpPr>
        <p:spPr>
          <a:xfrm>
            <a:off x="4050792" y="1463040"/>
            <a:ext cx="1828800" cy="365760"/>
          </a:xfrm>
          <a:prstGeom prst="rect">
            <a:avLst/>
          </a:prstGeom>
          <a:noFill/>
        </p:spPr>
        <p:txBody>
          <a:bodyPr wrap="square" lIns="36576" rIns="36576" tIns="18288" bIns="18288" anchor="t">
            <a:spAutoFit/>
          </a:bodyPr>
          <a:lstStyle/>
          <a:p>
            <a:pPr algn="l"/>
            <a:r>
              <a:rPr sz="1800" b="1" i="0">
                <a:solidFill>
                  <a:srgbClr val="0B1B2E"/>
                </a:solidFill>
                <a:latin typeface="Calibri"/>
              </a:rPr>
              <a:t>Change</a:t>
            </a:r>
          </a:p>
        </p:txBody>
      </p:sp>
      <p:sp>
        <p:nvSpPr>
          <p:cNvPr id="15" name="TextBox 14"/>
          <p:cNvSpPr txBox="1"/>
          <p:nvPr/>
        </p:nvSpPr>
        <p:spPr>
          <a:xfrm>
            <a:off x="3465576" y="2029968"/>
            <a:ext cx="2377440" cy="1572768"/>
          </a:xfrm>
          <a:prstGeom prst="rect">
            <a:avLst/>
          </a:prstGeom>
          <a:noFill/>
        </p:spPr>
        <p:txBody>
          <a:bodyPr wrap="square" lIns="36576" rIns="36576" tIns="18288" bIns="18288" anchor="t">
            <a:spAutoFit/>
          </a:bodyPr>
          <a:lstStyle/>
          <a:p>
            <a:pPr algn="l"/>
            <a:r>
              <a:rPr sz="1250" b="0" i="0">
                <a:solidFill>
                  <a:srgbClr val="1F2937"/>
                </a:solidFill>
                <a:latin typeface="Calibri"/>
              </a:rPr>
              <a:t>Add, modify and remove customers, deploy the model, fix drift, back up and restore, choose the preferred hub or add a second provider.</a:t>
            </a:r>
          </a:p>
        </p:txBody>
      </p:sp>
      <p:sp>
        <p:nvSpPr>
          <p:cNvPr id="16" name="Rounded Rectangle 15"/>
          <p:cNvSpPr/>
          <p:nvPr/>
        </p:nvSpPr>
        <p:spPr>
          <a:xfrm>
            <a:off x="6117336" y="1188720"/>
            <a:ext cx="2743200" cy="2487168"/>
          </a:xfrm>
          <a:prstGeom prst="roundRect">
            <a:avLst>
              <a:gd name="adj" fmla="val 5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318504" y="1408176"/>
            <a:ext cx="457200" cy="45720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3</a:t>
            </a:r>
          </a:p>
        </p:txBody>
      </p:sp>
      <p:sp>
        <p:nvSpPr>
          <p:cNvPr id="18" name="TextBox 17"/>
          <p:cNvSpPr txBox="1"/>
          <p:nvPr/>
        </p:nvSpPr>
        <p:spPr>
          <a:xfrm>
            <a:off x="6903720" y="1463040"/>
            <a:ext cx="1828800" cy="365760"/>
          </a:xfrm>
          <a:prstGeom prst="rect">
            <a:avLst/>
          </a:prstGeom>
          <a:noFill/>
        </p:spPr>
        <p:txBody>
          <a:bodyPr wrap="square" lIns="36576" rIns="36576" tIns="18288" bIns="18288" anchor="t">
            <a:spAutoFit/>
          </a:bodyPr>
          <a:lstStyle/>
          <a:p>
            <a:pPr algn="l"/>
            <a:r>
              <a:rPr sz="1800" b="1" i="0">
                <a:solidFill>
                  <a:srgbClr val="0B1B2E"/>
                </a:solidFill>
                <a:latin typeface="Calibri"/>
              </a:rPr>
              <a:t>Control</a:t>
            </a:r>
          </a:p>
        </p:txBody>
      </p:sp>
      <p:sp>
        <p:nvSpPr>
          <p:cNvPr id="19" name="TextBox 18"/>
          <p:cNvSpPr txBox="1"/>
          <p:nvPr/>
        </p:nvSpPr>
        <p:spPr>
          <a:xfrm>
            <a:off x="6318504" y="2029968"/>
            <a:ext cx="2377440" cy="1572768"/>
          </a:xfrm>
          <a:prstGeom prst="rect">
            <a:avLst/>
          </a:prstGeom>
          <a:noFill/>
        </p:spPr>
        <p:txBody>
          <a:bodyPr wrap="square" lIns="36576" rIns="36576" tIns="18288" bIns="18288" anchor="t">
            <a:spAutoFit/>
          </a:bodyPr>
          <a:lstStyle/>
          <a:p>
            <a:pPr algn="l"/>
            <a:r>
              <a:rPr sz="1250" b="0" i="0">
                <a:solidFill>
                  <a:srgbClr val="1F2937"/>
                </a:solidFill>
                <a:latin typeface="Calibri"/>
              </a:rPr>
              <a:t>Change requests with four-eyes approval, change windows, emergency changes, and maintenance mode that mutes alerts.</a:t>
            </a:r>
          </a:p>
        </p:txBody>
      </p:sp>
      <p:sp>
        <p:nvSpPr>
          <p:cNvPr id="20" name="Rounded Rectangle 19"/>
          <p:cNvSpPr/>
          <p:nvPr/>
        </p:nvSpPr>
        <p:spPr>
          <a:xfrm>
            <a:off x="8970263" y="1188720"/>
            <a:ext cx="2743200" cy="2487168"/>
          </a:xfrm>
          <a:prstGeom prst="roundRect">
            <a:avLst>
              <a:gd name="adj" fmla="val 5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171432" y="1408176"/>
            <a:ext cx="457200" cy="45720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4</a:t>
            </a:r>
          </a:p>
        </p:txBody>
      </p:sp>
      <p:sp>
        <p:nvSpPr>
          <p:cNvPr id="22" name="TextBox 21"/>
          <p:cNvSpPr txBox="1"/>
          <p:nvPr/>
        </p:nvSpPr>
        <p:spPr>
          <a:xfrm>
            <a:off x="9756647" y="1463040"/>
            <a:ext cx="1828800" cy="365760"/>
          </a:xfrm>
          <a:prstGeom prst="rect">
            <a:avLst/>
          </a:prstGeom>
          <a:noFill/>
        </p:spPr>
        <p:txBody>
          <a:bodyPr wrap="square" lIns="36576" rIns="36576" tIns="18288" bIns="18288" anchor="t">
            <a:spAutoFit/>
          </a:bodyPr>
          <a:lstStyle/>
          <a:p>
            <a:pPr algn="l"/>
            <a:r>
              <a:rPr sz="1800" b="1" i="0">
                <a:solidFill>
                  <a:srgbClr val="0B1B2E"/>
                </a:solidFill>
                <a:latin typeface="Calibri"/>
              </a:rPr>
              <a:t>Audit</a:t>
            </a:r>
          </a:p>
        </p:txBody>
      </p:sp>
      <p:sp>
        <p:nvSpPr>
          <p:cNvPr id="23" name="TextBox 22"/>
          <p:cNvSpPr txBox="1"/>
          <p:nvPr/>
        </p:nvSpPr>
        <p:spPr>
          <a:xfrm>
            <a:off x="9171432" y="2029968"/>
            <a:ext cx="2377440" cy="1572768"/>
          </a:xfrm>
          <a:prstGeom prst="rect">
            <a:avLst/>
          </a:prstGeom>
          <a:noFill/>
        </p:spPr>
        <p:txBody>
          <a:bodyPr wrap="square" lIns="36576" rIns="36576" tIns="18288" bIns="18288" anchor="t">
            <a:spAutoFit/>
          </a:bodyPr>
          <a:lstStyle/>
          <a:p>
            <a:pPr algn="l"/>
            <a:r>
              <a:rPr sz="1250" b="0" i="0">
                <a:solidFill>
                  <a:srgbClr val="1F2937"/>
                </a:solidFill>
                <a:latin typeface="Calibri"/>
              </a:rPr>
              <a:t>Every job snapshots every router before and after it runs, records who asked and who approved, and shows a diff per router.</a:t>
            </a:r>
          </a:p>
        </p:txBody>
      </p:sp>
      <p:sp>
        <p:nvSpPr>
          <p:cNvPr id="24" name="Rounded Rectangle 23"/>
          <p:cNvSpPr/>
          <p:nvPr/>
        </p:nvSpPr>
        <p:spPr>
          <a:xfrm>
            <a:off x="411480" y="3803904"/>
            <a:ext cx="2743200" cy="2487168"/>
          </a:xfrm>
          <a:prstGeom prst="roundRect">
            <a:avLst>
              <a:gd name="adj" fmla="val 5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12648" y="4023360"/>
            <a:ext cx="457200" cy="45720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5</a:t>
            </a:r>
          </a:p>
        </p:txBody>
      </p:sp>
      <p:sp>
        <p:nvSpPr>
          <p:cNvPr id="26" name="TextBox 25"/>
          <p:cNvSpPr txBox="1"/>
          <p:nvPr/>
        </p:nvSpPr>
        <p:spPr>
          <a:xfrm>
            <a:off x="1197864" y="4078224"/>
            <a:ext cx="1828800" cy="365760"/>
          </a:xfrm>
          <a:prstGeom prst="rect">
            <a:avLst/>
          </a:prstGeom>
          <a:noFill/>
        </p:spPr>
        <p:txBody>
          <a:bodyPr wrap="square" lIns="36576" rIns="36576" tIns="18288" bIns="18288" anchor="t">
            <a:spAutoFit/>
          </a:bodyPr>
          <a:lstStyle/>
          <a:p>
            <a:pPr algn="l"/>
            <a:r>
              <a:rPr sz="1800" b="1" i="0">
                <a:solidFill>
                  <a:srgbClr val="0B1B2E"/>
                </a:solidFill>
                <a:latin typeface="Calibri"/>
              </a:rPr>
              <a:t>Prove</a:t>
            </a:r>
          </a:p>
        </p:txBody>
      </p:sp>
      <p:sp>
        <p:nvSpPr>
          <p:cNvPr id="27" name="TextBox 26"/>
          <p:cNvSpPr txBox="1"/>
          <p:nvPr/>
        </p:nvSpPr>
        <p:spPr>
          <a:xfrm>
            <a:off x="612648" y="4645152"/>
            <a:ext cx="2377440" cy="1572768"/>
          </a:xfrm>
          <a:prstGeom prst="rect">
            <a:avLst/>
          </a:prstGeom>
          <a:noFill/>
        </p:spPr>
        <p:txBody>
          <a:bodyPr wrap="square" lIns="36576" rIns="36576" tIns="18288" bIns="18288" anchor="t">
            <a:spAutoFit/>
          </a:bodyPr>
          <a:lstStyle/>
          <a:p>
            <a:pPr algn="l"/>
            <a:r>
              <a:rPr sz="1250" b="0" i="0">
                <a:solidFill>
                  <a:srgbClr val="1F2937"/>
                </a:solidFill>
                <a:latin typeface="Calibri"/>
              </a:rPr>
              <a:t>SLA per customer, application checks, failure simulation with measured failover times, and capacity: hub load and room to grow.</a:t>
            </a:r>
          </a:p>
        </p:txBody>
      </p:sp>
      <p:sp>
        <p:nvSpPr>
          <p:cNvPr id="28" name="Rounded Rectangle 27"/>
          <p:cNvSpPr/>
          <p:nvPr/>
        </p:nvSpPr>
        <p:spPr>
          <a:xfrm>
            <a:off x="3264408" y="3803904"/>
            <a:ext cx="2743200" cy="2487168"/>
          </a:xfrm>
          <a:prstGeom prst="roundRect">
            <a:avLst>
              <a:gd name="adj" fmla="val 5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465576" y="4023360"/>
            <a:ext cx="457200" cy="45720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6</a:t>
            </a:r>
          </a:p>
        </p:txBody>
      </p:sp>
      <p:sp>
        <p:nvSpPr>
          <p:cNvPr id="30" name="TextBox 29"/>
          <p:cNvSpPr txBox="1"/>
          <p:nvPr/>
        </p:nvSpPr>
        <p:spPr>
          <a:xfrm>
            <a:off x="4050792" y="4078224"/>
            <a:ext cx="1828800" cy="365760"/>
          </a:xfrm>
          <a:prstGeom prst="rect">
            <a:avLst/>
          </a:prstGeom>
          <a:noFill/>
        </p:spPr>
        <p:txBody>
          <a:bodyPr wrap="square" lIns="36576" rIns="36576" tIns="18288" bIns="18288" anchor="t">
            <a:spAutoFit/>
          </a:bodyPr>
          <a:lstStyle/>
          <a:p>
            <a:pPr algn="l"/>
            <a:r>
              <a:rPr sz="1800" b="1" i="0">
                <a:solidFill>
                  <a:srgbClr val="0B1B2E"/>
                </a:solidFill>
                <a:latin typeface="Calibri"/>
              </a:rPr>
              <a:t>Secure</a:t>
            </a:r>
          </a:p>
        </p:txBody>
      </p:sp>
      <p:sp>
        <p:nvSpPr>
          <p:cNvPr id="31" name="TextBox 30"/>
          <p:cNvSpPr txBox="1"/>
          <p:nvPr/>
        </p:nvSpPr>
        <p:spPr>
          <a:xfrm>
            <a:off x="3465576" y="4645152"/>
            <a:ext cx="2377440" cy="1572768"/>
          </a:xfrm>
          <a:prstGeom prst="rect">
            <a:avLst/>
          </a:prstGeom>
          <a:noFill/>
        </p:spPr>
        <p:txBody>
          <a:bodyPr wrap="square" lIns="36576" rIns="36576" tIns="18288" bIns="18288" anchor="t">
            <a:spAutoFit/>
          </a:bodyPr>
          <a:lstStyle/>
          <a:p>
            <a:pPr algn="l"/>
            <a:r>
              <a:rPr sz="1250" b="0" i="0">
                <a:solidFill>
                  <a:srgbClr val="1F2937"/>
                </a:solidFill>
                <a:latin typeface="Calibri"/>
              </a:rPr>
              <a:t>Sign-in with roles, admin-only pre-shared key rotation with a random key, and secrets masked in every view and log.</a:t>
            </a:r>
          </a:p>
        </p:txBody>
      </p:sp>
      <p:sp>
        <p:nvSpPr>
          <p:cNvPr id="32" name="Rounded Rectangle 31"/>
          <p:cNvSpPr/>
          <p:nvPr/>
        </p:nvSpPr>
        <p:spPr>
          <a:xfrm>
            <a:off x="6117336" y="3803904"/>
            <a:ext cx="2743200" cy="2487168"/>
          </a:xfrm>
          <a:prstGeom prst="roundRect">
            <a:avLst>
              <a:gd name="adj" fmla="val 5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18504" y="4023360"/>
            <a:ext cx="457200" cy="45720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7</a:t>
            </a:r>
          </a:p>
        </p:txBody>
      </p:sp>
      <p:sp>
        <p:nvSpPr>
          <p:cNvPr id="34" name="TextBox 33"/>
          <p:cNvSpPr txBox="1"/>
          <p:nvPr/>
        </p:nvSpPr>
        <p:spPr>
          <a:xfrm>
            <a:off x="6903720" y="4078224"/>
            <a:ext cx="1828800" cy="365760"/>
          </a:xfrm>
          <a:prstGeom prst="rect">
            <a:avLst/>
          </a:prstGeom>
          <a:noFill/>
        </p:spPr>
        <p:txBody>
          <a:bodyPr wrap="square" lIns="36576" rIns="36576" tIns="18288" bIns="18288" anchor="t">
            <a:spAutoFit/>
          </a:bodyPr>
          <a:lstStyle/>
          <a:p>
            <a:pPr algn="l"/>
            <a:r>
              <a:rPr sz="1800" b="1" i="0">
                <a:solidFill>
                  <a:srgbClr val="0B1B2E"/>
                </a:solidFill>
                <a:latin typeface="Calibri"/>
              </a:rPr>
              <a:t>Customers</a:t>
            </a:r>
          </a:p>
        </p:txBody>
      </p:sp>
      <p:sp>
        <p:nvSpPr>
          <p:cNvPr id="35" name="TextBox 34"/>
          <p:cNvSpPr txBox="1"/>
          <p:nvPr/>
        </p:nvSpPr>
        <p:spPr>
          <a:xfrm>
            <a:off x="6318504" y="4645152"/>
            <a:ext cx="2377440" cy="1572768"/>
          </a:xfrm>
          <a:prstGeom prst="rect">
            <a:avLst/>
          </a:prstGeom>
          <a:noFill/>
        </p:spPr>
        <p:txBody>
          <a:bodyPr wrap="square" lIns="36576" rIns="36576" tIns="18288" bIns="18288" anchor="t">
            <a:spAutoFit/>
          </a:bodyPr>
          <a:lstStyle/>
          <a:p>
            <a:pPr algn="l"/>
            <a:r>
              <a:rPr sz="1250" b="0" i="0">
                <a:solidFill>
                  <a:srgbClr val="1F2937"/>
                </a:solidFill>
                <a:latin typeface="Calibri"/>
              </a:rPr>
              <a:t>A read-only customer portal: its own site and applications, SLA and PDF report, change requests and self-service tests.</a:t>
            </a:r>
          </a:p>
        </p:txBody>
      </p:sp>
      <p:sp>
        <p:nvSpPr>
          <p:cNvPr id="36" name="Rounded Rectangle 35"/>
          <p:cNvSpPr/>
          <p:nvPr/>
        </p:nvSpPr>
        <p:spPr>
          <a:xfrm>
            <a:off x="8970263" y="3803904"/>
            <a:ext cx="2743200" cy="2487168"/>
          </a:xfrm>
          <a:prstGeom prst="roundRect">
            <a:avLst>
              <a:gd name="adj" fmla="val 5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9171432" y="4023360"/>
            <a:ext cx="457200" cy="45720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8</a:t>
            </a:r>
          </a:p>
        </p:txBody>
      </p:sp>
      <p:sp>
        <p:nvSpPr>
          <p:cNvPr id="38" name="TextBox 37"/>
          <p:cNvSpPr txBox="1"/>
          <p:nvPr/>
        </p:nvSpPr>
        <p:spPr>
          <a:xfrm>
            <a:off x="9756647" y="4078224"/>
            <a:ext cx="1828800" cy="365760"/>
          </a:xfrm>
          <a:prstGeom prst="rect">
            <a:avLst/>
          </a:prstGeom>
          <a:noFill/>
        </p:spPr>
        <p:txBody>
          <a:bodyPr wrap="square" lIns="36576" rIns="36576" tIns="18288" bIns="18288" anchor="t">
            <a:spAutoFit/>
          </a:bodyPr>
          <a:lstStyle/>
          <a:p>
            <a:pPr algn="l"/>
            <a:r>
              <a:rPr sz="1800" b="1" i="0">
                <a:solidFill>
                  <a:srgbClr val="0B1B2E"/>
                </a:solidFill>
                <a:latin typeface="Calibri"/>
              </a:rPr>
              <a:t>Automate</a:t>
            </a:r>
          </a:p>
        </p:txBody>
      </p:sp>
      <p:sp>
        <p:nvSpPr>
          <p:cNvPr id="39" name="TextBox 38"/>
          <p:cNvSpPr txBox="1"/>
          <p:nvPr/>
        </p:nvSpPr>
        <p:spPr>
          <a:xfrm>
            <a:off x="9171432" y="4645152"/>
            <a:ext cx="2377440" cy="1572768"/>
          </a:xfrm>
          <a:prstGeom prst="rect">
            <a:avLst/>
          </a:prstGeom>
          <a:noFill/>
        </p:spPr>
        <p:txBody>
          <a:bodyPr wrap="square" lIns="36576" rIns="36576" tIns="18288" bIns="18288" anchor="t">
            <a:spAutoFit/>
          </a:bodyPr>
          <a:lstStyle/>
          <a:p>
            <a:pPr algn="l"/>
            <a:r>
              <a:rPr sz="1250" b="0" i="0">
                <a:solidFill>
                  <a:srgbClr val="1F2937"/>
                </a:solidFill>
                <a:latin typeface="Calibri"/>
              </a:rPr>
              <a:t>A REST API for everything (Swagger), Prometheus metrics, progress and ETA for each job, and a 73-test Robot suite after each change.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788920"/>
            <a:ext cx="109728" cy="11887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697480"/>
            <a:ext cx="10058400" cy="731520"/>
          </a:xfrm>
          <a:prstGeom prst="rect">
            <a:avLst/>
          </a:prstGeom>
          <a:noFill/>
        </p:spPr>
        <p:txBody>
          <a:bodyPr wrap="square" lIns="36576" rIns="36576" tIns="18288" bIns="18288" anchor="t">
            <a:spAutoFit/>
          </a:bodyPr>
          <a:lstStyle/>
          <a:p>
            <a:pPr algn="l"/>
            <a:r>
              <a:rPr sz="3600" b="1" i="0">
                <a:solidFill>
                  <a:srgbClr val="FFFFFF"/>
                </a:solidFill>
                <a:latin typeface="Calibri"/>
              </a:rPr>
              <a:t>A tour of the portal</a:t>
            </a:r>
          </a:p>
        </p:txBody>
      </p:sp>
      <p:sp>
        <p:nvSpPr>
          <p:cNvPr id="5" name="TextBox 4"/>
          <p:cNvSpPr txBox="1"/>
          <p:nvPr/>
        </p:nvSpPr>
        <p:spPr>
          <a:xfrm>
            <a:off x="1051560" y="3429000"/>
            <a:ext cx="10058400" cy="731520"/>
          </a:xfrm>
          <a:prstGeom prst="rect">
            <a:avLst/>
          </a:prstGeom>
          <a:noFill/>
        </p:spPr>
        <p:txBody>
          <a:bodyPr wrap="square" lIns="36576" rIns="36576" tIns="18288" bIns="18288" anchor="t">
            <a:spAutoFit/>
          </a:bodyPr>
          <a:lstStyle/>
          <a:p>
            <a:pPr algn="l"/>
            <a:r>
              <a:rPr sz="1700" b="0" i="0">
                <a:solidFill>
                  <a:srgbClr val="CBD5E1"/>
                </a:solidFill>
                <a:latin typeface="Calibri"/>
              </a:rPr>
              <a:t>Numbered callouts on each screenshot match the explanations beside it.</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ACCESS</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Everyone signs in, and the role decides what they see</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6</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1_login.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3429857" y="2803609"/>
            <a:ext cx="1964245" cy="177084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274409" y="264816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Oval 11"/>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3" name="TextBox 12"/>
          <p:cNvSpPr txBox="1"/>
          <p:nvPr/>
        </p:nvSpPr>
        <p:spPr>
          <a:xfrm>
            <a:off x="9070848" y="1170432"/>
            <a:ext cx="2819095" cy="1014984"/>
          </a:xfrm>
          <a:prstGeom prst="rect">
            <a:avLst/>
          </a:prstGeom>
          <a:noFill/>
        </p:spPr>
        <p:txBody>
          <a:bodyPr wrap="square" lIns="36576" rIns="36576" tIns="18288" bIns="18288" anchor="t">
            <a:spAutoFit/>
          </a:bodyPr>
          <a:lstStyle/>
          <a:p>
            <a:pPr algn="l"/>
            <a:r>
              <a:rPr sz="1300" b="1" i="0">
                <a:solidFill>
                  <a:srgbClr val="0B1B2E"/>
                </a:solidFill>
                <a:latin typeface="Calibri"/>
              </a:rPr>
              <a:t>Sign in</a:t>
            </a:r>
          </a:p>
          <a:p>
            <a:pPr algn="l"/>
            <a:r>
              <a:rPr sz="1150" b="0" i="0">
                <a:solidFill>
                  <a:srgbClr val="1F2937"/>
                </a:solidFill>
                <a:latin typeface="Calibri"/>
              </a:rPr>
              <a:t>Staff roles are viewer, operator, approver and admin. A customer account sees only its own service. Sessions are signed cookies, passwords are PBKDF2 hashes.</a:t>
            </a:r>
          </a:p>
        </p:txBody>
      </p:sp>
      <p:sp>
        <p:nvSpPr>
          <p:cNvPr id="14" name="Rounded Rectangle 13"/>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Read-only users cannot start jobs, nobody approves their own change, and customers never see another customer.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SEE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The cloud: every router, read live</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7</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2_cloud.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09517" y="1766839"/>
            <a:ext cx="7404925" cy="418255"/>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54069" y="161139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2458878"/>
            <a:ext cx="7234904" cy="2105341"/>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230343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794527" y="5023652"/>
            <a:ext cx="7234904" cy="52459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079" y="486820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5201250" y="1536185"/>
            <a:ext cx="1639595" cy="146304"/>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045802" y="138073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KPIs</a:t>
            </a:r>
          </a:p>
          <a:p>
            <a:pPr algn="l"/>
            <a:r>
              <a:rPr sz="1150" b="0" i="0">
                <a:solidFill>
                  <a:srgbClr val="1F2937"/>
                </a:solidFill>
                <a:latin typeface="Calibri"/>
              </a:rPr>
              <a:t>Hubs, customers, registrations, shortcuts and BGP at a glance.</a:t>
            </a:r>
          </a:p>
        </p:txBody>
      </p:sp>
      <p:sp>
        <p:nvSpPr>
          <p:cNvPr id="20" name="Oval 19"/>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048255"/>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Every router</a:t>
            </a:r>
          </a:p>
          <a:p>
            <a:pPr algn="l"/>
            <a:r>
              <a:rPr sz="1150" b="0" i="0">
                <a:solidFill>
                  <a:srgbClr val="1F2937"/>
                </a:solidFill>
                <a:latin typeface="Calibri"/>
              </a:rPr>
              <a:t>NHRP registrations, IPsec, overlay BGP, the provider and the preferred hub, read from the routers themselves.</a:t>
            </a:r>
          </a:p>
        </p:txBody>
      </p:sp>
      <p:sp>
        <p:nvSpPr>
          <p:cNvPr id="22" name="Oval 21"/>
          <p:cNvSpPr/>
          <p:nvPr/>
        </p:nvSpPr>
        <p:spPr>
          <a:xfrm>
            <a:off x="8686800" y="314553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3108960"/>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Both providers</a:t>
            </a:r>
          </a:p>
          <a:p>
            <a:pPr algn="l"/>
            <a:r>
              <a:rPr sz="1150" b="0" i="0">
                <a:solidFill>
                  <a:srgbClr val="1F2937"/>
                </a:solidFill>
                <a:latin typeface="Calibri"/>
              </a:rPr>
              <a:t>Access links and eBGP on mpls and mpls2.</a:t>
            </a:r>
          </a:p>
        </p:txBody>
      </p:sp>
      <p:sp>
        <p:nvSpPr>
          <p:cNvPr id="24" name="Oval 23"/>
          <p:cNvSpPr/>
          <p:nvPr/>
        </p:nvSpPr>
        <p:spPr>
          <a:xfrm>
            <a:off x="8686800" y="384047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803904"/>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Who you are</a:t>
            </a:r>
          </a:p>
          <a:p>
            <a:pPr algn="l"/>
            <a:r>
              <a:rPr sz="1150" b="0" i="0">
                <a:solidFill>
                  <a:srgbClr val="1F2937"/>
                </a:solidFill>
                <a:latin typeface="Calibri"/>
              </a:rPr>
              <a:t>The account, its role and the portal version, always visible.</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One screen answers 'is every spoke registered with every hub?' with no CLI logins.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SEE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Health and configuration drift</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8</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3_drift.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3566751"/>
            <a:ext cx="7234904" cy="148768"/>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3411303"/>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09517" y="3820533"/>
            <a:ext cx="7404925" cy="2289192"/>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54069" y="366508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Health</a:t>
            </a:r>
          </a:p>
          <a:p>
            <a:pPr algn="l"/>
            <a:r>
              <a:rPr sz="1150" b="0" i="0">
                <a:solidFill>
                  <a:srgbClr val="1F2937"/>
                </a:solidFill>
                <a:latin typeface="Calibri"/>
              </a:rPr>
              <a:t>Everything the model expects to be up is checked, and anything missing is named.</a:t>
            </a:r>
          </a:p>
        </p:txBody>
      </p:sp>
      <p:sp>
        <p:nvSpPr>
          <p:cNvPr id="16" name="Oval 15"/>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048255"/>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Drift</a:t>
            </a:r>
          </a:p>
          <a:p>
            <a:pPr algn="l"/>
            <a:r>
              <a:rPr sz="1150" b="0" i="0">
                <a:solidFill>
                  <a:srgbClr val="1F2937"/>
                </a:solidFill>
                <a:latin typeface="Calibri"/>
              </a:rPr>
              <a:t>Each router is compared with what lab.conf renders. 'Fix drift' puts it back as a controlled job.</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Hand edits no longer go unnoticed: drift is visible per router, and fixing it is one approved job.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SEE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A topology map drawn from live state</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9</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4_map.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2300655"/>
            <a:ext cx="5564695" cy="370710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214520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2000618"/>
            <a:ext cx="3621640" cy="300037"/>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184517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5337439" y="1886854"/>
            <a:ext cx="1021783" cy="146304"/>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181991" y="1731406"/>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6450234" y="1766839"/>
            <a:ext cx="1664208" cy="4422505"/>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294786" y="161139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The map</a:t>
            </a:r>
          </a:p>
          <a:p>
            <a:pPr algn="l"/>
            <a:r>
              <a:rPr sz="1150" b="0" i="0">
                <a:solidFill>
                  <a:srgbClr val="1F2937"/>
                </a:solidFill>
                <a:latin typeface="Calibri"/>
              </a:rPr>
              <a:t>Hubs, providers, customers and LAN hosts. Tunnel colour shows health, and the preferred hub is drawn bold.</a:t>
            </a:r>
          </a:p>
        </p:txBody>
      </p:sp>
      <p:sp>
        <p:nvSpPr>
          <p:cNvPr id="20" name="Oval 19"/>
          <p:cNvSpPr/>
          <p:nvPr/>
        </p:nvSpPr>
        <p:spPr>
          <a:xfrm>
            <a:off x="8686800" y="226771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231136"/>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Layers</a:t>
            </a:r>
          </a:p>
          <a:p>
            <a:pPr algn="l"/>
            <a:r>
              <a:rPr sz="1150" b="0" i="0">
                <a:solidFill>
                  <a:srgbClr val="1F2937"/>
                </a:solidFill>
                <a:latin typeface="Calibri"/>
              </a:rPr>
              <a:t>Turn provider 2 and cloud 2, shortcuts, hosts and labels on or off.</a:t>
            </a:r>
          </a:p>
        </p:txBody>
      </p:sp>
      <p:sp>
        <p:nvSpPr>
          <p:cNvPr id="22" name="Oval 21"/>
          <p:cNvSpPr/>
          <p:nvPr/>
        </p:nvSpPr>
        <p:spPr>
          <a:xfrm>
            <a:off x="8686800" y="314553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3108960"/>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Export</a:t>
            </a:r>
          </a:p>
          <a:p>
            <a:pPr algn="l"/>
            <a:r>
              <a:rPr sz="1150" b="0" i="0">
                <a:solidFill>
                  <a:srgbClr val="1F2937"/>
                </a:solidFill>
                <a:latin typeface="Calibri"/>
              </a:rPr>
              <a:t>SVG or PNG, light or dark, exactly as drawn.</a:t>
            </a:r>
          </a:p>
        </p:txBody>
      </p:sp>
      <p:sp>
        <p:nvSpPr>
          <p:cNvPr id="24" name="Oval 23"/>
          <p:cNvSpPr/>
          <p:nvPr/>
        </p:nvSpPr>
        <p:spPr>
          <a:xfrm>
            <a:off x="8686800" y="402335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986784"/>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Details</a:t>
            </a:r>
          </a:p>
          <a:p>
            <a:pPr algn="l"/>
            <a:r>
              <a:rPr sz="1150" b="0" i="0">
                <a:solidFill>
                  <a:srgbClr val="1F2937"/>
                </a:solidFill>
                <a:latin typeface="Calibri"/>
              </a:rPr>
              <a:t>Click a node to see the customer company, its applications (checked every minute) and the router's live state.</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Everyone gets the same live picture, from operations to account managers and customers.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SEE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Path trace: watch the phase 3 shortcut form</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10</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5_path.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1230522"/>
            <a:ext cx="5564695" cy="370710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07507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6535245" y="3298749"/>
            <a:ext cx="1494186" cy="578275"/>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79797" y="314330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709517" y="5504571"/>
            <a:ext cx="7404925" cy="68477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54069" y="5349123"/>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Oval 15"/>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7" name="TextBox 16"/>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First via a hub, then direct</a:t>
            </a:r>
          </a:p>
          <a:p>
            <a:pPr algn="l"/>
            <a:r>
              <a:rPr sz="1150" b="0" i="0">
                <a:solidFill>
                  <a:srgbClr val="1F2937"/>
                </a:solidFill>
                <a:latin typeface="Calibri"/>
              </a:rPr>
              <a:t>The first packets go through a hub. NHRP then builds a spoke-to-spoke shortcut, drawn in purple.</a:t>
            </a:r>
          </a:p>
        </p:txBody>
      </p:sp>
      <p:sp>
        <p:nvSpPr>
          <p:cNvPr id="18" name="Oval 17"/>
          <p:cNvSpPr/>
          <p:nvPr/>
        </p:nvSpPr>
        <p:spPr>
          <a:xfrm>
            <a:off x="8686800" y="226771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9" name="TextBox 18"/>
          <p:cNvSpPr txBox="1"/>
          <p:nvPr/>
        </p:nvSpPr>
        <p:spPr>
          <a:xfrm>
            <a:off x="9070848" y="2231136"/>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Details and actions</a:t>
            </a:r>
          </a:p>
          <a:p>
            <a:pPr algn="l"/>
            <a:r>
              <a:rPr sz="1150" b="0" i="0">
                <a:solidFill>
                  <a:srgbClr val="1F2937"/>
                </a:solidFill>
                <a:latin typeface="Calibri"/>
              </a:rPr>
              <a:t>Trace, watch the shortcut form, ping every host, and view the config history per router.</a:t>
            </a:r>
          </a:p>
        </p:txBody>
      </p:sp>
      <p:sp>
        <p:nvSpPr>
          <p:cNvPr id="20" name="Oval 19"/>
          <p:cNvSpPr/>
          <p:nvPr/>
        </p:nvSpPr>
        <p:spPr>
          <a:xfrm>
            <a:off x="8686800" y="332841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1" name="TextBox 20"/>
          <p:cNvSpPr txBox="1"/>
          <p:nvPr/>
        </p:nvSpPr>
        <p:spPr>
          <a:xfrm>
            <a:off x="9070848" y="3291840"/>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Every trace, hop by hop</a:t>
            </a:r>
          </a:p>
          <a:p>
            <a:pPr algn="l"/>
            <a:r>
              <a:rPr sz="1150" b="0" i="0">
                <a:solidFill>
                  <a:srgbClr val="1F2937"/>
                </a:solidFill>
                <a:latin typeface="Calibri"/>
              </a:rPr>
              <a:t>The raw output is kept so you can copy or download it.</a:t>
            </a:r>
          </a:p>
        </p:txBody>
      </p:sp>
      <p:sp>
        <p:nvSpPr>
          <p:cNvPr id="22" name="Rounded Rectangle 21"/>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It shows that DMVPN phase 3 works end to end, and makes it easy to explain.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SEE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A router's configuration history</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11</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30_history.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6450234" y="1188720"/>
            <a:ext cx="1664208" cy="1760141"/>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94786" y="105156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09517" y="2958863"/>
            <a:ext cx="7404925" cy="314914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54069" y="280341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Router details</a:t>
            </a:r>
          </a:p>
          <a:p>
            <a:pPr algn="l"/>
            <a:r>
              <a:rPr sz="1150" b="0" i="0">
                <a:solidFill>
                  <a:srgbClr val="1F2937"/>
                </a:solidFill>
                <a:latin typeface="Calibri"/>
              </a:rPr>
              <a:t>Its live state: addresses, NHRP, IPsec, BGP, and its actions.</a:t>
            </a:r>
          </a:p>
        </p:txBody>
      </p:sp>
      <p:sp>
        <p:nvSpPr>
          <p:cNvPr id="16" name="Oval 15"/>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Every job that changed it</a:t>
            </a:r>
          </a:p>
          <a:p>
            <a:pPr algn="l"/>
            <a:r>
              <a:rPr sz="1150" b="0" i="0">
                <a:solidFill>
                  <a:srgbClr val="1F2937"/>
                </a:solidFill>
                <a:latin typeface="Calibri"/>
              </a:rPr>
              <a:t>Each job's diff for this router, newest first, with masked secrets.</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When something changed on a router, you can see which job did it and exactly what it changed.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SLA per customer, from VictoriaMetrics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12</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6_sla.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2129384"/>
            <a:ext cx="7234904" cy="567727"/>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973936"/>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2838613"/>
            <a:ext cx="7234904" cy="1617545"/>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268316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4654619" y="1841848"/>
            <a:ext cx="3374812" cy="208776"/>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499171" y="168640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Oval 15"/>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7" name="TextBox 16"/>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Against targets</a:t>
            </a:r>
          </a:p>
          <a:p>
            <a:pPr algn="l"/>
            <a:r>
              <a:rPr sz="1150" b="0" i="0">
                <a:solidFill>
                  <a:srgbClr val="1F2937"/>
                </a:solidFill>
                <a:latin typeface="Calibri"/>
              </a:rPr>
              <a:t>Availability, latency, loss and tunnel uptime, each compared with its SLA target.</a:t>
            </a:r>
          </a:p>
        </p:txBody>
      </p:sp>
      <p:sp>
        <p:nvSpPr>
          <p:cNvPr id="18" name="Oval 17"/>
          <p:cNvSpPr/>
          <p:nvPr/>
        </p:nvSpPr>
        <p:spPr>
          <a:xfrm>
            <a:off x="8686800" y="226771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9" name="TextBox 18"/>
          <p:cNvSpPr txBox="1"/>
          <p:nvPr/>
        </p:nvSpPr>
        <p:spPr>
          <a:xfrm>
            <a:off x="9070848" y="2231136"/>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Latency to each hub</a:t>
            </a:r>
          </a:p>
          <a:p>
            <a:pPr algn="l"/>
            <a:r>
              <a:rPr sz="1150" b="0" i="0">
                <a:solidFill>
                  <a:srgbClr val="1F2937"/>
                </a:solidFill>
                <a:latin typeface="Calibri"/>
              </a:rPr>
              <a:t>Probed every minute from the customer's own LAN host.</a:t>
            </a:r>
          </a:p>
        </p:txBody>
      </p:sp>
      <p:sp>
        <p:nvSpPr>
          <p:cNvPr id="20" name="Oval 19"/>
          <p:cNvSpPr/>
          <p:nvPr/>
        </p:nvSpPr>
        <p:spPr>
          <a:xfrm>
            <a:off x="8686800" y="314553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1" name="TextBox 20"/>
          <p:cNvSpPr txBox="1"/>
          <p:nvPr/>
        </p:nvSpPr>
        <p:spPr>
          <a:xfrm>
            <a:off x="9070848" y="3108960"/>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Window and report</a:t>
            </a:r>
          </a:p>
          <a:p>
            <a:pPr algn="l"/>
            <a:r>
              <a:rPr sz="1150" b="0" i="0">
                <a:solidFill>
                  <a:srgbClr val="1F2937"/>
                </a:solidFill>
                <a:latin typeface="Calibri"/>
              </a:rPr>
              <a:t>24 hours, 30 days or this month, with a monthly PDF report for the customer.</a:t>
            </a:r>
          </a:p>
        </p:txBody>
      </p:sp>
      <p:sp>
        <p:nvSpPr>
          <p:cNvPr id="22" name="Rounded Rectangle 21"/>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SLA reporting is automatic and based on measurements the customer can check.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Simulate failures on purpose</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13</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7_resilience.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2102584"/>
            <a:ext cx="1089136" cy="200025"/>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947136"/>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1318968" y="2573893"/>
            <a:ext cx="781910" cy="208776"/>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3520" y="241844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794527" y="3590895"/>
            <a:ext cx="7234904" cy="686335"/>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079" y="343544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Oval 15"/>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7" name="TextBox 16"/>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Choose a failure</a:t>
            </a:r>
          </a:p>
          <a:p>
            <a:pPr algn="l"/>
            <a:r>
              <a:rPr sz="1150" b="0" i="0">
                <a:solidFill>
                  <a:srgbClr val="1F2937"/>
                </a:solidFill>
                <a:latin typeface="Calibri"/>
              </a:rPr>
              <a:t>A hub, a provider, or a customer circuit. The page says what should happen before you press anything.</a:t>
            </a:r>
          </a:p>
        </p:txBody>
      </p:sp>
      <p:sp>
        <p:nvSpPr>
          <p:cNvPr id="18" name="Oval 17"/>
          <p:cNvSpPr/>
          <p:nvPr/>
        </p:nvSpPr>
        <p:spPr>
          <a:xfrm>
            <a:off x="8686800" y="226771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9" name="TextBox 18"/>
          <p:cNvSpPr txBox="1"/>
          <p:nvPr/>
        </p:nvSpPr>
        <p:spPr>
          <a:xfrm>
            <a:off x="9070848" y="2231136"/>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Measure failover</a:t>
            </a:r>
          </a:p>
          <a:p>
            <a:pPr algn="l"/>
            <a:r>
              <a:rPr sz="1150" b="0" i="0">
                <a:solidFill>
                  <a:srgbClr val="1F2937"/>
                </a:solidFill>
                <a:latin typeface="Calibri"/>
              </a:rPr>
              <a:t>Every LAN host pings every other host five times a second while the fault is in.</a:t>
            </a:r>
          </a:p>
        </p:txBody>
      </p:sp>
      <p:sp>
        <p:nvSpPr>
          <p:cNvPr id="20" name="Oval 19"/>
          <p:cNvSpPr/>
          <p:nvPr/>
        </p:nvSpPr>
        <p:spPr>
          <a:xfrm>
            <a:off x="8686800" y="314553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1" name="TextBox 20"/>
          <p:cNvSpPr txBox="1"/>
          <p:nvPr/>
        </p:nvSpPr>
        <p:spPr>
          <a:xfrm>
            <a:off x="9070848" y="3108960"/>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Every measurement</a:t>
            </a:r>
          </a:p>
          <a:p>
            <a:pPr algn="l"/>
            <a:r>
              <a:rPr sz="1150" b="0" i="0">
                <a:solidFill>
                  <a:srgbClr val="1F2937"/>
                </a:solidFill>
                <a:latin typeface="Calibri"/>
              </a:rPr>
              <a:t>Flows unaffected, failed over or cut off, the worst failover and the time back to healthy.</a:t>
            </a:r>
          </a:p>
        </p:txBody>
      </p:sp>
      <p:sp>
        <p:nvSpPr>
          <p:cNvPr id="22" name="Rounded Rectangle 21"/>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Resilience becomes a number rather than a claim, for example 0.6 s worst case for a hub failure.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One failover experiment, flow by flow</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14</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8_failover.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1226849"/>
            <a:ext cx="7234904" cy="148768"/>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07140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1625024"/>
            <a:ext cx="7234904" cy="4564320"/>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1469576"/>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experiment</a:t>
            </a:r>
          </a:p>
          <a:p>
            <a:pPr algn="l"/>
            <a:r>
              <a:rPr sz="1150" b="0" i="0">
                <a:solidFill>
                  <a:srgbClr val="1F2937"/>
                </a:solidFill>
                <a:latin typeface="Calibri"/>
              </a:rPr>
              <a:t>What failed, for how long, and the headline figures.</a:t>
            </a:r>
          </a:p>
        </p:txBody>
      </p:sp>
      <p:sp>
        <p:nvSpPr>
          <p:cNvPr id="16" name="Oval 15"/>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048255"/>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Each flow</a:t>
            </a:r>
          </a:p>
          <a:p>
            <a:pPr algn="l"/>
            <a:r>
              <a:rPr sz="1150" b="0" i="0">
                <a:solidFill>
                  <a:srgbClr val="1F2937"/>
                </a:solidFill>
                <a:latin typeface="Calibri"/>
              </a:rPr>
              <a:t>The verdict and an outage timeline for every host pair, so you can see which paths moved and which were cut.</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You can see exactly which customers a failure affects, and for how long.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Capacity: hub load and room to grow</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15</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33_capacity.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2000618"/>
            <a:ext cx="2026675" cy="576009"/>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84517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3036060"/>
            <a:ext cx="2407582" cy="1753891"/>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288061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794527" y="5128743"/>
            <a:ext cx="3529441" cy="105044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079" y="497329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4499991" y="5128743"/>
            <a:ext cx="3529441" cy="95074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44543" y="497329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Room to grow</a:t>
            </a:r>
          </a:p>
          <a:p>
            <a:pPr algn="l"/>
            <a:r>
              <a:rPr sz="1150" b="0" i="0">
                <a:solidFill>
                  <a:srgbClr val="1F2937"/>
                </a:solidFill>
                <a:latin typeface="Calibri"/>
              </a:rPr>
              <a:t>How many more C8000v or VyOS customers fit, and which limit runs out first: here, the provider's customer ports.</a:t>
            </a:r>
          </a:p>
        </p:txBody>
      </p:sp>
      <p:sp>
        <p:nvSpPr>
          <p:cNvPr id="20" name="Oval 19"/>
          <p:cNvSpPr/>
          <p:nvPr/>
        </p:nvSpPr>
        <p:spPr>
          <a:xfrm>
            <a:off x="8686800" y="2215515"/>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178939"/>
            <a:ext cx="2819095" cy="1197864"/>
          </a:xfrm>
          <a:prstGeom prst="rect">
            <a:avLst/>
          </a:prstGeom>
          <a:noFill/>
        </p:spPr>
        <p:txBody>
          <a:bodyPr wrap="square" lIns="36576" rIns="36576" tIns="18288" bIns="18288" anchor="t">
            <a:spAutoFit/>
          </a:bodyPr>
          <a:lstStyle/>
          <a:p>
            <a:pPr algn="l"/>
            <a:r>
              <a:rPr sz="1300" b="1" i="0">
                <a:solidFill>
                  <a:srgbClr val="0B1B2E"/>
                </a:solidFill>
                <a:latin typeface="Calibri"/>
              </a:rPr>
              <a:t>Each hub</a:t>
            </a:r>
          </a:p>
          <a:p>
            <a:pPr algn="l"/>
            <a:r>
              <a:rPr sz="1150" b="0" i="0">
                <a:solidFill>
                  <a:srgbClr val="1F2937"/>
                </a:solidFill>
                <a:latin typeface="Calibri"/>
              </a:rPr>
              <a:t>Spokes against the planning figure, IPsec against the platform maximum, CPU and DRAM against the router's own levels, WAN traffic against the licensed throughput.</a:t>
            </a:r>
          </a:p>
        </p:txBody>
      </p:sp>
      <p:sp>
        <p:nvSpPr>
          <p:cNvPr id="22" name="Oval 21"/>
          <p:cNvSpPr/>
          <p:nvPr/>
        </p:nvSpPr>
        <p:spPr>
          <a:xfrm>
            <a:off x="8686800" y="358978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3553206"/>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Providers</a:t>
            </a:r>
          </a:p>
          <a:p>
            <a:pPr algn="l"/>
            <a:r>
              <a:rPr sz="1150" b="0" i="0">
                <a:solidFill>
                  <a:srgbClr val="1F2937"/>
                </a:solidFill>
                <a:latin typeface="Calibri"/>
              </a:rPr>
              <a:t>Customer ports used and free on each provider.</a:t>
            </a:r>
          </a:p>
        </p:txBody>
      </p:sp>
      <p:sp>
        <p:nvSpPr>
          <p:cNvPr id="24" name="Oval 23"/>
          <p:cNvSpPr/>
          <p:nvPr/>
        </p:nvSpPr>
        <p:spPr>
          <a:xfrm>
            <a:off x="8686800" y="441540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4378833"/>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The lab host</a:t>
            </a:r>
          </a:p>
          <a:p>
            <a:pPr algn="l"/>
            <a:r>
              <a:rPr sz="1150" b="0" i="0">
                <a:solidFill>
                  <a:srgbClr val="1F2937"/>
                </a:solidFill>
                <a:latin typeface="Calibri"/>
              </a:rPr>
              <a:t>Memory, CPU, and vCPUs allocated against its cores, for every lab on the machine.</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Growth is planned, not discovered: you see the next bottleneck before a hub or the lab fills 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788920"/>
            <a:ext cx="109728" cy="11887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697480"/>
            <a:ext cx="10058400" cy="731520"/>
          </a:xfrm>
          <a:prstGeom prst="rect">
            <a:avLst/>
          </a:prstGeom>
          <a:noFill/>
        </p:spPr>
        <p:txBody>
          <a:bodyPr wrap="square" lIns="36576" rIns="36576" tIns="18288" bIns="18288" anchor="t">
            <a:spAutoFit/>
          </a:bodyPr>
          <a:lstStyle/>
          <a:p>
            <a:pPr algn="l"/>
            <a:r>
              <a:rPr sz="3600" b="1" i="0">
                <a:solidFill>
                  <a:srgbClr val="FFFFFF"/>
                </a:solidFill>
                <a:latin typeface="Calibri"/>
              </a:rPr>
              <a:t>Provision in depth</a:t>
            </a:r>
          </a:p>
        </p:txBody>
      </p:sp>
      <p:sp>
        <p:nvSpPr>
          <p:cNvPr id="5" name="TextBox 4"/>
          <p:cNvSpPr txBox="1"/>
          <p:nvPr/>
        </p:nvSpPr>
        <p:spPr>
          <a:xfrm>
            <a:off x="1051560" y="3429000"/>
            <a:ext cx="10058400" cy="731520"/>
          </a:xfrm>
          <a:prstGeom prst="rect">
            <a:avLst/>
          </a:prstGeom>
          <a:noFill/>
        </p:spPr>
        <p:txBody>
          <a:bodyPr wrap="square" lIns="36576" rIns="36576" tIns="18288" bIns="18288" anchor="t">
            <a:spAutoFit/>
          </a:bodyPr>
          <a:lstStyle/>
          <a:p>
            <a:pPr algn="l"/>
            <a:r>
              <a:rPr sz="1700" b="0" i="0">
                <a:solidFill>
                  <a:srgbClr val="CBD5E1"/>
                </a:solidFill>
                <a:latin typeface="Calibri"/>
              </a:rPr>
              <a:t>Every change is a job: planned, approved, run, verified and recorded.</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94A3B8"/>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CHANGE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Provision: every change is a job</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17</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9_provision.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2000618"/>
            <a:ext cx="7234904" cy="216347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84517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09517" y="4269105"/>
            <a:ext cx="7404925" cy="1058569"/>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54069" y="411365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Tasks</a:t>
            </a:r>
          </a:p>
          <a:p>
            <a:pPr algn="l"/>
            <a:r>
              <a:rPr sz="1150" b="0" i="0">
                <a:solidFill>
                  <a:srgbClr val="1F2937"/>
                </a:solidFill>
                <a:latin typeface="Calibri"/>
              </a:rPr>
              <a:t>Eleven tasks: each shows what it does, how long it takes and who may run it. The next slides walk through them.</a:t>
            </a:r>
          </a:p>
        </p:txBody>
      </p:sp>
      <p:sp>
        <p:nvSpPr>
          <p:cNvPr id="16" name="Oval 15"/>
          <p:cNvSpPr/>
          <p:nvPr/>
        </p:nvSpPr>
        <p:spPr>
          <a:xfrm>
            <a:off x="8686800" y="226771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231136"/>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Pre-shared key</a:t>
            </a:r>
          </a:p>
          <a:p>
            <a:pPr algn="l"/>
            <a:r>
              <a:rPr sz="1150" b="0" i="0">
                <a:solidFill>
                  <a:srgbClr val="1F2937"/>
                </a:solidFill>
                <a:latin typeface="Calibri"/>
              </a:rPr>
              <a:t>Admins rotate the DMVPN key. The system picks a random 40-character key, and only its fingerprint is ever shown.</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Operators pick what they want done, and the portal carries it out consistently on every router.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PROVISION IN DEPTH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Every Provision task, at a glance</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18</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11480" y="1188720"/>
            <a:ext cx="11384280" cy="384048"/>
          </a:xfrm>
          <a:prstGeom prst="rect">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4632" y="1252728"/>
            <a:ext cx="2148840" cy="274320"/>
          </a:xfrm>
          <a:prstGeom prst="rect">
            <a:avLst/>
          </a:prstGeom>
          <a:noFill/>
        </p:spPr>
        <p:txBody>
          <a:bodyPr wrap="square" lIns="36576" rIns="36576" tIns="18288" bIns="18288" anchor="t">
            <a:spAutoFit/>
          </a:bodyPr>
          <a:lstStyle/>
          <a:p>
            <a:pPr algn="l"/>
            <a:r>
              <a:rPr sz="1200" b="1" i="0">
                <a:solidFill>
                  <a:srgbClr val="FFFFFF"/>
                </a:solidFill>
                <a:latin typeface="Calibri"/>
              </a:rPr>
              <a:t>Task</a:t>
            </a:r>
          </a:p>
        </p:txBody>
      </p:sp>
      <p:sp>
        <p:nvSpPr>
          <p:cNvPr id="10" name="TextBox 9"/>
          <p:cNvSpPr txBox="1"/>
          <p:nvPr/>
        </p:nvSpPr>
        <p:spPr>
          <a:xfrm>
            <a:off x="2770632" y="1252728"/>
            <a:ext cx="5806440" cy="274320"/>
          </a:xfrm>
          <a:prstGeom prst="rect">
            <a:avLst/>
          </a:prstGeom>
          <a:noFill/>
        </p:spPr>
        <p:txBody>
          <a:bodyPr wrap="square" lIns="36576" rIns="36576" tIns="18288" bIns="18288" anchor="t">
            <a:spAutoFit/>
          </a:bodyPr>
          <a:lstStyle/>
          <a:p>
            <a:pPr algn="l"/>
            <a:r>
              <a:rPr sz="1200" b="1" i="0">
                <a:solidFill>
                  <a:srgbClr val="FFFFFF"/>
                </a:solidFill>
                <a:latin typeface="Calibri"/>
              </a:rPr>
              <a:t>What it does</a:t>
            </a:r>
          </a:p>
        </p:txBody>
      </p:sp>
      <p:sp>
        <p:nvSpPr>
          <p:cNvPr id="11" name="TextBox 10"/>
          <p:cNvSpPr txBox="1"/>
          <p:nvPr/>
        </p:nvSpPr>
        <p:spPr>
          <a:xfrm>
            <a:off x="8714232" y="1252728"/>
            <a:ext cx="1005839" cy="274320"/>
          </a:xfrm>
          <a:prstGeom prst="rect">
            <a:avLst/>
          </a:prstGeom>
          <a:noFill/>
        </p:spPr>
        <p:txBody>
          <a:bodyPr wrap="square" lIns="36576" rIns="36576" tIns="18288" bIns="18288" anchor="t">
            <a:spAutoFit/>
          </a:bodyPr>
          <a:lstStyle/>
          <a:p>
            <a:pPr algn="l"/>
            <a:r>
              <a:rPr sz="1200" b="1" i="0">
                <a:solidFill>
                  <a:srgbClr val="FFFFFF"/>
                </a:solidFill>
                <a:latin typeface="Calibri"/>
              </a:rPr>
              <a:t>Time</a:t>
            </a:r>
          </a:p>
        </p:txBody>
      </p:sp>
      <p:sp>
        <p:nvSpPr>
          <p:cNvPr id="12" name="TextBox 11"/>
          <p:cNvSpPr txBox="1"/>
          <p:nvPr/>
        </p:nvSpPr>
        <p:spPr>
          <a:xfrm>
            <a:off x="9857232" y="1252728"/>
            <a:ext cx="914400" cy="274320"/>
          </a:xfrm>
          <a:prstGeom prst="rect">
            <a:avLst/>
          </a:prstGeom>
          <a:noFill/>
        </p:spPr>
        <p:txBody>
          <a:bodyPr wrap="square" lIns="36576" rIns="36576" tIns="18288" bIns="18288" anchor="t">
            <a:spAutoFit/>
          </a:bodyPr>
          <a:lstStyle/>
          <a:p>
            <a:pPr algn="l"/>
            <a:r>
              <a:rPr sz="1200" b="1" i="0">
                <a:solidFill>
                  <a:srgbClr val="FFFFFF"/>
                </a:solidFill>
                <a:latin typeface="Calibri"/>
              </a:rPr>
              <a:t>Who</a:t>
            </a:r>
          </a:p>
        </p:txBody>
      </p:sp>
      <p:sp>
        <p:nvSpPr>
          <p:cNvPr id="13" name="TextBox 12"/>
          <p:cNvSpPr txBox="1"/>
          <p:nvPr/>
        </p:nvSpPr>
        <p:spPr>
          <a:xfrm>
            <a:off x="10908792" y="1252728"/>
            <a:ext cx="868680" cy="274320"/>
          </a:xfrm>
          <a:prstGeom prst="rect">
            <a:avLst/>
          </a:prstGeom>
          <a:noFill/>
        </p:spPr>
        <p:txBody>
          <a:bodyPr wrap="square" lIns="36576" rIns="36576" tIns="18288" bIns="18288" anchor="t">
            <a:spAutoFit/>
          </a:bodyPr>
          <a:lstStyle/>
          <a:p>
            <a:pPr algn="l"/>
            <a:r>
              <a:rPr sz="1200" b="1" i="0">
                <a:solidFill>
                  <a:srgbClr val="FFFFFF"/>
                </a:solidFill>
                <a:latin typeface="Calibri"/>
              </a:rPr>
              <a:t>Approval</a:t>
            </a:r>
          </a:p>
        </p:txBody>
      </p:sp>
      <p:sp>
        <p:nvSpPr>
          <p:cNvPr id="14" name="Rectangle 13"/>
          <p:cNvSpPr/>
          <p:nvPr/>
        </p:nvSpPr>
        <p:spPr>
          <a:xfrm>
            <a:off x="411480" y="1572768"/>
            <a:ext cx="11384280" cy="40690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 y="1618488"/>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Add a customer</a:t>
            </a:r>
          </a:p>
        </p:txBody>
      </p:sp>
      <p:sp>
        <p:nvSpPr>
          <p:cNvPr id="16" name="TextBox 15"/>
          <p:cNvSpPr txBox="1"/>
          <p:nvPr/>
        </p:nvSpPr>
        <p:spPr>
          <a:xfrm>
            <a:off x="2770632" y="1618488"/>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A new site: router (C8000v or VyOS) and LAN host, provider link, tunnels to all three hubs, Nautobot. No hub changes.</a:t>
            </a:r>
          </a:p>
        </p:txBody>
      </p:sp>
      <p:sp>
        <p:nvSpPr>
          <p:cNvPr id="17" name="TextBox 16"/>
          <p:cNvSpPr txBox="1"/>
          <p:nvPr/>
        </p:nvSpPr>
        <p:spPr>
          <a:xfrm>
            <a:off x="8714232" y="1618488"/>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~15 min</a:t>
            </a:r>
          </a:p>
        </p:txBody>
      </p:sp>
      <p:sp>
        <p:nvSpPr>
          <p:cNvPr id="18" name="TextBox 17"/>
          <p:cNvSpPr txBox="1"/>
          <p:nvPr/>
        </p:nvSpPr>
        <p:spPr>
          <a:xfrm>
            <a:off x="9857232" y="1618488"/>
            <a:ext cx="896112" cy="352044"/>
          </a:xfrm>
          <a:prstGeom prst="rect">
            <a:avLst/>
          </a:prstGeom>
          <a:noFill/>
        </p:spPr>
        <p:txBody>
          <a:bodyPr wrap="square" lIns="36576" rIns="36576" tIns="18288" bIns="18288" anchor="t">
            <a:spAutoFit/>
          </a:bodyPr>
          <a:lstStyle/>
          <a:p>
            <a:pPr algn="l"/>
            <a:r>
              <a:rPr sz="1050" b="0" i="0">
                <a:solidFill>
                  <a:srgbClr val="1F2937"/>
                </a:solidFill>
                <a:latin typeface="Calibri"/>
              </a:rPr>
              <a:t>operator</a:t>
            </a:r>
          </a:p>
        </p:txBody>
      </p:sp>
      <p:sp>
        <p:nvSpPr>
          <p:cNvPr id="19" name="TextBox 18"/>
          <p:cNvSpPr txBox="1"/>
          <p:nvPr/>
        </p:nvSpPr>
        <p:spPr>
          <a:xfrm>
            <a:off x="10908792" y="1618488"/>
            <a:ext cx="850392" cy="352044"/>
          </a:xfrm>
          <a:prstGeom prst="rect">
            <a:avLst/>
          </a:prstGeom>
          <a:noFill/>
        </p:spPr>
        <p:txBody>
          <a:bodyPr wrap="square" lIns="36576" rIns="36576" tIns="18288" bIns="18288" anchor="t">
            <a:spAutoFit/>
          </a:bodyPr>
          <a:lstStyle/>
          <a:p>
            <a:pPr algn="l"/>
            <a:r>
              <a:rPr sz="1050" b="0" i="0">
                <a:solidFill>
                  <a:srgbClr val="1F2937"/>
                </a:solidFill>
                <a:latin typeface="Calibri"/>
              </a:rPr>
              <a:t>no</a:t>
            </a:r>
          </a:p>
        </p:txBody>
      </p:sp>
      <p:sp>
        <p:nvSpPr>
          <p:cNvPr id="20" name="Rectangle 19"/>
          <p:cNvSpPr/>
          <p:nvPr/>
        </p:nvSpPr>
        <p:spPr>
          <a:xfrm>
            <a:off x="411480" y="1979676"/>
            <a:ext cx="11384280" cy="4069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 y="2025395"/>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Modify a customer</a:t>
            </a:r>
          </a:p>
        </p:txBody>
      </p:sp>
      <p:sp>
        <p:nvSpPr>
          <p:cNvPr id="22" name="TextBox 21"/>
          <p:cNvSpPr txBox="1"/>
          <p:nvPr/>
        </p:nvSpPr>
        <p:spPr>
          <a:xfrm>
            <a:off x="2770632" y="2025395"/>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Company, applications, preferred hub, site LAN, second provider, or router type (rebuilds the router).</a:t>
            </a:r>
          </a:p>
        </p:txBody>
      </p:sp>
      <p:sp>
        <p:nvSpPr>
          <p:cNvPr id="23" name="TextBox 22"/>
          <p:cNvSpPr txBox="1"/>
          <p:nvPr/>
        </p:nvSpPr>
        <p:spPr>
          <a:xfrm>
            <a:off x="8714232" y="2025395"/>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1–15 min</a:t>
            </a:r>
          </a:p>
        </p:txBody>
      </p:sp>
      <p:sp>
        <p:nvSpPr>
          <p:cNvPr id="24" name="TextBox 23"/>
          <p:cNvSpPr txBox="1"/>
          <p:nvPr/>
        </p:nvSpPr>
        <p:spPr>
          <a:xfrm>
            <a:off x="9857232" y="2025395"/>
            <a:ext cx="896112" cy="352044"/>
          </a:xfrm>
          <a:prstGeom prst="rect">
            <a:avLst/>
          </a:prstGeom>
          <a:noFill/>
        </p:spPr>
        <p:txBody>
          <a:bodyPr wrap="square" lIns="36576" rIns="36576" tIns="18288" bIns="18288" anchor="t">
            <a:spAutoFit/>
          </a:bodyPr>
          <a:lstStyle/>
          <a:p>
            <a:pPr algn="l"/>
            <a:r>
              <a:rPr sz="1050" b="0" i="0">
                <a:solidFill>
                  <a:srgbClr val="1F2937"/>
                </a:solidFill>
                <a:latin typeface="Calibri"/>
              </a:rPr>
              <a:t>operator</a:t>
            </a:r>
          </a:p>
        </p:txBody>
      </p:sp>
      <p:sp>
        <p:nvSpPr>
          <p:cNvPr id="25" name="TextBox 24"/>
          <p:cNvSpPr txBox="1"/>
          <p:nvPr/>
        </p:nvSpPr>
        <p:spPr>
          <a:xfrm>
            <a:off x="10908792" y="2025395"/>
            <a:ext cx="850392" cy="352044"/>
          </a:xfrm>
          <a:prstGeom prst="rect">
            <a:avLst/>
          </a:prstGeom>
          <a:noFill/>
        </p:spPr>
        <p:txBody>
          <a:bodyPr wrap="square" lIns="36576" rIns="36576" tIns="18288" bIns="18288" anchor="t">
            <a:spAutoFit/>
          </a:bodyPr>
          <a:lstStyle/>
          <a:p>
            <a:pPr algn="l"/>
            <a:r>
              <a:rPr sz="1050" b="1" i="0">
                <a:solidFill>
                  <a:srgbClr val="EA580C"/>
                </a:solidFill>
                <a:latin typeface="Calibri"/>
              </a:rPr>
              <a:t>yes</a:t>
            </a:r>
          </a:p>
        </p:txBody>
      </p:sp>
      <p:sp>
        <p:nvSpPr>
          <p:cNvPr id="26" name="Rectangle 25"/>
          <p:cNvSpPr/>
          <p:nvPr/>
        </p:nvSpPr>
        <p:spPr>
          <a:xfrm>
            <a:off x="411480" y="2386584"/>
            <a:ext cx="11384280" cy="40690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 y="2432303"/>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Remove a customer</a:t>
            </a:r>
          </a:p>
        </p:txBody>
      </p:sp>
      <p:sp>
        <p:nvSpPr>
          <p:cNvPr id="28" name="TextBox 27"/>
          <p:cNvSpPr txBox="1"/>
          <p:nvPr/>
        </p:nvSpPr>
        <p:spPr>
          <a:xfrm>
            <a:off x="2770632" y="2432303"/>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Terraform forgets it, VMs deleted, out of lab.conf and Nautobot, provider port released.</a:t>
            </a:r>
          </a:p>
        </p:txBody>
      </p:sp>
      <p:sp>
        <p:nvSpPr>
          <p:cNvPr id="29" name="TextBox 28"/>
          <p:cNvSpPr txBox="1"/>
          <p:nvPr/>
        </p:nvSpPr>
        <p:spPr>
          <a:xfrm>
            <a:off x="8714232" y="2432303"/>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~3 min</a:t>
            </a:r>
          </a:p>
        </p:txBody>
      </p:sp>
      <p:sp>
        <p:nvSpPr>
          <p:cNvPr id="30" name="TextBox 29"/>
          <p:cNvSpPr txBox="1"/>
          <p:nvPr/>
        </p:nvSpPr>
        <p:spPr>
          <a:xfrm>
            <a:off x="9857232" y="2432303"/>
            <a:ext cx="896112" cy="352044"/>
          </a:xfrm>
          <a:prstGeom prst="rect">
            <a:avLst/>
          </a:prstGeom>
          <a:noFill/>
        </p:spPr>
        <p:txBody>
          <a:bodyPr wrap="square" lIns="36576" rIns="36576" tIns="18288" bIns="18288" anchor="t">
            <a:spAutoFit/>
          </a:bodyPr>
          <a:lstStyle/>
          <a:p>
            <a:pPr algn="l"/>
            <a:r>
              <a:rPr sz="1050" b="0" i="0">
                <a:solidFill>
                  <a:srgbClr val="1F2937"/>
                </a:solidFill>
                <a:latin typeface="Calibri"/>
              </a:rPr>
              <a:t>operator</a:t>
            </a:r>
          </a:p>
        </p:txBody>
      </p:sp>
      <p:sp>
        <p:nvSpPr>
          <p:cNvPr id="31" name="TextBox 30"/>
          <p:cNvSpPr txBox="1"/>
          <p:nvPr/>
        </p:nvSpPr>
        <p:spPr>
          <a:xfrm>
            <a:off x="10908792" y="2432303"/>
            <a:ext cx="850392" cy="352044"/>
          </a:xfrm>
          <a:prstGeom prst="rect">
            <a:avLst/>
          </a:prstGeom>
          <a:noFill/>
        </p:spPr>
        <p:txBody>
          <a:bodyPr wrap="square" lIns="36576" rIns="36576" tIns="18288" bIns="18288" anchor="t">
            <a:spAutoFit/>
          </a:bodyPr>
          <a:lstStyle/>
          <a:p>
            <a:pPr algn="l"/>
            <a:r>
              <a:rPr sz="1050" b="1" i="0">
                <a:solidFill>
                  <a:srgbClr val="EA580C"/>
                </a:solidFill>
                <a:latin typeface="Calibri"/>
              </a:rPr>
              <a:t>yes</a:t>
            </a:r>
          </a:p>
        </p:txBody>
      </p:sp>
      <p:sp>
        <p:nvSpPr>
          <p:cNvPr id="32" name="Rectangle 31"/>
          <p:cNvSpPr/>
          <p:nvPr/>
        </p:nvSpPr>
        <p:spPr>
          <a:xfrm>
            <a:off x="411480" y="2793491"/>
            <a:ext cx="11384280" cy="4069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84632" y="2839211"/>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Deploy the model</a:t>
            </a:r>
          </a:p>
        </p:txBody>
      </p:sp>
      <p:sp>
        <p:nvSpPr>
          <p:cNvPr id="34" name="TextBox 33"/>
          <p:cNvSpPr txBox="1"/>
          <p:nvPr/>
        </p:nvSpPr>
        <p:spPr>
          <a:xfrm>
            <a:off x="2770632" y="2839211"/>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Re-render from lab.conf, terraform apply, push providers and VyOS, seed Nautobot, compare.</a:t>
            </a:r>
          </a:p>
        </p:txBody>
      </p:sp>
      <p:sp>
        <p:nvSpPr>
          <p:cNvPr id="35" name="TextBox 34"/>
          <p:cNvSpPr txBox="1"/>
          <p:nvPr/>
        </p:nvSpPr>
        <p:spPr>
          <a:xfrm>
            <a:off x="8714232" y="2839211"/>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~4 min</a:t>
            </a:r>
          </a:p>
        </p:txBody>
      </p:sp>
      <p:sp>
        <p:nvSpPr>
          <p:cNvPr id="36" name="TextBox 35"/>
          <p:cNvSpPr txBox="1"/>
          <p:nvPr/>
        </p:nvSpPr>
        <p:spPr>
          <a:xfrm>
            <a:off x="9857232" y="2839211"/>
            <a:ext cx="896112" cy="352044"/>
          </a:xfrm>
          <a:prstGeom prst="rect">
            <a:avLst/>
          </a:prstGeom>
          <a:noFill/>
        </p:spPr>
        <p:txBody>
          <a:bodyPr wrap="square" lIns="36576" rIns="36576" tIns="18288" bIns="18288" anchor="t">
            <a:spAutoFit/>
          </a:bodyPr>
          <a:lstStyle/>
          <a:p>
            <a:pPr algn="l"/>
            <a:r>
              <a:rPr sz="1050" b="0" i="0">
                <a:solidFill>
                  <a:srgbClr val="1F2937"/>
                </a:solidFill>
                <a:latin typeface="Calibri"/>
              </a:rPr>
              <a:t>operator</a:t>
            </a:r>
          </a:p>
        </p:txBody>
      </p:sp>
      <p:sp>
        <p:nvSpPr>
          <p:cNvPr id="37" name="TextBox 36"/>
          <p:cNvSpPr txBox="1"/>
          <p:nvPr/>
        </p:nvSpPr>
        <p:spPr>
          <a:xfrm>
            <a:off x="10908792" y="2839211"/>
            <a:ext cx="850392" cy="352044"/>
          </a:xfrm>
          <a:prstGeom prst="rect">
            <a:avLst/>
          </a:prstGeom>
          <a:noFill/>
        </p:spPr>
        <p:txBody>
          <a:bodyPr wrap="square" lIns="36576" rIns="36576" tIns="18288" bIns="18288" anchor="t">
            <a:spAutoFit/>
          </a:bodyPr>
          <a:lstStyle/>
          <a:p>
            <a:pPr algn="l"/>
            <a:r>
              <a:rPr sz="1050" b="1" i="0">
                <a:solidFill>
                  <a:srgbClr val="EA580C"/>
                </a:solidFill>
                <a:latin typeface="Calibri"/>
              </a:rPr>
              <a:t>yes</a:t>
            </a:r>
          </a:p>
        </p:txBody>
      </p:sp>
      <p:sp>
        <p:nvSpPr>
          <p:cNvPr id="38" name="Rectangle 37"/>
          <p:cNvSpPr/>
          <p:nvPr/>
        </p:nvSpPr>
        <p:spPr>
          <a:xfrm>
            <a:off x="411480" y="3200399"/>
            <a:ext cx="11384280" cy="40690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84632" y="3246119"/>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Dry run</a:t>
            </a:r>
          </a:p>
        </p:txBody>
      </p:sp>
      <p:sp>
        <p:nvSpPr>
          <p:cNvPr id="40" name="TextBox 39"/>
          <p:cNvSpPr txBox="1"/>
          <p:nvPr/>
        </p:nvSpPr>
        <p:spPr>
          <a:xfrm>
            <a:off x="2770632" y="3246119"/>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terraform plan and Nautobot's rendering compared with lab.conf. Changes nothing.</a:t>
            </a:r>
          </a:p>
        </p:txBody>
      </p:sp>
      <p:sp>
        <p:nvSpPr>
          <p:cNvPr id="41" name="TextBox 40"/>
          <p:cNvSpPr txBox="1"/>
          <p:nvPr/>
        </p:nvSpPr>
        <p:spPr>
          <a:xfrm>
            <a:off x="8714232" y="3246119"/>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read only</a:t>
            </a:r>
          </a:p>
        </p:txBody>
      </p:sp>
      <p:sp>
        <p:nvSpPr>
          <p:cNvPr id="42" name="TextBox 41"/>
          <p:cNvSpPr txBox="1"/>
          <p:nvPr/>
        </p:nvSpPr>
        <p:spPr>
          <a:xfrm>
            <a:off x="9857232" y="3246119"/>
            <a:ext cx="896112" cy="352044"/>
          </a:xfrm>
          <a:prstGeom prst="rect">
            <a:avLst/>
          </a:prstGeom>
          <a:noFill/>
        </p:spPr>
        <p:txBody>
          <a:bodyPr wrap="square" lIns="36576" rIns="36576" tIns="18288" bIns="18288" anchor="t">
            <a:spAutoFit/>
          </a:bodyPr>
          <a:lstStyle/>
          <a:p>
            <a:pPr algn="l"/>
            <a:r>
              <a:rPr sz="1050" b="0" i="0">
                <a:solidFill>
                  <a:srgbClr val="1F2937"/>
                </a:solidFill>
                <a:latin typeface="Calibri"/>
              </a:rPr>
              <a:t>operator</a:t>
            </a:r>
          </a:p>
        </p:txBody>
      </p:sp>
      <p:sp>
        <p:nvSpPr>
          <p:cNvPr id="43" name="TextBox 42"/>
          <p:cNvSpPr txBox="1"/>
          <p:nvPr/>
        </p:nvSpPr>
        <p:spPr>
          <a:xfrm>
            <a:off x="10908792" y="3246119"/>
            <a:ext cx="850392" cy="352044"/>
          </a:xfrm>
          <a:prstGeom prst="rect">
            <a:avLst/>
          </a:prstGeom>
          <a:noFill/>
        </p:spPr>
        <p:txBody>
          <a:bodyPr wrap="square" lIns="36576" rIns="36576" tIns="18288" bIns="18288" anchor="t">
            <a:spAutoFit/>
          </a:bodyPr>
          <a:lstStyle/>
          <a:p>
            <a:pPr algn="l"/>
            <a:r>
              <a:rPr sz="1050" b="0" i="0">
                <a:solidFill>
                  <a:srgbClr val="1F2937"/>
                </a:solidFill>
                <a:latin typeface="Calibri"/>
              </a:rPr>
              <a:t>no</a:t>
            </a:r>
          </a:p>
        </p:txBody>
      </p:sp>
      <p:sp>
        <p:nvSpPr>
          <p:cNvPr id="44" name="Rectangle 43"/>
          <p:cNvSpPr/>
          <p:nvPr/>
        </p:nvSpPr>
        <p:spPr>
          <a:xfrm>
            <a:off x="411480" y="3607307"/>
            <a:ext cx="11384280" cy="4069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4632" y="3653027"/>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Check for drift</a:t>
            </a:r>
          </a:p>
        </p:txBody>
      </p:sp>
      <p:sp>
        <p:nvSpPr>
          <p:cNvPr id="46" name="TextBox 45"/>
          <p:cNvSpPr txBox="1"/>
          <p:nvPr/>
        </p:nvSpPr>
        <p:spPr>
          <a:xfrm>
            <a:off x="2770632" y="3653027"/>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Every router's running configuration compared with the model.</a:t>
            </a:r>
          </a:p>
        </p:txBody>
      </p:sp>
      <p:sp>
        <p:nvSpPr>
          <p:cNvPr id="47" name="TextBox 46"/>
          <p:cNvSpPr txBox="1"/>
          <p:nvPr/>
        </p:nvSpPr>
        <p:spPr>
          <a:xfrm>
            <a:off x="8714232" y="3653027"/>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1–2 min</a:t>
            </a:r>
          </a:p>
        </p:txBody>
      </p:sp>
      <p:sp>
        <p:nvSpPr>
          <p:cNvPr id="48" name="TextBox 47"/>
          <p:cNvSpPr txBox="1"/>
          <p:nvPr/>
        </p:nvSpPr>
        <p:spPr>
          <a:xfrm>
            <a:off x="9857232" y="3653027"/>
            <a:ext cx="896112" cy="352044"/>
          </a:xfrm>
          <a:prstGeom prst="rect">
            <a:avLst/>
          </a:prstGeom>
          <a:noFill/>
        </p:spPr>
        <p:txBody>
          <a:bodyPr wrap="square" lIns="36576" rIns="36576" tIns="18288" bIns="18288" anchor="t">
            <a:spAutoFit/>
          </a:bodyPr>
          <a:lstStyle/>
          <a:p>
            <a:pPr algn="l"/>
            <a:r>
              <a:rPr sz="1050" b="0" i="0">
                <a:solidFill>
                  <a:srgbClr val="1F2937"/>
                </a:solidFill>
                <a:latin typeface="Calibri"/>
              </a:rPr>
              <a:t>operator</a:t>
            </a:r>
          </a:p>
        </p:txBody>
      </p:sp>
      <p:sp>
        <p:nvSpPr>
          <p:cNvPr id="49" name="TextBox 48"/>
          <p:cNvSpPr txBox="1"/>
          <p:nvPr/>
        </p:nvSpPr>
        <p:spPr>
          <a:xfrm>
            <a:off x="10908792" y="3653027"/>
            <a:ext cx="850392" cy="352044"/>
          </a:xfrm>
          <a:prstGeom prst="rect">
            <a:avLst/>
          </a:prstGeom>
          <a:noFill/>
        </p:spPr>
        <p:txBody>
          <a:bodyPr wrap="square" lIns="36576" rIns="36576" tIns="18288" bIns="18288" anchor="t">
            <a:spAutoFit/>
          </a:bodyPr>
          <a:lstStyle/>
          <a:p>
            <a:pPr algn="l"/>
            <a:r>
              <a:rPr sz="1050" b="0" i="0">
                <a:solidFill>
                  <a:srgbClr val="1F2937"/>
                </a:solidFill>
                <a:latin typeface="Calibri"/>
              </a:rPr>
              <a:t>no</a:t>
            </a:r>
          </a:p>
        </p:txBody>
      </p:sp>
      <p:sp>
        <p:nvSpPr>
          <p:cNvPr id="50" name="Rectangle 49"/>
          <p:cNvSpPr/>
          <p:nvPr/>
        </p:nvSpPr>
        <p:spPr>
          <a:xfrm>
            <a:off x="411480" y="4014215"/>
            <a:ext cx="11384280" cy="40690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84632" y="4059935"/>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Fix drift</a:t>
            </a:r>
          </a:p>
        </p:txBody>
      </p:sp>
      <p:sp>
        <p:nvSpPr>
          <p:cNvPr id="52" name="TextBox 51"/>
          <p:cNvSpPr txBox="1"/>
          <p:nvPr/>
        </p:nvSpPr>
        <p:spPr>
          <a:xfrm>
            <a:off x="2770632" y="4059935"/>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Put every router back to the model, then check again.</a:t>
            </a:r>
          </a:p>
        </p:txBody>
      </p:sp>
      <p:sp>
        <p:nvSpPr>
          <p:cNvPr id="53" name="TextBox 52"/>
          <p:cNvSpPr txBox="1"/>
          <p:nvPr/>
        </p:nvSpPr>
        <p:spPr>
          <a:xfrm>
            <a:off x="8714232" y="4059935"/>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a few min</a:t>
            </a:r>
          </a:p>
        </p:txBody>
      </p:sp>
      <p:sp>
        <p:nvSpPr>
          <p:cNvPr id="54" name="TextBox 53"/>
          <p:cNvSpPr txBox="1"/>
          <p:nvPr/>
        </p:nvSpPr>
        <p:spPr>
          <a:xfrm>
            <a:off x="9857232" y="4059935"/>
            <a:ext cx="896112" cy="352044"/>
          </a:xfrm>
          <a:prstGeom prst="rect">
            <a:avLst/>
          </a:prstGeom>
          <a:noFill/>
        </p:spPr>
        <p:txBody>
          <a:bodyPr wrap="square" lIns="36576" rIns="36576" tIns="18288" bIns="18288" anchor="t">
            <a:spAutoFit/>
          </a:bodyPr>
          <a:lstStyle/>
          <a:p>
            <a:pPr algn="l"/>
            <a:r>
              <a:rPr sz="1050" b="0" i="0">
                <a:solidFill>
                  <a:srgbClr val="1F2937"/>
                </a:solidFill>
                <a:latin typeface="Calibri"/>
              </a:rPr>
              <a:t>operator</a:t>
            </a:r>
          </a:p>
        </p:txBody>
      </p:sp>
      <p:sp>
        <p:nvSpPr>
          <p:cNvPr id="55" name="TextBox 54"/>
          <p:cNvSpPr txBox="1"/>
          <p:nvPr/>
        </p:nvSpPr>
        <p:spPr>
          <a:xfrm>
            <a:off x="10908792" y="4059935"/>
            <a:ext cx="850392" cy="352044"/>
          </a:xfrm>
          <a:prstGeom prst="rect">
            <a:avLst/>
          </a:prstGeom>
          <a:noFill/>
        </p:spPr>
        <p:txBody>
          <a:bodyPr wrap="square" lIns="36576" rIns="36576" tIns="18288" bIns="18288" anchor="t">
            <a:spAutoFit/>
          </a:bodyPr>
          <a:lstStyle/>
          <a:p>
            <a:pPr algn="l"/>
            <a:r>
              <a:rPr sz="1050" b="1" i="0">
                <a:solidFill>
                  <a:srgbClr val="EA580C"/>
                </a:solidFill>
                <a:latin typeface="Calibri"/>
              </a:rPr>
              <a:t>yes</a:t>
            </a:r>
          </a:p>
        </p:txBody>
      </p:sp>
      <p:sp>
        <p:nvSpPr>
          <p:cNvPr id="56" name="Rectangle 55"/>
          <p:cNvSpPr/>
          <p:nvPr/>
        </p:nvSpPr>
        <p:spPr>
          <a:xfrm>
            <a:off x="411480" y="4421124"/>
            <a:ext cx="11384280" cy="4069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84632" y="4466844"/>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Back up the lab</a:t>
            </a:r>
          </a:p>
        </p:txBody>
      </p:sp>
      <p:sp>
        <p:nvSpPr>
          <p:cNvPr id="58" name="TextBox 57"/>
          <p:cNvSpPr txBox="1"/>
          <p:nvPr/>
        </p:nvSpPr>
        <p:spPr>
          <a:xfrm>
            <a:off x="2770632" y="4466844"/>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One .tar.gz: lab.conf, customers, renders, Nautobot, running configs, Terraform state.</a:t>
            </a:r>
          </a:p>
        </p:txBody>
      </p:sp>
      <p:sp>
        <p:nvSpPr>
          <p:cNvPr id="59" name="TextBox 58"/>
          <p:cNvSpPr txBox="1"/>
          <p:nvPr/>
        </p:nvSpPr>
        <p:spPr>
          <a:xfrm>
            <a:off x="8714232" y="4466844"/>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~30 s</a:t>
            </a:r>
          </a:p>
        </p:txBody>
      </p:sp>
      <p:sp>
        <p:nvSpPr>
          <p:cNvPr id="60" name="TextBox 59"/>
          <p:cNvSpPr txBox="1"/>
          <p:nvPr/>
        </p:nvSpPr>
        <p:spPr>
          <a:xfrm>
            <a:off x="9857232" y="4466844"/>
            <a:ext cx="896112" cy="352044"/>
          </a:xfrm>
          <a:prstGeom prst="rect">
            <a:avLst/>
          </a:prstGeom>
          <a:noFill/>
        </p:spPr>
        <p:txBody>
          <a:bodyPr wrap="square" lIns="36576" rIns="36576" tIns="18288" bIns="18288" anchor="t">
            <a:spAutoFit/>
          </a:bodyPr>
          <a:lstStyle/>
          <a:p>
            <a:pPr algn="l"/>
            <a:r>
              <a:rPr sz="1050" b="0" i="0">
                <a:solidFill>
                  <a:srgbClr val="1F2937"/>
                </a:solidFill>
                <a:latin typeface="Calibri"/>
              </a:rPr>
              <a:t>operator</a:t>
            </a:r>
          </a:p>
        </p:txBody>
      </p:sp>
      <p:sp>
        <p:nvSpPr>
          <p:cNvPr id="61" name="TextBox 60"/>
          <p:cNvSpPr txBox="1"/>
          <p:nvPr/>
        </p:nvSpPr>
        <p:spPr>
          <a:xfrm>
            <a:off x="10908792" y="4466844"/>
            <a:ext cx="850392" cy="352044"/>
          </a:xfrm>
          <a:prstGeom prst="rect">
            <a:avLst/>
          </a:prstGeom>
          <a:noFill/>
        </p:spPr>
        <p:txBody>
          <a:bodyPr wrap="square" lIns="36576" rIns="36576" tIns="18288" bIns="18288" anchor="t">
            <a:spAutoFit/>
          </a:bodyPr>
          <a:lstStyle/>
          <a:p>
            <a:pPr algn="l"/>
            <a:r>
              <a:rPr sz="1050" b="0" i="0">
                <a:solidFill>
                  <a:srgbClr val="1F2937"/>
                </a:solidFill>
                <a:latin typeface="Calibri"/>
              </a:rPr>
              <a:t>no</a:t>
            </a:r>
          </a:p>
        </p:txBody>
      </p:sp>
      <p:sp>
        <p:nvSpPr>
          <p:cNvPr id="62" name="Rectangle 61"/>
          <p:cNvSpPr/>
          <p:nvPr/>
        </p:nvSpPr>
        <p:spPr>
          <a:xfrm>
            <a:off x="411480" y="4828032"/>
            <a:ext cx="11384280" cy="40690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84632" y="4873752"/>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Restore from a backup</a:t>
            </a:r>
          </a:p>
        </p:txBody>
      </p:sp>
      <p:sp>
        <p:nvSpPr>
          <p:cNvPr id="64" name="TextBox 63"/>
          <p:cNvSpPr txBox="1"/>
          <p:nvPr/>
        </p:nvSpPr>
        <p:spPr>
          <a:xfrm>
            <a:off x="2770632" y="4873752"/>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Upload, see exactly what would change, then rebuild the lab to it.</a:t>
            </a:r>
          </a:p>
        </p:txBody>
      </p:sp>
      <p:sp>
        <p:nvSpPr>
          <p:cNvPr id="65" name="TextBox 64"/>
          <p:cNvSpPr txBox="1"/>
          <p:nvPr/>
        </p:nvSpPr>
        <p:spPr>
          <a:xfrm>
            <a:off x="8714232" y="4873752"/>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varies</a:t>
            </a:r>
          </a:p>
        </p:txBody>
      </p:sp>
      <p:sp>
        <p:nvSpPr>
          <p:cNvPr id="66" name="TextBox 65"/>
          <p:cNvSpPr txBox="1"/>
          <p:nvPr/>
        </p:nvSpPr>
        <p:spPr>
          <a:xfrm>
            <a:off x="9857232" y="4873752"/>
            <a:ext cx="896112" cy="352044"/>
          </a:xfrm>
          <a:prstGeom prst="rect">
            <a:avLst/>
          </a:prstGeom>
          <a:noFill/>
        </p:spPr>
        <p:txBody>
          <a:bodyPr wrap="square" lIns="36576" rIns="36576" tIns="18288" bIns="18288" anchor="t">
            <a:spAutoFit/>
          </a:bodyPr>
          <a:lstStyle/>
          <a:p>
            <a:pPr algn="l"/>
            <a:r>
              <a:rPr sz="1050" b="0" i="0">
                <a:solidFill>
                  <a:srgbClr val="1F2937"/>
                </a:solidFill>
                <a:latin typeface="Calibri"/>
              </a:rPr>
              <a:t>operator</a:t>
            </a:r>
          </a:p>
        </p:txBody>
      </p:sp>
      <p:sp>
        <p:nvSpPr>
          <p:cNvPr id="67" name="TextBox 66"/>
          <p:cNvSpPr txBox="1"/>
          <p:nvPr/>
        </p:nvSpPr>
        <p:spPr>
          <a:xfrm>
            <a:off x="10908792" y="4873752"/>
            <a:ext cx="850392" cy="352044"/>
          </a:xfrm>
          <a:prstGeom prst="rect">
            <a:avLst/>
          </a:prstGeom>
          <a:noFill/>
        </p:spPr>
        <p:txBody>
          <a:bodyPr wrap="square" lIns="36576" rIns="36576" tIns="18288" bIns="18288" anchor="t">
            <a:spAutoFit/>
          </a:bodyPr>
          <a:lstStyle/>
          <a:p>
            <a:pPr algn="l"/>
            <a:r>
              <a:rPr sz="1050" b="1" i="0">
                <a:solidFill>
                  <a:srgbClr val="EA580C"/>
                </a:solidFill>
                <a:latin typeface="Calibri"/>
              </a:rPr>
              <a:t>yes</a:t>
            </a:r>
          </a:p>
        </p:txBody>
      </p:sp>
      <p:sp>
        <p:nvSpPr>
          <p:cNvPr id="68" name="Rectangle 67"/>
          <p:cNvSpPr/>
          <p:nvPr/>
        </p:nvSpPr>
        <p:spPr>
          <a:xfrm>
            <a:off x="411480" y="5234940"/>
            <a:ext cx="11384280" cy="4069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84632" y="5280660"/>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Rotate the pre-shared key</a:t>
            </a:r>
          </a:p>
        </p:txBody>
      </p:sp>
      <p:sp>
        <p:nvSpPr>
          <p:cNvPr id="70" name="TextBox 69"/>
          <p:cNvSpPr txBox="1"/>
          <p:nvPr/>
        </p:nvSpPr>
        <p:spPr>
          <a:xfrm>
            <a:off x="2770632" y="5280660"/>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A random 40-character key on every router; every IKE session re-made and verified.</a:t>
            </a:r>
          </a:p>
        </p:txBody>
      </p:sp>
      <p:sp>
        <p:nvSpPr>
          <p:cNvPr id="71" name="TextBox 70"/>
          <p:cNvSpPr txBox="1"/>
          <p:nvPr/>
        </p:nvSpPr>
        <p:spPr>
          <a:xfrm>
            <a:off x="8714232" y="5280660"/>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~7 min</a:t>
            </a:r>
          </a:p>
        </p:txBody>
      </p:sp>
      <p:sp>
        <p:nvSpPr>
          <p:cNvPr id="72" name="TextBox 71"/>
          <p:cNvSpPr txBox="1"/>
          <p:nvPr/>
        </p:nvSpPr>
        <p:spPr>
          <a:xfrm>
            <a:off x="9857232" y="5280660"/>
            <a:ext cx="896112" cy="352044"/>
          </a:xfrm>
          <a:prstGeom prst="rect">
            <a:avLst/>
          </a:prstGeom>
          <a:noFill/>
        </p:spPr>
        <p:txBody>
          <a:bodyPr wrap="square" lIns="36576" rIns="36576" tIns="18288" bIns="18288" anchor="t">
            <a:spAutoFit/>
          </a:bodyPr>
          <a:lstStyle/>
          <a:p>
            <a:pPr algn="l"/>
            <a:r>
              <a:rPr sz="1050" b="1" i="0">
                <a:solidFill>
                  <a:srgbClr val="EA580C"/>
                </a:solidFill>
                <a:latin typeface="Calibri"/>
              </a:rPr>
              <a:t>admin</a:t>
            </a:r>
          </a:p>
        </p:txBody>
      </p:sp>
      <p:sp>
        <p:nvSpPr>
          <p:cNvPr id="73" name="TextBox 72"/>
          <p:cNvSpPr txBox="1"/>
          <p:nvPr/>
        </p:nvSpPr>
        <p:spPr>
          <a:xfrm>
            <a:off x="10908792" y="5280660"/>
            <a:ext cx="850392" cy="352044"/>
          </a:xfrm>
          <a:prstGeom prst="rect">
            <a:avLst/>
          </a:prstGeom>
          <a:noFill/>
        </p:spPr>
        <p:txBody>
          <a:bodyPr wrap="square" lIns="36576" rIns="36576" tIns="18288" bIns="18288" anchor="t">
            <a:spAutoFit/>
          </a:bodyPr>
          <a:lstStyle/>
          <a:p>
            <a:pPr algn="l"/>
            <a:r>
              <a:rPr sz="1050" b="1" i="0">
                <a:solidFill>
                  <a:srgbClr val="EA580C"/>
                </a:solidFill>
                <a:latin typeface="Calibri"/>
              </a:rPr>
              <a:t>yes</a:t>
            </a:r>
          </a:p>
        </p:txBody>
      </p:sp>
      <p:sp>
        <p:nvSpPr>
          <p:cNvPr id="74" name="Rectangle 73"/>
          <p:cNvSpPr/>
          <p:nvPr/>
        </p:nvSpPr>
        <p:spPr>
          <a:xfrm>
            <a:off x="411480" y="5641848"/>
            <a:ext cx="11384280" cy="40690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84632" y="5687568"/>
            <a:ext cx="2130552" cy="352044"/>
          </a:xfrm>
          <a:prstGeom prst="rect">
            <a:avLst/>
          </a:prstGeom>
          <a:noFill/>
        </p:spPr>
        <p:txBody>
          <a:bodyPr wrap="square" lIns="36576" rIns="36576" tIns="18288" bIns="18288" anchor="t">
            <a:spAutoFit/>
          </a:bodyPr>
          <a:lstStyle/>
          <a:p>
            <a:pPr algn="l"/>
            <a:r>
              <a:rPr sz="1200" b="1" i="0">
                <a:solidFill>
                  <a:srgbClr val="0B1B2E"/>
                </a:solidFill>
                <a:latin typeface="Calibri"/>
              </a:rPr>
              <a:t>Run the tests</a:t>
            </a:r>
          </a:p>
        </p:txBody>
      </p:sp>
      <p:sp>
        <p:nvSpPr>
          <p:cNvPr id="76" name="TextBox 75"/>
          <p:cNvSpPr txBox="1"/>
          <p:nvPr/>
        </p:nvSpPr>
        <p:spPr>
          <a:xfrm>
            <a:off x="2770632" y="5687568"/>
            <a:ext cx="5788152" cy="352044"/>
          </a:xfrm>
          <a:prstGeom prst="rect">
            <a:avLst/>
          </a:prstGeom>
          <a:noFill/>
        </p:spPr>
        <p:txBody>
          <a:bodyPr wrap="square" lIns="36576" rIns="36576" tIns="18288" bIns="18288" anchor="t">
            <a:spAutoFit/>
          </a:bodyPr>
          <a:lstStyle/>
          <a:p>
            <a:pPr algn="l"/>
            <a:r>
              <a:rPr sz="1050" b="0" i="0">
                <a:solidFill>
                  <a:srgbClr val="1F2937"/>
                </a:solidFill>
                <a:latin typeface="Calibri"/>
              </a:rPr>
              <a:t>The Robot Framework suites against the live lab, with the evidence kept.</a:t>
            </a:r>
          </a:p>
        </p:txBody>
      </p:sp>
      <p:sp>
        <p:nvSpPr>
          <p:cNvPr id="77" name="TextBox 76"/>
          <p:cNvSpPr txBox="1"/>
          <p:nvPr/>
        </p:nvSpPr>
        <p:spPr>
          <a:xfrm>
            <a:off x="8714232" y="5687568"/>
            <a:ext cx="987552" cy="352044"/>
          </a:xfrm>
          <a:prstGeom prst="rect">
            <a:avLst/>
          </a:prstGeom>
          <a:noFill/>
        </p:spPr>
        <p:txBody>
          <a:bodyPr wrap="square" lIns="36576" rIns="36576" tIns="18288" bIns="18288" anchor="t">
            <a:spAutoFit/>
          </a:bodyPr>
          <a:lstStyle/>
          <a:p>
            <a:pPr algn="l"/>
            <a:r>
              <a:rPr sz="1050" b="0" i="0">
                <a:solidFill>
                  <a:srgbClr val="1F2937"/>
                </a:solidFill>
                <a:latin typeface="Calibri"/>
              </a:rPr>
              <a:t>~10 min</a:t>
            </a:r>
          </a:p>
        </p:txBody>
      </p:sp>
      <p:sp>
        <p:nvSpPr>
          <p:cNvPr id="78" name="TextBox 77"/>
          <p:cNvSpPr txBox="1"/>
          <p:nvPr/>
        </p:nvSpPr>
        <p:spPr>
          <a:xfrm>
            <a:off x="9857232" y="5687568"/>
            <a:ext cx="896112" cy="352044"/>
          </a:xfrm>
          <a:prstGeom prst="rect">
            <a:avLst/>
          </a:prstGeom>
          <a:noFill/>
        </p:spPr>
        <p:txBody>
          <a:bodyPr wrap="square" lIns="36576" rIns="36576" tIns="18288" bIns="18288" anchor="t">
            <a:spAutoFit/>
          </a:bodyPr>
          <a:lstStyle/>
          <a:p>
            <a:pPr algn="l"/>
            <a:r>
              <a:rPr sz="1050" b="0" i="0">
                <a:solidFill>
                  <a:srgbClr val="1F2937"/>
                </a:solidFill>
                <a:latin typeface="Calibri"/>
              </a:rPr>
              <a:t>operator</a:t>
            </a:r>
          </a:p>
        </p:txBody>
      </p:sp>
      <p:sp>
        <p:nvSpPr>
          <p:cNvPr id="79" name="TextBox 78"/>
          <p:cNvSpPr txBox="1"/>
          <p:nvPr/>
        </p:nvSpPr>
        <p:spPr>
          <a:xfrm>
            <a:off x="10908792" y="5687568"/>
            <a:ext cx="850392" cy="352044"/>
          </a:xfrm>
          <a:prstGeom prst="rect">
            <a:avLst/>
          </a:prstGeom>
          <a:noFill/>
        </p:spPr>
        <p:txBody>
          <a:bodyPr wrap="square" lIns="36576" rIns="36576" tIns="18288" bIns="18288" anchor="t">
            <a:spAutoFit/>
          </a:bodyPr>
          <a:lstStyle/>
          <a:p>
            <a:pPr algn="l"/>
            <a:r>
              <a:rPr sz="1050" b="0" i="0">
                <a:solidFill>
                  <a:srgbClr val="1F2937"/>
                </a:solidFill>
                <a:latin typeface="Calibri"/>
              </a:rPr>
              <a:t>no</a:t>
            </a:r>
          </a:p>
        </p:txBody>
      </p:sp>
      <p:sp>
        <p:nvSpPr>
          <p:cNvPr id="80" name="TextBox 79"/>
          <p:cNvSpPr txBox="1"/>
          <p:nvPr/>
        </p:nvSpPr>
        <p:spPr>
          <a:xfrm>
            <a:off x="411480" y="6158484"/>
            <a:ext cx="11338560" cy="365760"/>
          </a:xfrm>
          <a:prstGeom prst="rect">
            <a:avLst/>
          </a:prstGeom>
          <a:noFill/>
        </p:spPr>
        <p:txBody>
          <a:bodyPr wrap="square" lIns="36576" rIns="36576" tIns="18288" bIns="18288" anchor="t">
            <a:spAutoFit/>
          </a:bodyPr>
          <a:lstStyle/>
          <a:p>
            <a:pPr algn="l"/>
            <a:r>
              <a:rPr sz="1100" b="0" i="0">
                <a:solidFill>
                  <a:srgbClr val="5B6778"/>
                </a:solidFill>
                <a:latin typeface="Calibri"/>
              </a:rPr>
              <a:t>Approval follows the change policy (Jobs → Change policy…): four eyes, optional change windows, emergencies with a reason. Viewers and customers never start a job.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PROVISION IN DEPTH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Add a customer: everything allocated for you</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19</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0_add.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2234707" y="1805593"/>
            <a:ext cx="1460823" cy="200025"/>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79259" y="165014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3681529" y="1805593"/>
            <a:ext cx="1460901" cy="200025"/>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526081" y="165014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5128428" y="1703628"/>
            <a:ext cx="1460823" cy="301990"/>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972980" y="154818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2234707" y="2112585"/>
            <a:ext cx="1099137" cy="197837"/>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079259" y="195713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Rounded Rectangle 17"/>
          <p:cNvSpPr/>
          <p:nvPr/>
        </p:nvSpPr>
        <p:spPr>
          <a:xfrm>
            <a:off x="2234707" y="2417389"/>
            <a:ext cx="1099137" cy="197837"/>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079259" y="226194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5</a:t>
            </a:r>
          </a:p>
        </p:txBody>
      </p:sp>
      <p:sp>
        <p:nvSpPr>
          <p:cNvPr id="20" name="Rounded Rectangle 19"/>
          <p:cNvSpPr/>
          <p:nvPr/>
        </p:nvSpPr>
        <p:spPr>
          <a:xfrm>
            <a:off x="2234707" y="2878696"/>
            <a:ext cx="1460823" cy="197837"/>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079259" y="2723248"/>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6</a:t>
            </a:r>
          </a:p>
        </p:txBody>
      </p:sp>
      <p:sp>
        <p:nvSpPr>
          <p:cNvPr id="22" name="Oval 21"/>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23" name="TextBox 22"/>
          <p:cNvSpPr txBox="1"/>
          <p:nvPr/>
        </p:nvSpPr>
        <p:spPr>
          <a:xfrm>
            <a:off x="9070848" y="1170432"/>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Router type</a:t>
            </a:r>
          </a:p>
          <a:p>
            <a:pPr algn="l"/>
            <a:r>
              <a:rPr sz="1150" b="0" i="0">
                <a:solidFill>
                  <a:srgbClr val="1F2937"/>
                </a:solidFill>
                <a:latin typeface="Calibri"/>
              </a:rPr>
              <a:t>Catalyst 8000v (NAC) or VyOS.</a:t>
            </a:r>
          </a:p>
        </p:txBody>
      </p:sp>
      <p:sp>
        <p:nvSpPr>
          <p:cNvPr id="24" name="Oval 23"/>
          <p:cNvSpPr/>
          <p:nvPr/>
        </p:nvSpPr>
        <p:spPr>
          <a:xfrm>
            <a:off x="8686800" y="18486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5" name="TextBox 24"/>
          <p:cNvSpPr txBox="1"/>
          <p:nvPr/>
        </p:nvSpPr>
        <p:spPr>
          <a:xfrm>
            <a:off x="9070848" y="1812112"/>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Preferred hub</a:t>
            </a:r>
          </a:p>
          <a:p>
            <a:pPr algn="l"/>
            <a:r>
              <a:rPr sz="1150" b="0" i="0">
                <a:solidFill>
                  <a:srgbClr val="1F2937"/>
                </a:solidFill>
                <a:latin typeface="Calibri"/>
              </a:rPr>
              <a:t>Or none: any hub.</a:t>
            </a:r>
          </a:p>
        </p:txBody>
      </p:sp>
      <p:sp>
        <p:nvSpPr>
          <p:cNvPr id="26" name="Oval 25"/>
          <p:cNvSpPr/>
          <p:nvPr/>
        </p:nvSpPr>
        <p:spPr>
          <a:xfrm>
            <a:off x="8686800" y="249036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7" name="TextBox 26"/>
          <p:cNvSpPr txBox="1"/>
          <p:nvPr/>
        </p:nvSpPr>
        <p:spPr>
          <a:xfrm>
            <a:off x="9070848" y="2453792"/>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Dual-homed</a:t>
            </a:r>
          </a:p>
          <a:p>
            <a:pPr algn="l"/>
            <a:r>
              <a:rPr sz="1150" b="0" i="0">
                <a:solidFill>
                  <a:srgbClr val="1F2937"/>
                </a:solidFill>
                <a:latin typeface="Calibri"/>
              </a:rPr>
              <a:t>A backup link into mpls2 and cloud 2.</a:t>
            </a:r>
          </a:p>
        </p:txBody>
      </p:sp>
      <p:sp>
        <p:nvSpPr>
          <p:cNvPr id="28" name="Oval 27"/>
          <p:cNvSpPr/>
          <p:nvPr/>
        </p:nvSpPr>
        <p:spPr>
          <a:xfrm>
            <a:off x="8686800" y="313204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9" name="TextBox 28"/>
          <p:cNvSpPr txBox="1"/>
          <p:nvPr/>
        </p:nvSpPr>
        <p:spPr>
          <a:xfrm>
            <a:off x="9070848" y="309547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Name and addresses</a:t>
            </a:r>
          </a:p>
          <a:p>
            <a:pPr algn="l"/>
            <a:r>
              <a:rPr sz="1150" b="0" i="0">
                <a:solidFill>
                  <a:srgbClr val="1F2937"/>
                </a:solidFill>
                <a:latin typeface="Calibri"/>
              </a:rPr>
              <a:t>The next free name, management IP and LAN.</a:t>
            </a:r>
          </a:p>
        </p:txBody>
      </p:sp>
      <p:sp>
        <p:nvSpPr>
          <p:cNvPr id="30" name="Oval 29"/>
          <p:cNvSpPr/>
          <p:nvPr/>
        </p:nvSpPr>
        <p:spPr>
          <a:xfrm>
            <a:off x="8686800" y="39566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5</a:t>
            </a:r>
          </a:p>
        </p:txBody>
      </p:sp>
      <p:sp>
        <p:nvSpPr>
          <p:cNvPr id="31" name="TextBox 30"/>
          <p:cNvSpPr txBox="1"/>
          <p:nvPr/>
        </p:nvSpPr>
        <p:spPr>
          <a:xfrm>
            <a:off x="9070848" y="3920032"/>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Index, port, host</a:t>
            </a:r>
          </a:p>
          <a:p>
            <a:pPr algn="l"/>
            <a:r>
              <a:rPr sz="1150" b="0" i="0">
                <a:solidFill>
                  <a:srgbClr val="1F2937"/>
                </a:solidFill>
                <a:latin typeface="Calibri"/>
              </a:rPr>
              <a:t>Tunnel index, provider port, LAN host.</a:t>
            </a:r>
          </a:p>
        </p:txBody>
      </p:sp>
      <p:sp>
        <p:nvSpPr>
          <p:cNvPr id="32" name="Oval 31"/>
          <p:cNvSpPr/>
          <p:nvPr/>
        </p:nvSpPr>
        <p:spPr>
          <a:xfrm>
            <a:off x="8686800" y="459828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6</a:t>
            </a:r>
          </a:p>
        </p:txBody>
      </p:sp>
      <p:sp>
        <p:nvSpPr>
          <p:cNvPr id="33" name="TextBox 32"/>
          <p:cNvSpPr txBox="1"/>
          <p:nvPr/>
        </p:nvSpPr>
        <p:spPr>
          <a:xfrm>
            <a:off x="9070848" y="4561713"/>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company</a:t>
            </a:r>
          </a:p>
          <a:p>
            <a:pPr algn="l"/>
            <a:r>
              <a:rPr sz="1150" b="0" i="0">
                <a:solidFill>
                  <a:srgbClr val="1F2937"/>
                </a:solidFill>
                <a:latin typeface="Calibri"/>
              </a:rPr>
              <a:t>Pre-filled; goes to Nautobot as a tenant.</a:t>
            </a:r>
          </a:p>
        </p:txBody>
      </p:sp>
      <p:sp>
        <p:nvSpPr>
          <p:cNvPr id="34" name="Rounded Rectangle 33"/>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Nothing to look up or calculate: every address and port is allocated and checked free.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PROVISION IN DEPTH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Add a customer: the plan, before anything runs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20</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1_add_plan.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2234707" y="3307812"/>
            <a:ext cx="4354544" cy="65195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79259" y="315236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2234707" y="3979771"/>
            <a:ext cx="4354544" cy="1437992"/>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079259" y="3824323"/>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2234707" y="5813516"/>
            <a:ext cx="1006157" cy="208776"/>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079259" y="5658068"/>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Oval 15"/>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7" name="TextBox 16"/>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Applications</a:t>
            </a:r>
          </a:p>
          <a:p>
            <a:pPr algn="l"/>
            <a:r>
              <a:rPr sz="1150" b="0" i="0">
                <a:solidFill>
                  <a:srgbClr val="1F2937"/>
                </a:solidFill>
                <a:latin typeface="Calibri"/>
              </a:rPr>
              <a:t>What the customer subscribes to; application checks start for them.</a:t>
            </a:r>
          </a:p>
        </p:txBody>
      </p:sp>
      <p:sp>
        <p:nvSpPr>
          <p:cNvPr id="18" name="Oval 17"/>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9" name="TextBox 18"/>
          <p:cNvSpPr txBox="1"/>
          <p:nvPr/>
        </p:nvSpPr>
        <p:spPr>
          <a:xfrm>
            <a:off x="9070848" y="2048255"/>
            <a:ext cx="2819095" cy="1014984"/>
          </a:xfrm>
          <a:prstGeom prst="rect">
            <a:avLst/>
          </a:prstGeom>
          <a:noFill/>
        </p:spPr>
        <p:txBody>
          <a:bodyPr wrap="square" lIns="36576" rIns="36576" tIns="18288" bIns="18288" anchor="t">
            <a:spAutoFit/>
          </a:bodyPr>
          <a:lstStyle/>
          <a:p>
            <a:pPr algn="l"/>
            <a:r>
              <a:rPr sz="1300" b="1" i="0">
                <a:solidFill>
                  <a:srgbClr val="0B1B2E"/>
                </a:solidFill>
                <a:latin typeface="Calibri"/>
              </a:rPr>
              <a:t>The plan</a:t>
            </a:r>
          </a:p>
          <a:p>
            <a:pPr algn="l"/>
            <a:r>
              <a:rPr sz="1150" b="0" i="0">
                <a:solidFill>
                  <a:srgbClr val="1F2937"/>
                </a:solidFill>
                <a:latin typeface="Calibri"/>
              </a:rPr>
              <a:t>Router, cloud, hub, WAN, LAN, what changes, and the capacity left afterwards. Here, a new VyOS router on both providers, with no hub changes.</a:t>
            </a:r>
          </a:p>
        </p:txBody>
      </p:sp>
      <p:sp>
        <p:nvSpPr>
          <p:cNvPr id="20" name="Oval 19"/>
          <p:cNvSpPr/>
          <p:nvPr/>
        </p:nvSpPr>
        <p:spPr>
          <a:xfrm>
            <a:off x="8686800" y="332841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1" name="TextBox 20"/>
          <p:cNvSpPr txBox="1"/>
          <p:nvPr/>
        </p:nvSpPr>
        <p:spPr>
          <a:xfrm>
            <a:off x="9070848" y="3291840"/>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Provision</a:t>
            </a:r>
          </a:p>
          <a:p>
            <a:pPr algn="l"/>
            <a:r>
              <a:rPr sz="1150" b="0" i="0">
                <a:solidFill>
                  <a:srgbClr val="1F2937"/>
                </a:solidFill>
                <a:latin typeface="Calibri"/>
              </a:rPr>
              <a:t>Starts the job, or files a change request if the policy asks for approval.</a:t>
            </a:r>
          </a:p>
        </p:txBody>
      </p:sp>
      <p:sp>
        <p:nvSpPr>
          <p:cNvPr id="22" name="Rounded Rectangle 21"/>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Onboarding a customer takes one form and about 15 minutes, with the whole impact visible up front.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CHANGE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Modify a customer, with the plan shown first</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21</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0_modify.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2234707" y="2388713"/>
            <a:ext cx="882078" cy="200025"/>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79259" y="223326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3102785" y="2388713"/>
            <a:ext cx="882157" cy="200025"/>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947337" y="223326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3970940" y="2286747"/>
            <a:ext cx="882078" cy="301990"/>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815492" y="2131299"/>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2234707" y="4580081"/>
            <a:ext cx="4354544" cy="654144"/>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079259" y="4424633"/>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Router type</a:t>
            </a:r>
          </a:p>
          <a:p>
            <a:pPr algn="l"/>
            <a:r>
              <a:rPr sz="1150" b="0" i="0">
                <a:solidFill>
                  <a:srgbClr val="1F2937"/>
                </a:solidFill>
                <a:latin typeface="Calibri"/>
              </a:rPr>
              <a:t>Move a customer between C8000v and VyOS.</a:t>
            </a:r>
          </a:p>
        </p:txBody>
      </p:sp>
      <p:sp>
        <p:nvSpPr>
          <p:cNvPr id="20" name="Oval 19"/>
          <p:cNvSpPr/>
          <p:nvPr/>
        </p:nvSpPr>
        <p:spPr>
          <a:xfrm>
            <a:off x="8686800" y="190195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1865376"/>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Preferred hub</a:t>
            </a:r>
          </a:p>
          <a:p>
            <a:pPr algn="l"/>
            <a:r>
              <a:rPr sz="1150" b="0" i="0">
                <a:solidFill>
                  <a:srgbClr val="1F2937"/>
                </a:solidFill>
                <a:latin typeface="Calibri"/>
              </a:rPr>
              <a:t>Pick the hub its traffic should prefer (local-preference 200).</a:t>
            </a:r>
          </a:p>
        </p:txBody>
      </p:sp>
      <p:sp>
        <p:nvSpPr>
          <p:cNvPr id="22" name="Oval 21"/>
          <p:cNvSpPr/>
          <p:nvPr/>
        </p:nvSpPr>
        <p:spPr>
          <a:xfrm>
            <a:off x="8686800" y="277977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743200"/>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Second provider</a:t>
            </a:r>
          </a:p>
          <a:p>
            <a:pPr algn="l"/>
            <a:r>
              <a:rPr sz="1150" b="0" i="0">
                <a:solidFill>
                  <a:srgbClr val="1F2937"/>
                </a:solidFill>
                <a:latin typeface="Calibri"/>
              </a:rPr>
              <a:t>Dual-home the customer onto mpls2 and cloud 2.</a:t>
            </a:r>
          </a:p>
        </p:txBody>
      </p:sp>
      <p:sp>
        <p:nvSpPr>
          <p:cNvPr id="24" name="Oval 23"/>
          <p:cNvSpPr/>
          <p:nvPr/>
        </p:nvSpPr>
        <p:spPr>
          <a:xfrm>
            <a:off x="8686800" y="3657600"/>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621024"/>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plan</a:t>
            </a:r>
          </a:p>
          <a:p>
            <a:pPr algn="l"/>
            <a:r>
              <a:rPr sz="1150" b="0" i="0">
                <a:solidFill>
                  <a:srgbClr val="1F2937"/>
                </a:solidFill>
                <a:latin typeface="Calibri"/>
              </a:rPr>
              <a:t>Exactly what will change on which routers, before anything runs.</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No surprises: the impact is visible and reviewed before a change request is filed.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PROVISION IN DEPTH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Remove a customer, safely</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22</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2_remove.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2234707" y="2150090"/>
            <a:ext cx="4354544" cy="200025"/>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79259" y="199464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2234707" y="3223193"/>
            <a:ext cx="1460823" cy="197837"/>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079259" y="306774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2234707" y="4060719"/>
            <a:ext cx="4354544" cy="1014501"/>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079259" y="390527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2234707" y="5470973"/>
            <a:ext cx="966386" cy="208776"/>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079259" y="531552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Which customer</a:t>
            </a:r>
          </a:p>
          <a:p>
            <a:pPr algn="l"/>
            <a:r>
              <a:rPr sz="1150" b="0" i="0">
                <a:solidFill>
                  <a:srgbClr val="1F2937"/>
                </a:solidFill>
                <a:latin typeface="Calibri"/>
              </a:rPr>
              <a:t>Its router type, region and addressing are shown.</a:t>
            </a:r>
          </a:p>
        </p:txBody>
      </p:sp>
      <p:sp>
        <p:nvSpPr>
          <p:cNvPr id="20" name="Oval 19"/>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What goes with it</a:t>
            </a:r>
          </a:p>
          <a:p>
            <a:pPr algn="l"/>
            <a:r>
              <a:rPr sz="1150" b="0" i="0">
                <a:solidFill>
                  <a:srgbClr val="1F2937"/>
                </a:solidFill>
                <a:latin typeface="Calibri"/>
              </a:rPr>
              <a:t>The company and its subscriptions are removed from customers.json and Nautobot.</a:t>
            </a:r>
          </a:p>
        </p:txBody>
      </p:sp>
      <p:sp>
        <p:nvSpPr>
          <p:cNvPr id="22" name="Oval 21"/>
          <p:cNvSpPr/>
          <p:nvPr/>
        </p:nvSpPr>
        <p:spPr>
          <a:xfrm>
            <a:off x="8686800" y="296265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926079"/>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The plan</a:t>
            </a:r>
          </a:p>
          <a:p>
            <a:pPr algn="l"/>
            <a:r>
              <a:rPr sz="1150" b="0" i="0">
                <a:solidFill>
                  <a:srgbClr val="1F2937"/>
                </a:solidFill>
                <a:latin typeface="Calibri"/>
              </a:rPr>
              <a:t>The router and host deleted, Terraform state, the provider port released, lab.conf and Nautobot updated.</a:t>
            </a:r>
          </a:p>
        </p:txBody>
      </p:sp>
      <p:sp>
        <p:nvSpPr>
          <p:cNvPr id="24" name="Oval 23"/>
          <p:cNvSpPr/>
          <p:nvPr/>
        </p:nvSpPr>
        <p:spPr>
          <a:xfrm>
            <a:off x="8686800" y="402335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986784"/>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Remove</a:t>
            </a:r>
          </a:p>
          <a:p>
            <a:pPr algn="l"/>
            <a:r>
              <a:rPr sz="1150" b="0" i="0">
                <a:solidFill>
                  <a:srgbClr val="1F2937"/>
                </a:solidFill>
                <a:latin typeface="Calibri"/>
              </a:rPr>
              <a:t>Destructive: it needs an approver under the default policy.</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Decommissioning leaves nothing behind: no orphaned ports, config, Terraform state or Nautobot records.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PROVISION IN DEPTH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Deploy the model: lab.conf onto every router</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23</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6_deploy.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1735975"/>
            <a:ext cx="7234904" cy="148768"/>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58052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2119773"/>
            <a:ext cx="7234904" cy="1478075"/>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196432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job</a:t>
            </a:r>
          </a:p>
          <a:p>
            <a:pPr algn="l"/>
            <a:r>
              <a:rPr sz="1150" b="0" i="0">
                <a:solidFill>
                  <a:srgbClr val="1F2937"/>
                </a:solidFill>
                <a:latin typeface="Calibri"/>
              </a:rPr>
              <a:t>Who started it, who approved it, 7 of 7 steps, 4 minutes.</a:t>
            </a:r>
          </a:p>
        </p:txBody>
      </p:sp>
      <p:sp>
        <p:nvSpPr>
          <p:cNvPr id="16" name="Oval 15"/>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048255"/>
            <a:ext cx="2819095" cy="1197864"/>
          </a:xfrm>
          <a:prstGeom prst="rect">
            <a:avLst/>
          </a:prstGeom>
          <a:noFill/>
        </p:spPr>
        <p:txBody>
          <a:bodyPr wrap="square" lIns="36576" rIns="36576" tIns="18288" bIns="18288" anchor="t">
            <a:spAutoFit/>
          </a:bodyPr>
          <a:lstStyle/>
          <a:p>
            <a:pPr algn="l"/>
            <a:r>
              <a:rPr sz="1300" b="1" i="0">
                <a:solidFill>
                  <a:srgbClr val="0B1B2E"/>
                </a:solidFill>
                <a:latin typeface="Calibri"/>
              </a:rPr>
              <a:t>The steps</a:t>
            </a:r>
          </a:p>
          <a:p>
            <a:pPr algn="l"/>
            <a:r>
              <a:rPr sz="1150" b="0" i="0">
                <a:solidFill>
                  <a:srgbClr val="1F2937"/>
                </a:solidFill>
                <a:latin typeface="Calibri"/>
              </a:rPr>
              <a:t>Snapshot, render, Terraform apply (NAC), the providers, Nautobot seeded, Nautobot's rendering compared with lab.conf, snapshot and compare. The log is kept below.</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The same pipeline builds, fixes and restores the lab, so the result is always the model.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PROVISION IN DEPTH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Restore from a backup: see the difference first</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24</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3_restore.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2234707" y="3004650"/>
            <a:ext cx="4354544" cy="205025"/>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79259" y="284920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2234707" y="3229678"/>
            <a:ext cx="4354544" cy="556319"/>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079259" y="307423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2234707" y="3788498"/>
            <a:ext cx="4354544" cy="784160"/>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079259" y="363305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2234707" y="4757134"/>
            <a:ext cx="1241967" cy="208776"/>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079259" y="4601686"/>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backup</a:t>
            </a:r>
          </a:p>
          <a:p>
            <a:pPr algn="l"/>
            <a:r>
              <a:rPr sz="1150" b="0" i="0">
                <a:solidFill>
                  <a:srgbClr val="1F2937"/>
                </a:solidFill>
                <a:latin typeface="Calibri"/>
              </a:rPr>
              <a:t>A .tar.gz made by Back up the lab, uploaded here.</a:t>
            </a:r>
          </a:p>
        </p:txBody>
      </p:sp>
      <p:sp>
        <p:nvSpPr>
          <p:cNvPr id="20" name="Oval 19"/>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What is in it</a:t>
            </a:r>
          </a:p>
          <a:p>
            <a:pPr algn="l"/>
            <a:r>
              <a:rPr sz="1150" b="0" i="0">
                <a:solidFill>
                  <a:srgbClr val="1F2937"/>
                </a:solidFill>
                <a:latin typeface="Calibri"/>
              </a:rPr>
              <a:t>Version, date, host, files, every checksum verified, and its customers.</a:t>
            </a:r>
          </a:p>
        </p:txBody>
      </p:sp>
      <p:sp>
        <p:nvSpPr>
          <p:cNvPr id="22" name="Oval 21"/>
          <p:cNvSpPr/>
          <p:nvPr/>
        </p:nvSpPr>
        <p:spPr>
          <a:xfrm>
            <a:off x="8686800" y="296265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926079"/>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What would change</a:t>
            </a:r>
          </a:p>
          <a:p>
            <a:pPr algn="l"/>
            <a:r>
              <a:rPr sz="1150" b="0" i="0">
                <a:solidFill>
                  <a:srgbClr val="1F2937"/>
                </a:solidFill>
                <a:latin typeface="Calibri"/>
              </a:rPr>
              <a:t>Customers changed, added or removed, other settings, then NAC, pushes, Nautobot and verification.</a:t>
            </a:r>
          </a:p>
        </p:txBody>
      </p:sp>
      <p:sp>
        <p:nvSpPr>
          <p:cNvPr id="24" name="Oval 23"/>
          <p:cNvSpPr/>
          <p:nvPr/>
        </p:nvSpPr>
        <p:spPr>
          <a:xfrm>
            <a:off x="8686800" y="402335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986784"/>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Restore</a:t>
            </a:r>
          </a:p>
          <a:p>
            <a:pPr algn="l"/>
            <a:r>
              <a:rPr sz="1150" b="0" i="0">
                <a:solidFill>
                  <a:srgbClr val="1F2937"/>
                </a:solidFill>
                <a:latin typeface="Calibri"/>
              </a:rPr>
              <a:t>Only after approval; nothing changes before.</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A known-good state is always one approved job away, and you know exactly what it will undo.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PROVISION IN DEPTH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The DMVPN pre-shared key</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25</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4_psk.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4512885"/>
            <a:ext cx="7234904" cy="200337"/>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435743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4673218"/>
            <a:ext cx="7234904" cy="202837"/>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451777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794527" y="4836050"/>
            <a:ext cx="7234904" cy="202837"/>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079" y="468060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6863255" y="4344114"/>
            <a:ext cx="1166177" cy="208776"/>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707807" y="4188666"/>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Key</a:t>
            </a:r>
          </a:p>
          <a:p>
            <a:pPr algn="l"/>
            <a:r>
              <a:rPr sz="1150" b="0" i="0">
                <a:solidFill>
                  <a:srgbClr val="1F2937"/>
                </a:solidFill>
                <a:latin typeface="Calibri"/>
              </a:rPr>
              <a:t>Where it is kept (secrets/ on the lab host) and its fingerprint. The key itself is never shown.</a:t>
            </a:r>
          </a:p>
        </p:txBody>
      </p:sp>
      <p:sp>
        <p:nvSpPr>
          <p:cNvPr id="20" name="Oval 19"/>
          <p:cNvSpPr/>
          <p:nvPr/>
        </p:nvSpPr>
        <p:spPr>
          <a:xfrm>
            <a:off x="8686800" y="226771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231136"/>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Set</a:t>
            </a:r>
          </a:p>
          <a:p>
            <a:pPr algn="l"/>
            <a:r>
              <a:rPr sz="1150" b="0" i="0">
                <a:solidFill>
                  <a:srgbClr val="1F2937"/>
                </a:solidFill>
                <a:latin typeface="Calibri"/>
              </a:rPr>
              <a:t>When it was last rotated, by whom, and the job.</a:t>
            </a:r>
          </a:p>
        </p:txBody>
      </p:sp>
      <p:sp>
        <p:nvSpPr>
          <p:cNvPr id="22" name="Oval 21"/>
          <p:cNvSpPr/>
          <p:nvPr/>
        </p:nvSpPr>
        <p:spPr>
          <a:xfrm>
            <a:off x="8686800" y="314553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3108960"/>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Used by</a:t>
            </a:r>
          </a:p>
          <a:p>
            <a:pPr algn="l"/>
            <a:r>
              <a:rPr sz="1150" b="0" i="0">
                <a:solidFill>
                  <a:srgbClr val="1F2937"/>
                </a:solidFill>
                <a:latin typeface="Calibri"/>
              </a:rPr>
              <a:t>Every hub and customer router.</a:t>
            </a:r>
          </a:p>
        </p:txBody>
      </p:sp>
      <p:sp>
        <p:nvSpPr>
          <p:cNvPr id="24" name="Oval 23"/>
          <p:cNvSpPr/>
          <p:nvPr/>
        </p:nvSpPr>
        <p:spPr>
          <a:xfrm>
            <a:off x="8686800" y="384047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803904"/>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Rotate</a:t>
            </a:r>
          </a:p>
          <a:p>
            <a:pPr algn="l"/>
            <a:r>
              <a:rPr sz="1150" b="0" i="0">
                <a:solidFill>
                  <a:srgbClr val="1F2937"/>
                </a:solidFill>
                <a:latin typeface="Calibri"/>
              </a:rPr>
              <a:t>Admins only, with a confirmation, and through change control.</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Rotating the key becomes routine: one button, a random key, and proof that every session uses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AUDIT</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A job: who, what, and the proof</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26</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2_job.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1227787"/>
            <a:ext cx="7234904" cy="148768"/>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072339"/>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1386557"/>
            <a:ext cx="7234904" cy="202525"/>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1231109"/>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794527" y="3743336"/>
            <a:ext cx="7234904" cy="2446008"/>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079" y="3587888"/>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779526" y="1593770"/>
            <a:ext cx="3664458" cy="1915239"/>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24078" y="143832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Who</a:t>
            </a:r>
          </a:p>
          <a:p>
            <a:pPr algn="l"/>
            <a:r>
              <a:rPr sz="1150" b="0" i="0">
                <a:solidFill>
                  <a:srgbClr val="1F2937"/>
                </a:solidFill>
                <a:latin typeface="Calibri"/>
              </a:rPr>
              <a:t>Who started the job and who approved it.</a:t>
            </a:r>
          </a:p>
        </p:txBody>
      </p:sp>
      <p:sp>
        <p:nvSpPr>
          <p:cNvPr id="20" name="Oval 19"/>
          <p:cNvSpPr/>
          <p:nvPr/>
        </p:nvSpPr>
        <p:spPr>
          <a:xfrm>
            <a:off x="8686800" y="190195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1865376"/>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Progress</a:t>
            </a:r>
          </a:p>
          <a:p>
            <a:pPr algn="l"/>
            <a:r>
              <a:rPr sz="1150" b="0" i="0">
                <a:solidFill>
                  <a:srgbClr val="1F2937"/>
                </a:solidFill>
                <a:latin typeface="Calibri"/>
              </a:rPr>
              <a:t>Live progress and the time it took.</a:t>
            </a:r>
          </a:p>
        </p:txBody>
      </p:sp>
      <p:sp>
        <p:nvSpPr>
          <p:cNvPr id="22" name="Oval 21"/>
          <p:cNvSpPr/>
          <p:nvPr/>
        </p:nvSpPr>
        <p:spPr>
          <a:xfrm>
            <a:off x="8686800" y="259689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560320"/>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What changed</a:t>
            </a:r>
          </a:p>
          <a:p>
            <a:pPr algn="l"/>
            <a:r>
              <a:rPr sz="1150" b="0" i="0">
                <a:solidFill>
                  <a:srgbClr val="1F2937"/>
                </a:solidFill>
                <a:latin typeface="Calibri"/>
              </a:rPr>
              <a:t>The before-and-after diff per router. Secrets are masked but their change is still visible.</a:t>
            </a:r>
          </a:p>
        </p:txBody>
      </p:sp>
      <p:sp>
        <p:nvSpPr>
          <p:cNvPr id="24" name="Oval 23"/>
          <p:cNvSpPr/>
          <p:nvPr/>
        </p:nvSpPr>
        <p:spPr>
          <a:xfrm>
            <a:off x="8686800" y="3657600"/>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621024"/>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Every step</a:t>
            </a:r>
          </a:p>
          <a:p>
            <a:pPr algn="l"/>
            <a:r>
              <a:rPr sz="1150" b="0" i="0">
                <a:solidFill>
                  <a:srgbClr val="1F2937"/>
                </a:solidFill>
                <a:latin typeface="Calibri"/>
              </a:rPr>
              <a:t>Each step's result, for example '54 IKE SAs on 8 routers, all made after the rotation'.</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Every change leaves evidence: the steps, the approvals and the exact configuration difference.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PROVISION IN DEPTH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Run the tests: the lab proves itself</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27</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7_test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3046139"/>
            <a:ext cx="7234904" cy="148768"/>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289069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3429937"/>
            <a:ext cx="7234904" cy="224012"/>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3274489"/>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1471331" y="3676452"/>
            <a:ext cx="248484" cy="146304"/>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15883" y="352100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Oval 15"/>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7" name="TextBox 16"/>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job</a:t>
            </a:r>
          </a:p>
          <a:p>
            <a:pPr algn="l"/>
            <a:r>
              <a:rPr sz="1150" b="0" i="0">
                <a:solidFill>
                  <a:srgbClr val="1F2937"/>
                </a:solidFill>
                <a:latin typeface="Calibri"/>
              </a:rPr>
              <a:t>Robot Framework suites against the live lab.</a:t>
            </a:r>
          </a:p>
        </p:txBody>
      </p:sp>
      <p:sp>
        <p:nvSpPr>
          <p:cNvPr id="18" name="Oval 17"/>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9" name="TextBox 18"/>
          <p:cNvSpPr txBox="1"/>
          <p:nvPr/>
        </p:nvSpPr>
        <p:spPr>
          <a:xfrm>
            <a:off x="9070848" y="2048255"/>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The result</a:t>
            </a:r>
          </a:p>
          <a:p>
            <a:pPr algn="l"/>
            <a:r>
              <a:rPr sz="1150" b="0" i="0">
                <a:solidFill>
                  <a:srgbClr val="1F2937"/>
                </a:solidFill>
                <a:latin typeface="Calibri"/>
              </a:rPr>
              <a:t>73 of 73 passed, in about 11 minutes.</a:t>
            </a:r>
          </a:p>
        </p:txBody>
      </p:sp>
      <p:sp>
        <p:nvSpPr>
          <p:cNvPr id="20" name="Oval 19"/>
          <p:cNvSpPr/>
          <p:nvPr/>
        </p:nvSpPr>
        <p:spPr>
          <a:xfrm>
            <a:off x="8686800" y="2779775"/>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1" name="TextBox 20"/>
          <p:cNvSpPr txBox="1"/>
          <p:nvPr/>
        </p:nvSpPr>
        <p:spPr>
          <a:xfrm>
            <a:off x="9070848" y="2743199"/>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evidence</a:t>
            </a:r>
          </a:p>
          <a:p>
            <a:pPr algn="l"/>
            <a:r>
              <a:rPr sz="1150" b="0" i="0">
                <a:solidFill>
                  <a:srgbClr val="1F2937"/>
                </a:solidFill>
                <a:latin typeface="Calibri"/>
              </a:rPr>
              <a:t>The Robot report and log, and every router's configuration before and after.</a:t>
            </a:r>
          </a:p>
        </p:txBody>
      </p:sp>
      <p:sp>
        <p:nvSpPr>
          <p:cNvPr id="22" name="Rounded Rectangle 21"/>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Every change can end with a full test run, and the evidence is one click away.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PROVISION IN DEPTH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Maintenance and the job list</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28</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9_maint.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09517" y="1228646"/>
            <a:ext cx="7404925" cy="1100840"/>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54069" y="1073198"/>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1925062"/>
            <a:ext cx="940289" cy="208776"/>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17696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794527" y="2593270"/>
            <a:ext cx="7234904" cy="3596074"/>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079" y="243782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Oval 15"/>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7" name="TextBox 16"/>
          <p:cNvSpPr txBox="1"/>
          <p:nvPr/>
        </p:nvSpPr>
        <p:spPr>
          <a:xfrm>
            <a:off x="9070848" y="1170432"/>
            <a:ext cx="2819095" cy="1014984"/>
          </a:xfrm>
          <a:prstGeom prst="rect">
            <a:avLst/>
          </a:prstGeom>
          <a:noFill/>
        </p:spPr>
        <p:txBody>
          <a:bodyPr wrap="square" lIns="36576" rIns="36576" tIns="18288" bIns="18288" anchor="t">
            <a:spAutoFit/>
          </a:bodyPr>
          <a:lstStyle/>
          <a:p>
            <a:pPr algn="l"/>
            <a:r>
              <a:rPr sz="1300" b="1" i="0">
                <a:solidFill>
                  <a:srgbClr val="0B1B2E"/>
                </a:solidFill>
                <a:latin typeface="Calibri"/>
              </a:rPr>
              <a:t>Maintenance</a:t>
            </a:r>
          </a:p>
          <a:p>
            <a:pPr algn="l"/>
            <a:r>
              <a:rPr sz="1150" b="0" i="0">
                <a:solidFill>
                  <a:srgbClr val="1F2937"/>
                </a:solidFill>
                <a:latin typeface="Calibri"/>
              </a:rPr>
              <a:t>Declared here or started automatically by disruptive jobs and simulated failures. Alerts are muted, customers told, and SLA leaves it out.</a:t>
            </a:r>
          </a:p>
        </p:txBody>
      </p:sp>
      <p:sp>
        <p:nvSpPr>
          <p:cNvPr id="18" name="Oval 17"/>
          <p:cNvSpPr/>
          <p:nvPr/>
        </p:nvSpPr>
        <p:spPr>
          <a:xfrm>
            <a:off x="8686800" y="245059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9" name="TextBox 18"/>
          <p:cNvSpPr txBox="1"/>
          <p:nvPr/>
        </p:nvSpPr>
        <p:spPr>
          <a:xfrm>
            <a:off x="9070848" y="2414016"/>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Declare</a:t>
            </a:r>
          </a:p>
          <a:p>
            <a:pPr algn="l"/>
            <a:r>
              <a:rPr sz="1150" b="0" i="0">
                <a:solidFill>
                  <a:srgbClr val="1F2937"/>
                </a:solidFill>
                <a:latin typeface="Calibri"/>
              </a:rPr>
              <a:t>What, and which nodes it affects.</a:t>
            </a:r>
          </a:p>
        </p:txBody>
      </p:sp>
      <p:sp>
        <p:nvSpPr>
          <p:cNvPr id="20" name="Oval 19"/>
          <p:cNvSpPr/>
          <p:nvPr/>
        </p:nvSpPr>
        <p:spPr>
          <a:xfrm>
            <a:off x="8686800" y="314553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1" name="TextBox 20"/>
          <p:cNvSpPr txBox="1"/>
          <p:nvPr/>
        </p:nvSpPr>
        <p:spPr>
          <a:xfrm>
            <a:off x="9070848" y="3108960"/>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Every job</a:t>
            </a:r>
          </a:p>
          <a:p>
            <a:pPr algn="l"/>
            <a:r>
              <a:rPr sz="1150" b="0" i="0">
                <a:solidFill>
                  <a:srgbClr val="1F2937"/>
                </a:solidFill>
                <a:latin typeface="Calibri"/>
              </a:rPr>
              <a:t>Status, a progress bar, duration and test results. A failed job resumes from the step that failed.</a:t>
            </a:r>
          </a:p>
        </p:txBody>
      </p:sp>
      <p:sp>
        <p:nvSpPr>
          <p:cNvPr id="22" name="Rounded Rectangle 21"/>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Planned work does not page anyone or count against the SLA, and customers see it coming.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788920"/>
            <a:ext cx="109728" cy="11887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697480"/>
            <a:ext cx="10058400" cy="731520"/>
          </a:xfrm>
          <a:prstGeom prst="rect">
            <a:avLst/>
          </a:prstGeom>
          <a:noFill/>
        </p:spPr>
        <p:txBody>
          <a:bodyPr wrap="square" lIns="36576" rIns="36576" tIns="18288" bIns="18288" anchor="t">
            <a:spAutoFit/>
          </a:bodyPr>
          <a:lstStyle/>
          <a:p>
            <a:pPr algn="l"/>
            <a:r>
              <a:rPr sz="3600" b="1" i="0">
                <a:solidFill>
                  <a:srgbClr val="FFFFFF"/>
                </a:solidFill>
                <a:latin typeface="Calibri"/>
              </a:rPr>
              <a:t>Change control</a:t>
            </a:r>
          </a:p>
        </p:txBody>
      </p:sp>
      <p:sp>
        <p:nvSpPr>
          <p:cNvPr id="5" name="TextBox 4"/>
          <p:cNvSpPr txBox="1"/>
          <p:nvPr/>
        </p:nvSpPr>
        <p:spPr>
          <a:xfrm>
            <a:off x="1051560" y="3429000"/>
            <a:ext cx="10058400" cy="731520"/>
          </a:xfrm>
          <a:prstGeom prst="rect">
            <a:avLst/>
          </a:prstGeom>
          <a:noFill/>
        </p:spPr>
        <p:txBody>
          <a:bodyPr wrap="square" lIns="36576" rIns="36576" tIns="18288" bIns="18288" anchor="t">
            <a:spAutoFit/>
          </a:bodyPr>
          <a:lstStyle/>
          <a:p>
            <a:pPr algn="l"/>
            <a:r>
              <a:rPr sz="1700" b="0" i="0">
                <a:solidFill>
                  <a:srgbClr val="CBD5E1"/>
                </a:solidFill>
                <a:latin typeface="Calibri"/>
              </a:rPr>
              <a:t>A second pair of eyes, change windows, and a record of everything.</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94A3B8"/>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CONTROL</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Change requests: four eyes and change windows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30</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1_change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2126259"/>
            <a:ext cx="7234904" cy="4063085"/>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97081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Oval 11"/>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3" name="TextBox 12"/>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Change requests</a:t>
            </a:r>
          </a:p>
          <a:p>
            <a:pPr algn="l"/>
            <a:r>
              <a:rPr sz="1150" b="0" i="0">
                <a:solidFill>
                  <a:srgbClr val="1F2937"/>
                </a:solidFill>
                <a:latin typeface="Calibri"/>
              </a:rPr>
              <a:t>Each request shows who asked, what for, who approved or rejected it, and its status, including requests from customers.</a:t>
            </a:r>
          </a:p>
        </p:txBody>
      </p:sp>
      <p:sp>
        <p:nvSpPr>
          <p:cNvPr id="14" name="Rounded Rectangle 13"/>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Disruptive work cannot start without a second person, and it runs only inside the agreed windows.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CHANGE CONTROL</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The change policy, edited in the portal</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31</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8_policy.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2126259"/>
            <a:ext cx="7234904" cy="1162332"/>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97081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1482113" y="1856850"/>
            <a:ext cx="3053522" cy="146304"/>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326665" y="170140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1014984"/>
          </a:xfrm>
          <a:prstGeom prst="rect">
            <a:avLst/>
          </a:prstGeom>
          <a:noFill/>
        </p:spPr>
        <p:txBody>
          <a:bodyPr wrap="square" lIns="36576" rIns="36576" tIns="18288" bIns="18288" anchor="t">
            <a:spAutoFit/>
          </a:bodyPr>
          <a:lstStyle/>
          <a:p>
            <a:pPr algn="l"/>
            <a:r>
              <a:rPr sz="1300" b="1" i="0">
                <a:solidFill>
                  <a:srgbClr val="0B1B2E"/>
                </a:solidFill>
                <a:latin typeface="Calibri"/>
              </a:rPr>
              <a:t>The policy</a:t>
            </a:r>
          </a:p>
          <a:p>
            <a:pPr algn="l"/>
            <a:r>
              <a:rPr sz="1150" b="0" i="0">
                <a:solidFill>
                  <a:srgbClr val="1F2937"/>
                </a:solidFill>
                <a:latin typeface="Calibri"/>
              </a:rPr>
              <a:t>Which tasks need approval, four eyes, emergency approvals with a reason, expiry after 72 h, and change windows by day and time.</a:t>
            </a:r>
          </a:p>
        </p:txBody>
      </p:sp>
      <p:sp>
        <p:nvSpPr>
          <p:cNvPr id="16" name="Oval 15"/>
          <p:cNvSpPr/>
          <p:nvPr/>
        </p:nvSpPr>
        <p:spPr>
          <a:xfrm>
            <a:off x="8686800" y="245059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414016"/>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In one line</a:t>
            </a:r>
          </a:p>
          <a:p>
            <a:pPr algn="l"/>
            <a:r>
              <a:rPr sz="1150" b="0" i="0">
                <a:solidFill>
                  <a:srgbClr val="1F2937"/>
                </a:solidFill>
                <a:latin typeface="Calibri"/>
              </a:rPr>
              <a:t>The current policy is always shown above the requests.</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The rules for change are visible and adjustable, not tribal knowledge.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CHANGE LIFECYCLE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How a change moves through the portal</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32</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Pentagon 7"/>
          <p:cNvSpPr/>
          <p:nvPr/>
        </p:nvSpPr>
        <p:spPr>
          <a:xfrm>
            <a:off x="411480" y="1463040"/>
            <a:ext cx="2103120" cy="1143000"/>
          </a:xfrm>
          <a:prstGeom prst="homePlat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Request</a:t>
            </a:r>
          </a:p>
        </p:txBody>
      </p:sp>
      <p:sp>
        <p:nvSpPr>
          <p:cNvPr id="9" name="TextBox 8"/>
          <p:cNvSpPr txBox="1"/>
          <p:nvPr/>
        </p:nvSpPr>
        <p:spPr>
          <a:xfrm>
            <a:off x="457200" y="2788920"/>
            <a:ext cx="1828799" cy="1463040"/>
          </a:xfrm>
          <a:prstGeom prst="rect">
            <a:avLst/>
          </a:prstGeom>
          <a:noFill/>
        </p:spPr>
        <p:txBody>
          <a:bodyPr wrap="square" lIns="36576" rIns="36576" tIns="18288" bIns="18288" anchor="t">
            <a:spAutoFit/>
          </a:bodyPr>
          <a:lstStyle/>
          <a:p>
            <a:pPr algn="l"/>
            <a:r>
              <a:rPr sz="1200" b="0" i="0">
                <a:solidFill>
                  <a:srgbClr val="1F2937"/>
                </a:solidFill>
                <a:latin typeface="Calibri"/>
              </a:rPr>
              <a:t>An operator (or a customer) asks: add, modify, remove, deploy, rotate the key…</a:t>
            </a:r>
          </a:p>
        </p:txBody>
      </p:sp>
      <p:sp>
        <p:nvSpPr>
          <p:cNvPr id="10" name="Chevron 9"/>
          <p:cNvSpPr/>
          <p:nvPr/>
        </p:nvSpPr>
        <p:spPr>
          <a:xfrm>
            <a:off x="2340864" y="1463040"/>
            <a:ext cx="2103120" cy="1143000"/>
          </a:xfrm>
          <a:prstGeom prst="chevron">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Approve</a:t>
            </a:r>
          </a:p>
        </p:txBody>
      </p:sp>
      <p:sp>
        <p:nvSpPr>
          <p:cNvPr id="11" name="TextBox 10"/>
          <p:cNvSpPr txBox="1"/>
          <p:nvPr/>
        </p:nvSpPr>
        <p:spPr>
          <a:xfrm>
            <a:off x="2386584" y="2788920"/>
            <a:ext cx="1828799" cy="1463040"/>
          </a:xfrm>
          <a:prstGeom prst="rect">
            <a:avLst/>
          </a:prstGeom>
          <a:noFill/>
        </p:spPr>
        <p:txBody>
          <a:bodyPr wrap="square" lIns="36576" rIns="36576" tIns="18288" bIns="18288" anchor="t">
            <a:spAutoFit/>
          </a:bodyPr>
          <a:lstStyle/>
          <a:p>
            <a:pPr algn="l"/>
            <a:r>
              <a:rPr sz="1200" b="0" i="0">
                <a:solidFill>
                  <a:srgbClr val="1F2937"/>
                </a:solidFill>
                <a:latin typeface="Calibri"/>
              </a:rPr>
              <a:t>Someone else approves it (four eyes). An emergency change needs a reason.</a:t>
            </a:r>
          </a:p>
        </p:txBody>
      </p:sp>
      <p:sp>
        <p:nvSpPr>
          <p:cNvPr id="12" name="Chevron 11"/>
          <p:cNvSpPr/>
          <p:nvPr/>
        </p:nvSpPr>
        <p:spPr>
          <a:xfrm>
            <a:off x="4270248" y="1463040"/>
            <a:ext cx="2103120" cy="1143000"/>
          </a:xfrm>
          <a:prstGeom prst="chevron">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Window</a:t>
            </a:r>
          </a:p>
        </p:txBody>
      </p:sp>
      <p:sp>
        <p:nvSpPr>
          <p:cNvPr id="13" name="TextBox 12"/>
          <p:cNvSpPr txBox="1"/>
          <p:nvPr/>
        </p:nvSpPr>
        <p:spPr>
          <a:xfrm>
            <a:off x="4315968" y="2788920"/>
            <a:ext cx="1828799" cy="1463040"/>
          </a:xfrm>
          <a:prstGeom prst="rect">
            <a:avLst/>
          </a:prstGeom>
          <a:noFill/>
        </p:spPr>
        <p:txBody>
          <a:bodyPr wrap="square" lIns="36576" rIns="36576" tIns="18288" bIns="18288" anchor="t">
            <a:spAutoFit/>
          </a:bodyPr>
          <a:lstStyle/>
          <a:p>
            <a:pPr algn="l"/>
            <a:r>
              <a:rPr sz="1200" b="0" i="0">
                <a:solidFill>
                  <a:srgbClr val="1F2937"/>
                </a:solidFill>
                <a:latin typeface="Calibri"/>
              </a:rPr>
              <a:t>It runs now if a change window is open. Otherwise it is scheduled for the next window.</a:t>
            </a:r>
          </a:p>
        </p:txBody>
      </p:sp>
      <p:sp>
        <p:nvSpPr>
          <p:cNvPr id="14" name="Chevron 13"/>
          <p:cNvSpPr/>
          <p:nvPr/>
        </p:nvSpPr>
        <p:spPr>
          <a:xfrm>
            <a:off x="6199632" y="1463040"/>
            <a:ext cx="2103120" cy="1143000"/>
          </a:xfrm>
          <a:prstGeom prst="chevron">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Run the job</a:t>
            </a:r>
          </a:p>
        </p:txBody>
      </p:sp>
      <p:sp>
        <p:nvSpPr>
          <p:cNvPr id="15" name="TextBox 14"/>
          <p:cNvSpPr txBox="1"/>
          <p:nvPr/>
        </p:nvSpPr>
        <p:spPr>
          <a:xfrm>
            <a:off x="6245352" y="2788920"/>
            <a:ext cx="1828799" cy="1463040"/>
          </a:xfrm>
          <a:prstGeom prst="rect">
            <a:avLst/>
          </a:prstGeom>
          <a:noFill/>
        </p:spPr>
        <p:txBody>
          <a:bodyPr wrap="square" lIns="36576" rIns="36576" tIns="18288" bIns="18288" anchor="t">
            <a:spAutoFit/>
          </a:bodyPr>
          <a:lstStyle/>
          <a:p>
            <a:pPr algn="l"/>
            <a:r>
              <a:rPr sz="1200" b="0" i="0">
                <a:solidFill>
                  <a:srgbClr val="1F2937"/>
                </a:solidFill>
                <a:latin typeface="Calibri"/>
              </a:rPr>
              <a:t>Snapshot, render, NAC and VyOS push, then verify. Progress and ETA are shown live.</a:t>
            </a:r>
          </a:p>
        </p:txBody>
      </p:sp>
      <p:sp>
        <p:nvSpPr>
          <p:cNvPr id="16" name="Chevron 15"/>
          <p:cNvSpPr/>
          <p:nvPr/>
        </p:nvSpPr>
        <p:spPr>
          <a:xfrm>
            <a:off x="8129015" y="1463040"/>
            <a:ext cx="2103120" cy="1143000"/>
          </a:xfrm>
          <a:prstGeom prst="chevron">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Prove</a:t>
            </a:r>
          </a:p>
        </p:txBody>
      </p:sp>
      <p:sp>
        <p:nvSpPr>
          <p:cNvPr id="17" name="TextBox 16"/>
          <p:cNvSpPr txBox="1"/>
          <p:nvPr/>
        </p:nvSpPr>
        <p:spPr>
          <a:xfrm>
            <a:off x="8174736" y="2788920"/>
            <a:ext cx="1828799" cy="1463040"/>
          </a:xfrm>
          <a:prstGeom prst="rect">
            <a:avLst/>
          </a:prstGeom>
          <a:noFill/>
        </p:spPr>
        <p:txBody>
          <a:bodyPr wrap="square" lIns="36576" rIns="36576" tIns="18288" bIns="18288" anchor="t">
            <a:spAutoFit/>
          </a:bodyPr>
          <a:lstStyle/>
          <a:p>
            <a:pPr algn="l"/>
            <a:r>
              <a:rPr sz="1200" b="0" i="0">
                <a:solidFill>
                  <a:srgbClr val="1F2937"/>
                </a:solidFill>
                <a:latin typeface="Calibri"/>
              </a:rPr>
              <a:t>Every router registered, every host reachable, 73 tests, Nautobot == lab.conf.</a:t>
            </a:r>
          </a:p>
        </p:txBody>
      </p:sp>
      <p:sp>
        <p:nvSpPr>
          <p:cNvPr id="18" name="Chevron 17"/>
          <p:cNvSpPr/>
          <p:nvPr/>
        </p:nvSpPr>
        <p:spPr>
          <a:xfrm>
            <a:off x="10058399" y="1463040"/>
            <a:ext cx="1874519" cy="1143000"/>
          </a:xfrm>
          <a:prstGeom prst="chevron">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500" b="1">
                <a:solidFill>
                  <a:srgbClr val="FFFFFF"/>
                </a:solidFill>
                <a:latin typeface="Calibri"/>
              </a:rPr>
              <a:t>Record</a:t>
            </a:r>
          </a:p>
        </p:txBody>
      </p:sp>
      <p:sp>
        <p:nvSpPr>
          <p:cNvPr id="19" name="TextBox 18"/>
          <p:cNvSpPr txBox="1"/>
          <p:nvPr/>
        </p:nvSpPr>
        <p:spPr>
          <a:xfrm>
            <a:off x="10104119" y="2788920"/>
            <a:ext cx="1828799" cy="1463040"/>
          </a:xfrm>
          <a:prstGeom prst="rect">
            <a:avLst/>
          </a:prstGeom>
          <a:noFill/>
        </p:spPr>
        <p:txBody>
          <a:bodyPr wrap="square" lIns="36576" rIns="36576" tIns="18288" bIns="18288" anchor="t">
            <a:spAutoFit/>
          </a:bodyPr>
          <a:lstStyle/>
          <a:p>
            <a:pPr algn="l"/>
            <a:r>
              <a:rPr sz="1200" b="0" i="0">
                <a:solidFill>
                  <a:srgbClr val="1F2937"/>
                </a:solidFill>
                <a:latin typeface="Calibri"/>
              </a:rPr>
              <a:t>The config diff per router, who asked, who approved and the outcome, kept per job.</a:t>
            </a:r>
          </a:p>
        </p:txBody>
      </p:sp>
      <p:sp>
        <p:nvSpPr>
          <p:cNvPr id="20" name="Rounded Rectangle 19"/>
          <p:cNvSpPr/>
          <p:nvPr/>
        </p:nvSpPr>
        <p:spPr>
          <a:xfrm>
            <a:off x="411480" y="4160520"/>
            <a:ext cx="11338560" cy="2057400"/>
          </a:xfrm>
          <a:prstGeom prst="roundRect">
            <a:avLst>
              <a:gd name="adj" fmla="val 4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4325112"/>
            <a:ext cx="5486400" cy="365760"/>
          </a:xfrm>
          <a:prstGeom prst="rect">
            <a:avLst/>
          </a:prstGeom>
          <a:noFill/>
        </p:spPr>
        <p:txBody>
          <a:bodyPr wrap="square" lIns="36576" rIns="36576" tIns="18288" bIns="18288" anchor="t">
            <a:spAutoFit/>
          </a:bodyPr>
          <a:lstStyle/>
          <a:p>
            <a:pPr algn="l"/>
            <a:r>
              <a:rPr sz="1500" b="1" i="0">
                <a:solidFill>
                  <a:srgbClr val="0B1B2E"/>
                </a:solidFill>
                <a:latin typeface="Calibri"/>
              </a:rPr>
              <a:t>What is never allowed</a:t>
            </a:r>
          </a:p>
        </p:txBody>
      </p:sp>
      <p:sp>
        <p:nvSpPr>
          <p:cNvPr id="22" name="TextBox 21"/>
          <p:cNvSpPr txBox="1"/>
          <p:nvPr/>
        </p:nvSpPr>
        <p:spPr>
          <a:xfrm>
            <a:off x="640080" y="4709159"/>
            <a:ext cx="5303520" cy="1463040"/>
          </a:xfrm>
          <a:prstGeom prst="rect">
            <a:avLst/>
          </a:prstGeom>
          <a:noFill/>
        </p:spPr>
        <p:txBody>
          <a:bodyPr wrap="square" lIns="36576" rIns="36576" tIns="18288" bIns="18288" anchor="t">
            <a:spAutoFit/>
          </a:bodyPr>
          <a:lstStyle/>
          <a:p>
            <a:pPr algn="l">
              <a:spcAft>
                <a:spcPts val="400"/>
              </a:spcAft>
            </a:pPr>
            <a:r>
              <a:rPr sz="1250" b="0" i="0">
                <a:solidFill>
                  <a:srgbClr val="1F2937"/>
                </a:solidFill>
                <a:latin typeface="Calibri"/>
              </a:rPr>
              <a:t>• Approving your own request (four eyes)</a:t>
            </a:r>
          </a:p>
          <a:p>
            <a:pPr algn="l">
              <a:spcAft>
                <a:spcPts val="400"/>
              </a:spcAft>
            </a:pPr>
            <a:r>
              <a:rPr sz="1250" b="0" i="0">
                <a:solidFill>
                  <a:srgbClr val="1F2937"/>
                </a:solidFill>
                <a:latin typeface="Calibri"/>
              </a:rPr>
              <a:t>• A viewer or customer starting a job</a:t>
            </a:r>
          </a:p>
          <a:p>
            <a:pPr algn="l">
              <a:spcAft>
                <a:spcPts val="400"/>
              </a:spcAft>
            </a:pPr>
            <a:r>
              <a:rPr sz="1250" b="0" i="0">
                <a:solidFill>
                  <a:srgbClr val="1F2937"/>
                </a:solidFill>
                <a:latin typeface="Calibri"/>
              </a:rPr>
              <a:t>• Rotating the pre-shared key unless you are an admin</a:t>
            </a:r>
          </a:p>
          <a:p>
            <a:pPr algn="l">
              <a:spcAft>
                <a:spcPts val="400"/>
              </a:spcAft>
            </a:pPr>
            <a:r>
              <a:rPr sz="1250" b="0" i="0">
                <a:solidFill>
                  <a:srgbClr val="1F2937"/>
                </a:solidFill>
                <a:latin typeface="Calibri"/>
              </a:rPr>
              <a:t>• A secret reaching git, a job log or the screen</a:t>
            </a:r>
          </a:p>
        </p:txBody>
      </p:sp>
      <p:sp>
        <p:nvSpPr>
          <p:cNvPr id="23" name="TextBox 22"/>
          <p:cNvSpPr txBox="1"/>
          <p:nvPr/>
        </p:nvSpPr>
        <p:spPr>
          <a:xfrm>
            <a:off x="6309360" y="4325112"/>
            <a:ext cx="5486400" cy="365760"/>
          </a:xfrm>
          <a:prstGeom prst="rect">
            <a:avLst/>
          </a:prstGeom>
          <a:noFill/>
        </p:spPr>
        <p:txBody>
          <a:bodyPr wrap="square" lIns="36576" rIns="36576" tIns="18288" bIns="18288" anchor="t">
            <a:spAutoFit/>
          </a:bodyPr>
          <a:lstStyle/>
          <a:p>
            <a:pPr algn="l"/>
            <a:r>
              <a:rPr sz="1500" b="1" i="0">
                <a:solidFill>
                  <a:srgbClr val="0B1B2E"/>
                </a:solidFill>
                <a:latin typeface="Calibri"/>
              </a:rPr>
              <a:t>What never needs approval</a:t>
            </a:r>
          </a:p>
        </p:txBody>
      </p:sp>
      <p:sp>
        <p:nvSpPr>
          <p:cNvPr id="24" name="TextBox 23"/>
          <p:cNvSpPr txBox="1"/>
          <p:nvPr/>
        </p:nvSpPr>
        <p:spPr>
          <a:xfrm>
            <a:off x="6309360" y="4709159"/>
            <a:ext cx="5212080" cy="1463040"/>
          </a:xfrm>
          <a:prstGeom prst="rect">
            <a:avLst/>
          </a:prstGeom>
          <a:noFill/>
        </p:spPr>
        <p:txBody>
          <a:bodyPr wrap="square" lIns="36576" rIns="36576" tIns="18288" bIns="18288" anchor="t">
            <a:spAutoFit/>
          </a:bodyPr>
          <a:lstStyle/>
          <a:p>
            <a:pPr algn="l">
              <a:spcAft>
                <a:spcPts val="400"/>
              </a:spcAft>
            </a:pPr>
            <a:r>
              <a:rPr sz="1250" b="0" i="0">
                <a:solidFill>
                  <a:srgbClr val="1F2937"/>
                </a:solidFill>
                <a:latin typeface="Calibri"/>
              </a:rPr>
              <a:t>• Adding a customer: it takes nothing away</a:t>
            </a:r>
          </a:p>
          <a:p>
            <a:pPr algn="l">
              <a:spcAft>
                <a:spcPts val="400"/>
              </a:spcAft>
            </a:pPr>
            <a:r>
              <a:rPr sz="1250" b="0" i="0">
                <a:solidFill>
                  <a:srgbClr val="1F2937"/>
                </a:solidFill>
                <a:latin typeface="Calibri"/>
              </a:rPr>
              <a:t>• Dry runs, tests and drift checks</a:t>
            </a:r>
          </a:p>
          <a:p>
            <a:pPr algn="l">
              <a:spcAft>
                <a:spcPts val="400"/>
              </a:spcAft>
            </a:pPr>
            <a:r>
              <a:rPr sz="1250" b="0" i="0">
                <a:solidFill>
                  <a:srgbClr val="1F2937"/>
                </a:solidFill>
                <a:latin typeface="Calibri"/>
              </a:rPr>
              <a:t>• Customer diagnostics from its own LAN host</a:t>
            </a:r>
          </a:p>
          <a:p>
            <a:pPr algn="l">
              <a:spcAft>
                <a:spcPts val="400"/>
              </a:spcAft>
            </a:pPr>
            <a:r>
              <a:rPr sz="1250" b="0" i="0">
                <a:solidFill>
                  <a:srgbClr val="1F2937"/>
                </a:solidFill>
                <a:latin typeface="Calibri"/>
              </a:rPr>
              <a:t>• Reading anything the role allows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788920"/>
            <a:ext cx="109728" cy="11887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697480"/>
            <a:ext cx="10058400" cy="731520"/>
          </a:xfrm>
          <a:prstGeom prst="rect">
            <a:avLst/>
          </a:prstGeom>
          <a:noFill/>
        </p:spPr>
        <p:txBody>
          <a:bodyPr wrap="square" lIns="36576" rIns="36576" tIns="18288" bIns="18288" anchor="t">
            <a:spAutoFit/>
          </a:bodyPr>
          <a:lstStyle/>
          <a:p>
            <a:pPr algn="l"/>
            <a:r>
              <a:rPr sz="3600" b="1" i="0">
                <a:solidFill>
                  <a:srgbClr val="FFFFFF"/>
                </a:solidFill>
                <a:latin typeface="Calibri"/>
              </a:rPr>
              <a:t>Customers, access and the API</a:t>
            </a:r>
          </a:p>
        </p:txBody>
      </p:sp>
      <p:sp>
        <p:nvSpPr>
          <p:cNvPr id="5" name="TextBox 4"/>
          <p:cNvSpPr txBox="1"/>
          <p:nvPr/>
        </p:nvSpPr>
        <p:spPr>
          <a:xfrm>
            <a:off x="1051560" y="3429000"/>
            <a:ext cx="10058400" cy="731520"/>
          </a:xfrm>
          <a:prstGeom prst="rect">
            <a:avLst/>
          </a:prstGeom>
          <a:noFill/>
        </p:spPr>
        <p:txBody>
          <a:bodyPr wrap="square" lIns="36576" rIns="36576" tIns="18288" bIns="18288" anchor="t">
            <a:spAutoFit/>
          </a:bodyPr>
          <a:lstStyle/>
          <a:p>
            <a:pPr algn="l"/>
            <a:r>
              <a:rPr sz="1700" b="0" i="0">
                <a:solidFill>
                  <a:srgbClr val="CBD5E1"/>
                </a:solidFill>
                <a:latin typeface="Calibri"/>
              </a:rPr>
              <a:t>Each customer sees its own service; staff see what their role allows.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94A3B8"/>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CUSTOMERS</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The customer's own view</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34</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4_customer.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09517" y="1576190"/>
            <a:ext cx="7404925" cy="318789"/>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54069" y="142074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2158763"/>
            <a:ext cx="5564695" cy="370710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200331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6450234" y="1924983"/>
            <a:ext cx="1664208" cy="4264361"/>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294786" y="176953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1765430" y="1251696"/>
            <a:ext cx="2121608" cy="191508"/>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609982" y="1096248"/>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Status</a:t>
            </a:r>
          </a:p>
          <a:p>
            <a:pPr algn="l"/>
            <a:r>
              <a:rPr sz="1150" b="0" i="0">
                <a:solidFill>
                  <a:srgbClr val="1F2937"/>
                </a:solidFill>
                <a:latin typeface="Calibri"/>
              </a:rPr>
              <a:t>Service status, incidents and planned maintenance for this customer.</a:t>
            </a:r>
          </a:p>
        </p:txBody>
      </p:sp>
      <p:sp>
        <p:nvSpPr>
          <p:cNvPr id="20" name="Oval 19"/>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Its own site</a:t>
            </a:r>
          </a:p>
          <a:p>
            <a:pPr algn="l"/>
            <a:r>
              <a:rPr sz="1150" b="0" i="0">
                <a:solidFill>
                  <a:srgbClr val="1F2937"/>
                </a:solidFill>
                <a:latin typeface="Calibri"/>
              </a:rPr>
              <a:t>The map, cut down to the customer's own site and the hubs it uses.</a:t>
            </a:r>
          </a:p>
        </p:txBody>
      </p:sp>
      <p:sp>
        <p:nvSpPr>
          <p:cNvPr id="22" name="Oval 21"/>
          <p:cNvSpPr/>
          <p:nvPr/>
        </p:nvSpPr>
        <p:spPr>
          <a:xfrm>
            <a:off x="8686800" y="296265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926079"/>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Its applications</a:t>
            </a:r>
          </a:p>
          <a:p>
            <a:pPr algn="l"/>
            <a:r>
              <a:rPr sz="1150" b="0" i="0">
                <a:solidFill>
                  <a:srgbClr val="1F2937"/>
                </a:solidFill>
                <a:latin typeface="Calibri"/>
              </a:rPr>
              <a:t>Its company details and live application status.</a:t>
            </a:r>
          </a:p>
        </p:txBody>
      </p:sp>
      <p:sp>
        <p:nvSpPr>
          <p:cNvPr id="24" name="Oval 23"/>
          <p:cNvSpPr/>
          <p:nvPr/>
        </p:nvSpPr>
        <p:spPr>
          <a:xfrm>
            <a:off x="8686800" y="384047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803904"/>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Its own pages</a:t>
            </a:r>
          </a:p>
          <a:p>
            <a:pPr algn="l"/>
            <a:r>
              <a:rPr sz="1150" b="0" i="0">
                <a:solidFill>
                  <a:srgbClr val="1F2937"/>
                </a:solidFill>
                <a:latin typeface="Calibri"/>
              </a:rPr>
              <a:t>Network, service levels, requests and diagnostics. Nothing else is reachable.</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Customers can answer their own questions, which means fewer tickets and more trust.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CUSTOMERS</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Customer self-service requests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35</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5_request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1809969"/>
            <a:ext cx="7234904" cy="1114201"/>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65452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3262963"/>
            <a:ext cx="7234904" cy="579134"/>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310751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Ask for a change</a:t>
            </a:r>
          </a:p>
          <a:p>
            <a:pPr algn="l"/>
            <a:r>
              <a:rPr sz="1150" b="0" i="0">
                <a:solidFill>
                  <a:srgbClr val="1F2937"/>
                </a:solidFill>
                <a:latin typeface="Calibri"/>
              </a:rPr>
              <a:t>Applications, the preferred hub or a second provider, with a reason.</a:t>
            </a:r>
          </a:p>
        </p:txBody>
      </p:sp>
      <p:sp>
        <p:nvSpPr>
          <p:cNvPr id="16" name="Oval 15"/>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048255"/>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Track it</a:t>
            </a:r>
          </a:p>
          <a:p>
            <a:pPr algn="l"/>
            <a:r>
              <a:rPr sz="1150" b="0" i="0">
                <a:solidFill>
                  <a:srgbClr val="1F2937"/>
                </a:solidFill>
                <a:latin typeface="Calibri"/>
              </a:rPr>
              <a:t>Each request becomes a change request for the operators, and its progress is shown here.</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Customers can request changes without email, and the request still goes through staff approval.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CUSTOMERS</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Self-service diagnostics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36</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6_diag.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1809969"/>
            <a:ext cx="7234904" cy="317539"/>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165452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2137510"/>
            <a:ext cx="7234904" cy="2602200"/>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198206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Tests from its LAN host</a:t>
            </a:r>
          </a:p>
          <a:p>
            <a:pPr algn="l"/>
            <a:r>
              <a:rPr sz="1150" b="0" i="0">
                <a:solidFill>
                  <a:srgbClr val="1F2937"/>
                </a:solidFill>
                <a:latin typeface="Calibri"/>
              </a:rPr>
              <a:t>The customer tests its applications, the hubs, or traces a path.</a:t>
            </a:r>
          </a:p>
        </p:txBody>
      </p:sp>
      <p:sp>
        <p:nvSpPr>
          <p:cNvPr id="16" name="Oval 15"/>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Every application, every hub</a:t>
            </a:r>
          </a:p>
          <a:p>
            <a:pPr algn="l"/>
            <a:r>
              <a:rPr sz="1150" b="0" i="0">
                <a:solidFill>
                  <a:srgbClr val="1F2937"/>
                </a:solidFill>
                <a:latin typeface="Calibri"/>
              </a:rPr>
              <a:t>Round-trip time, loss and HTTP status, run on demand.</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The first-line diagnosis is done by the customer in seconds, with no ticket needed.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SECURE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Lab tools and accounts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37</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3_tool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09517" y="1766839"/>
            <a:ext cx="7404925" cy="2171599"/>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54069" y="161139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794527" y="4801359"/>
            <a:ext cx="7234904" cy="1387985"/>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079" y="464591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Accounts and roles</a:t>
            </a:r>
          </a:p>
          <a:p>
            <a:pPr algn="l"/>
            <a:r>
              <a:rPr sz="1150" b="0" i="0">
                <a:solidFill>
                  <a:srgbClr val="1F2937"/>
                </a:solidFill>
                <a:latin typeface="Calibri"/>
              </a:rPr>
              <a:t>Admins add, disable and delete accounts and set passwords. Accounts still on their lab-default password are flagged.</a:t>
            </a:r>
          </a:p>
        </p:txBody>
      </p:sp>
      <p:sp>
        <p:nvSpPr>
          <p:cNvPr id="16" name="Oval 15"/>
          <p:cNvSpPr/>
          <p:nvPr/>
        </p:nvSpPr>
        <p:spPr>
          <a:xfrm>
            <a:off x="8686800" y="226771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231136"/>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Every tool</a:t>
            </a:r>
          </a:p>
          <a:p>
            <a:pPr algn="l"/>
            <a:r>
              <a:rPr sz="1150" b="0" i="0">
                <a:solidFill>
                  <a:srgbClr val="1F2937"/>
                </a:solidFill>
                <a:latin typeface="Calibri"/>
              </a:rPr>
              <a:t>Nautobot, the API, the lab hub and the repository, each with how to sign in.</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Access is managed in one place, with visible warnings when the defaults have not been changed.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AUTOMATE</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Everything is an API</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38</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31_api.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29519" y="1458753"/>
            <a:ext cx="7364920" cy="600075"/>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74071" y="1303305"/>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829532" y="2268855"/>
            <a:ext cx="7164895" cy="940117"/>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74084" y="211340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REST API</a:t>
            </a:r>
          </a:p>
          <a:p>
            <a:pPr algn="l"/>
            <a:r>
              <a:rPr sz="1150" b="0" i="0">
                <a:solidFill>
                  <a:srgbClr val="1F2937"/>
                </a:solidFill>
                <a:latin typeface="Calibri"/>
              </a:rPr>
              <a:t>Every screen in the portal is built on the same API, documented with Swagger.</a:t>
            </a:r>
          </a:p>
        </p:txBody>
      </p:sp>
      <p:sp>
        <p:nvSpPr>
          <p:cNvPr id="16" name="Oval 15"/>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By area</a:t>
            </a:r>
          </a:p>
          <a:p>
            <a:pPr algn="l"/>
            <a:r>
              <a:rPr sz="1150" b="0" i="0">
                <a:solidFill>
                  <a:srgbClr val="1F2937"/>
                </a:solidFill>
                <a:latin typeface="Calibri"/>
              </a:rPr>
              <a:t>Monitoring, state, customers, jobs, changes, SLA, and more.</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Other tools and pipelines can drive the lab the way the portal does.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ACCESS</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Light or dark, and roles everywhere</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39</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32_dark.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94527" y="2300655"/>
            <a:ext cx="5564695" cy="370710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9079" y="214520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5060139" y="1536185"/>
            <a:ext cx="1781488" cy="146304"/>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904691" y="138073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Dark mode</a:t>
            </a:r>
          </a:p>
          <a:p>
            <a:pPr algn="l"/>
            <a:r>
              <a:rPr sz="1150" b="0" i="0">
                <a:solidFill>
                  <a:srgbClr val="1F2937"/>
                </a:solidFill>
                <a:latin typeface="Calibri"/>
              </a:rPr>
              <a:t>Every page, including the live map.</a:t>
            </a:r>
          </a:p>
        </p:txBody>
      </p:sp>
      <p:sp>
        <p:nvSpPr>
          <p:cNvPr id="16" name="Oval 15"/>
          <p:cNvSpPr/>
          <p:nvPr/>
        </p:nvSpPr>
        <p:spPr>
          <a:xfrm>
            <a:off x="8686800" y="190195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1865376"/>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An operator</a:t>
            </a:r>
          </a:p>
          <a:p>
            <a:pPr algn="l"/>
            <a:r>
              <a:rPr sz="1150" b="0" i="0">
                <a:solidFill>
                  <a:srgbClr val="1F2937"/>
                </a:solidFill>
                <a:latin typeface="Calibri"/>
              </a:rPr>
              <a:t>It sees and changes the lab, but admin tasks such as key rotation and accounts are hidden.</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The portal fits the user, and each role only sees the actions it may take.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788920"/>
            <a:ext cx="109728" cy="11887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697480"/>
            <a:ext cx="10058400" cy="731520"/>
          </a:xfrm>
          <a:prstGeom prst="rect">
            <a:avLst/>
          </a:prstGeom>
          <a:noFill/>
        </p:spPr>
        <p:txBody>
          <a:bodyPr wrap="square" lIns="36576" rIns="36576" tIns="18288" bIns="18288" anchor="t">
            <a:spAutoFit/>
          </a:bodyPr>
          <a:lstStyle/>
          <a:p>
            <a:pPr algn="l"/>
            <a:r>
              <a:rPr sz="3600" b="1" i="0">
                <a:solidFill>
                  <a:srgbClr val="FFFFFF"/>
                </a:solidFill>
                <a:latin typeface="Calibri"/>
              </a:rPr>
              <a:t>Source of truth: Nautobot</a:t>
            </a:r>
          </a:p>
        </p:txBody>
      </p:sp>
      <p:sp>
        <p:nvSpPr>
          <p:cNvPr id="5" name="TextBox 4"/>
          <p:cNvSpPr txBox="1"/>
          <p:nvPr/>
        </p:nvSpPr>
        <p:spPr>
          <a:xfrm>
            <a:off x="1051560" y="3429000"/>
            <a:ext cx="10058400" cy="731520"/>
          </a:xfrm>
          <a:prstGeom prst="rect">
            <a:avLst/>
          </a:prstGeom>
          <a:noFill/>
        </p:spPr>
        <p:txBody>
          <a:bodyPr wrap="square" lIns="36576" rIns="36576" tIns="18288" bIns="18288" anchor="t">
            <a:spAutoFit/>
          </a:bodyPr>
          <a:lstStyle/>
          <a:p>
            <a:pPr algn="l"/>
            <a:r>
              <a:rPr sz="1700" b="0" i="0">
                <a:solidFill>
                  <a:srgbClr val="CBD5E1"/>
                </a:solidFill>
                <a:latin typeface="Calibri"/>
              </a:rPr>
              <a:t>Where the customers, their applications and the VPN are modelled.</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94A3B8"/>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Where the customers and the VPN live in Nautobot</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41</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TextBox 7"/>
          <p:cNvSpPr txBox="1"/>
          <p:nvPr/>
        </p:nvSpPr>
        <p:spPr>
          <a:xfrm>
            <a:off x="411480" y="1097280"/>
            <a:ext cx="11247120" cy="548640"/>
          </a:xfrm>
          <a:prstGeom prst="rect">
            <a:avLst/>
          </a:prstGeom>
          <a:noFill/>
        </p:spPr>
        <p:txBody>
          <a:bodyPr wrap="square" lIns="36576" rIns="36576" tIns="18288" bIns="18288" anchor="t">
            <a:spAutoFit/>
          </a:bodyPr>
          <a:lstStyle/>
          <a:p>
            <a:pPr algn="l"/>
            <a:r>
              <a:rPr sz="1400" b="0" i="0">
                <a:solidFill>
                  <a:srgbClr val="5B6778"/>
                </a:solidFill>
                <a:latin typeface="Calibri"/>
              </a:rPr>
              <a:t>lab.sh nautobot seed writes the whole lab into the shared Nautobot. The renderer can build every configuration from Nautobot alone, and a check proves the result is byte for byte the same as from lab.conf.</a:t>
            </a:r>
          </a:p>
        </p:txBody>
      </p:sp>
      <p:sp>
        <p:nvSpPr>
          <p:cNvPr id="9" name="TextBox 8"/>
          <p:cNvSpPr txBox="1"/>
          <p:nvPr/>
        </p:nvSpPr>
        <p:spPr>
          <a:xfrm>
            <a:off x="411480" y="1783080"/>
            <a:ext cx="3657600" cy="274320"/>
          </a:xfrm>
          <a:prstGeom prst="rect">
            <a:avLst/>
          </a:prstGeom>
          <a:noFill/>
        </p:spPr>
        <p:txBody>
          <a:bodyPr wrap="square" lIns="36576" rIns="36576" tIns="18288" bIns="18288" anchor="t">
            <a:spAutoFit/>
          </a:bodyPr>
          <a:lstStyle/>
          <a:p>
            <a:pPr algn="l"/>
            <a:r>
              <a:rPr sz="1000" b="1" i="0">
                <a:solidFill>
                  <a:srgbClr val="0E7490"/>
                </a:solidFill>
                <a:latin typeface="Calibri"/>
              </a:rPr>
              <a:t>THE CUSTOMER</a:t>
            </a:r>
          </a:p>
        </p:txBody>
      </p:sp>
      <p:sp>
        <p:nvSpPr>
          <p:cNvPr id="10" name="TextBox 9"/>
          <p:cNvSpPr txBox="1"/>
          <p:nvPr/>
        </p:nvSpPr>
        <p:spPr>
          <a:xfrm>
            <a:off x="4297680" y="1783080"/>
            <a:ext cx="3657600" cy="274320"/>
          </a:xfrm>
          <a:prstGeom prst="rect">
            <a:avLst/>
          </a:prstGeom>
          <a:noFill/>
        </p:spPr>
        <p:txBody>
          <a:bodyPr wrap="square" lIns="36576" rIns="36576" tIns="18288" bIns="18288" anchor="t">
            <a:spAutoFit/>
          </a:bodyPr>
          <a:lstStyle/>
          <a:p>
            <a:pPr algn="l"/>
            <a:r>
              <a:rPr sz="1000" b="1" i="0">
                <a:solidFill>
                  <a:srgbClr val="0E7490"/>
                </a:solidFill>
                <a:latin typeface="Calibri"/>
              </a:rPr>
              <a:t>THE NETWORK</a:t>
            </a:r>
          </a:p>
        </p:txBody>
      </p:sp>
      <p:sp>
        <p:nvSpPr>
          <p:cNvPr id="11" name="TextBox 10"/>
          <p:cNvSpPr txBox="1"/>
          <p:nvPr/>
        </p:nvSpPr>
        <p:spPr>
          <a:xfrm>
            <a:off x="8503920" y="1783080"/>
            <a:ext cx="3657600" cy="274320"/>
          </a:xfrm>
          <a:prstGeom prst="rect">
            <a:avLst/>
          </a:prstGeom>
          <a:noFill/>
        </p:spPr>
        <p:txBody>
          <a:bodyPr wrap="square" lIns="36576" rIns="36576" tIns="18288" bIns="18288" anchor="t">
            <a:spAutoFit/>
          </a:bodyPr>
          <a:lstStyle/>
          <a:p>
            <a:pPr algn="l"/>
            <a:r>
              <a:rPr sz="1000" b="1" i="0">
                <a:solidFill>
                  <a:srgbClr val="0E7490"/>
                </a:solidFill>
                <a:latin typeface="Calibri"/>
              </a:rPr>
              <a:t>THE VPN SERVICE</a:t>
            </a:r>
          </a:p>
        </p:txBody>
      </p:sp>
      <p:sp>
        <p:nvSpPr>
          <p:cNvPr id="12" name="Rounded Rectangle 11"/>
          <p:cNvSpPr/>
          <p:nvPr/>
        </p:nvSpPr>
        <p:spPr>
          <a:xfrm>
            <a:off x="411480" y="2103120"/>
            <a:ext cx="3291840" cy="96012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4632" y="2167127"/>
            <a:ext cx="31455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Tenant</a:t>
            </a:r>
          </a:p>
        </p:txBody>
      </p:sp>
      <p:sp>
        <p:nvSpPr>
          <p:cNvPr id="14" name="TextBox 13"/>
          <p:cNvSpPr txBox="1"/>
          <p:nvPr/>
        </p:nvSpPr>
        <p:spPr>
          <a:xfrm>
            <a:off x="484632" y="2450591"/>
            <a:ext cx="3145536" cy="576072"/>
          </a:xfrm>
          <a:prstGeom prst="rect">
            <a:avLst/>
          </a:prstGeom>
          <a:noFill/>
        </p:spPr>
        <p:txBody>
          <a:bodyPr wrap="square" lIns="36576" rIns="36576" tIns="18288" bIns="18288" anchor="t">
            <a:spAutoFit/>
          </a:bodyPr>
          <a:lstStyle/>
          <a:p>
            <a:pPr algn="ctr"/>
            <a:r>
              <a:rPr sz="1000" b="0" i="0">
                <a:solidFill>
                  <a:srgbClr val="5B6778"/>
                </a:solidFill>
                <a:latin typeface="Calibri"/>
              </a:rPr>
              <a:t>the customer company; custom fields: account, address, contact, industry</a:t>
            </a:r>
          </a:p>
        </p:txBody>
      </p:sp>
      <p:sp>
        <p:nvSpPr>
          <p:cNvPr id="15" name="Rounded Rectangle 14"/>
          <p:cNvSpPr/>
          <p:nvPr/>
        </p:nvSpPr>
        <p:spPr>
          <a:xfrm>
            <a:off x="411480" y="3429000"/>
            <a:ext cx="3291840" cy="96012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4632" y="3493008"/>
            <a:ext cx="31455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Virtual servers</a:t>
            </a:r>
          </a:p>
        </p:txBody>
      </p:sp>
      <p:sp>
        <p:nvSpPr>
          <p:cNvPr id="17" name="TextBox 16"/>
          <p:cNvSpPr txBox="1"/>
          <p:nvPr/>
        </p:nvSpPr>
        <p:spPr>
          <a:xfrm>
            <a:off x="484632" y="3776472"/>
            <a:ext cx="3145536" cy="576072"/>
          </a:xfrm>
          <a:prstGeom prst="rect">
            <a:avLst/>
          </a:prstGeom>
          <a:noFill/>
        </p:spPr>
        <p:txBody>
          <a:bodyPr wrap="square" lIns="36576" rIns="36576" tIns="18288" bIns="18288" anchor="t">
            <a:spAutoFit/>
          </a:bodyPr>
          <a:lstStyle/>
          <a:p>
            <a:pPr algn="ctr"/>
            <a:r>
              <a:rPr sz="1000" b="0" i="0">
                <a:solidFill>
                  <a:srgbClr val="5B6778"/>
                </a:solidFill>
                <a:latin typeface="Calibri"/>
              </a:rPr>
              <a:t>one per application per hub, with its VIP; linked to tenants as 'Application subscriptions'</a:t>
            </a:r>
          </a:p>
        </p:txBody>
      </p:sp>
      <p:sp>
        <p:nvSpPr>
          <p:cNvPr id="18" name="Rounded Rectangle 17"/>
          <p:cNvSpPr/>
          <p:nvPr/>
        </p:nvSpPr>
        <p:spPr>
          <a:xfrm>
            <a:off x="411480" y="4754880"/>
            <a:ext cx="329184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 y="4818888"/>
            <a:ext cx="31455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Locations</a:t>
            </a:r>
          </a:p>
        </p:txBody>
      </p:sp>
      <p:sp>
        <p:nvSpPr>
          <p:cNvPr id="20" name="TextBox 19"/>
          <p:cNvSpPr txBox="1"/>
          <p:nvPr/>
        </p:nvSpPr>
        <p:spPr>
          <a:xfrm>
            <a:off x="484632" y="5102352"/>
            <a:ext cx="3145536" cy="484632"/>
          </a:xfrm>
          <a:prstGeom prst="rect">
            <a:avLst/>
          </a:prstGeom>
          <a:noFill/>
        </p:spPr>
        <p:txBody>
          <a:bodyPr wrap="square" lIns="36576" rIns="36576" tIns="18288" bIns="18288" anchor="t">
            <a:spAutoFit/>
          </a:bodyPr>
          <a:lstStyle/>
          <a:p>
            <a:pPr algn="ctr"/>
            <a:r>
              <a:rPr sz="1000" b="0" i="0">
                <a:solidFill>
                  <a:srgbClr val="5B6778"/>
                </a:solidFill>
                <a:latin typeface="Calibri"/>
              </a:rPr>
              <a:t>c8000v-dmvpn-lab and regions c8d-east, -central, -west</a:t>
            </a:r>
          </a:p>
        </p:txBody>
      </p:sp>
      <p:sp>
        <p:nvSpPr>
          <p:cNvPr id="21" name="Rounded Rectangle 20"/>
          <p:cNvSpPr/>
          <p:nvPr/>
        </p:nvSpPr>
        <p:spPr>
          <a:xfrm>
            <a:off x="4297680" y="2103120"/>
            <a:ext cx="3657600" cy="960120"/>
          </a:xfrm>
          <a:prstGeom prst="roundRect">
            <a:avLst>
              <a:gd name="adj" fmla="val 12000"/>
            </a:avLst>
          </a:prstGeom>
          <a:solidFill>
            <a:srgbClr val="0B1B2E"/>
          </a:solidFill>
          <a:ln w="19050">
            <a:solidFill>
              <a:srgbClr val="0B1B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70832" y="2167127"/>
            <a:ext cx="3511296" cy="292608"/>
          </a:xfrm>
          <a:prstGeom prst="rect">
            <a:avLst/>
          </a:prstGeom>
          <a:noFill/>
        </p:spPr>
        <p:txBody>
          <a:bodyPr wrap="square" lIns="36576" rIns="36576" tIns="18288" bIns="18288" anchor="t">
            <a:spAutoFit/>
          </a:bodyPr>
          <a:lstStyle/>
          <a:p>
            <a:pPr algn="ctr"/>
            <a:r>
              <a:rPr sz="1250" b="1" i="0">
                <a:solidFill>
                  <a:srgbClr val="FFFFFF"/>
                </a:solidFill>
                <a:latin typeface="Calibri"/>
              </a:rPr>
              <a:t>Devices</a:t>
            </a:r>
          </a:p>
        </p:txBody>
      </p:sp>
      <p:sp>
        <p:nvSpPr>
          <p:cNvPr id="23" name="TextBox 22"/>
          <p:cNvSpPr txBox="1"/>
          <p:nvPr/>
        </p:nvSpPr>
        <p:spPr>
          <a:xfrm>
            <a:off x="4370832" y="2450591"/>
            <a:ext cx="3511296" cy="576072"/>
          </a:xfrm>
          <a:prstGeom prst="rect">
            <a:avLst/>
          </a:prstGeom>
          <a:noFill/>
        </p:spPr>
        <p:txBody>
          <a:bodyPr wrap="square" lIns="36576" rIns="36576" tIns="18288" bIns="18288" anchor="t">
            <a:spAutoFit/>
          </a:bodyPr>
          <a:lstStyle/>
          <a:p>
            <a:pPr algn="ctr"/>
            <a:r>
              <a:rPr sz="1000" b="0" i="0">
                <a:solidFill>
                  <a:srgbClr val="CBD5E1"/>
                </a:solidFill>
                <a:latin typeface="Calibri"/>
              </a:rPr>
              <a:t>c8d- names; roles dmvpn-hub, dmvpn-spoke, wan-provider, host; tenant = customer</a:t>
            </a:r>
          </a:p>
        </p:txBody>
      </p:sp>
      <p:sp>
        <p:nvSpPr>
          <p:cNvPr id="24" name="Rounded Rectangle 23"/>
          <p:cNvSpPr/>
          <p:nvPr/>
        </p:nvSpPr>
        <p:spPr>
          <a:xfrm>
            <a:off x="4297680" y="3429000"/>
            <a:ext cx="3657600" cy="96012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0832" y="3493008"/>
            <a:ext cx="3511296" cy="292608"/>
          </a:xfrm>
          <a:prstGeom prst="rect">
            <a:avLst/>
          </a:prstGeom>
          <a:noFill/>
        </p:spPr>
        <p:txBody>
          <a:bodyPr wrap="square" lIns="36576" rIns="36576" tIns="18288" bIns="18288" anchor="t">
            <a:spAutoFit/>
          </a:bodyPr>
          <a:lstStyle/>
          <a:p>
            <a:pPr algn="ctr"/>
            <a:r>
              <a:rPr sz="1250" b="1" i="0">
                <a:solidFill>
                  <a:srgbClr val="0B1B2E"/>
                </a:solidFill>
                <a:latin typeface="Calibri"/>
              </a:rPr>
              <a:t>Interfaces, IPs and cables</a:t>
            </a:r>
          </a:p>
        </p:txBody>
      </p:sp>
      <p:sp>
        <p:nvSpPr>
          <p:cNvPr id="26" name="TextBox 25"/>
          <p:cNvSpPr txBox="1"/>
          <p:nvPr/>
        </p:nvSpPr>
        <p:spPr>
          <a:xfrm>
            <a:off x="4370832" y="3776472"/>
            <a:ext cx="3511296" cy="576072"/>
          </a:xfrm>
          <a:prstGeom prst="rect">
            <a:avLst/>
          </a:prstGeom>
          <a:noFill/>
        </p:spPr>
        <p:txBody>
          <a:bodyPr wrap="square" lIns="36576" rIns="36576" tIns="18288" bIns="18288" anchor="t">
            <a:spAutoFit/>
          </a:bodyPr>
          <a:lstStyle/>
          <a:p>
            <a:pPr algn="ctr"/>
            <a:r>
              <a:rPr sz="1000" b="0" i="0">
                <a:solidFill>
                  <a:srgbClr val="5B6778"/>
                </a:solidFill>
                <a:latin typeface="Calibri"/>
              </a:rPr>
              <a:t>Tunnel0 (cloud 1), Tunnel1 (cloud 2), Loopback10 (VIPs), access links; a cable per link</a:t>
            </a:r>
          </a:p>
        </p:txBody>
      </p:sp>
      <p:sp>
        <p:nvSpPr>
          <p:cNvPr id="27" name="Rounded Rectangle 26"/>
          <p:cNvSpPr/>
          <p:nvPr/>
        </p:nvSpPr>
        <p:spPr>
          <a:xfrm>
            <a:off x="4297680" y="4754880"/>
            <a:ext cx="365760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70832" y="4818888"/>
            <a:ext cx="3511296" cy="292608"/>
          </a:xfrm>
          <a:prstGeom prst="rect">
            <a:avLst/>
          </a:prstGeom>
          <a:noFill/>
        </p:spPr>
        <p:txBody>
          <a:bodyPr wrap="square" lIns="36576" rIns="36576" tIns="18288" bIns="18288" anchor="t">
            <a:spAutoFit/>
          </a:bodyPr>
          <a:lstStyle/>
          <a:p>
            <a:pPr algn="ctr"/>
            <a:r>
              <a:rPr sz="1250" b="1" i="0">
                <a:solidFill>
                  <a:srgbClr val="0B1B2E"/>
                </a:solidFill>
                <a:latin typeface="Calibri"/>
              </a:rPr>
              <a:t>Prefixes with roles</a:t>
            </a:r>
          </a:p>
        </p:txBody>
      </p:sp>
      <p:sp>
        <p:nvSpPr>
          <p:cNvPr id="29" name="TextBox 28"/>
          <p:cNvSpPr txBox="1"/>
          <p:nvPr/>
        </p:nvSpPr>
        <p:spPr>
          <a:xfrm>
            <a:off x="4370832" y="5102352"/>
            <a:ext cx="3511296" cy="484632"/>
          </a:xfrm>
          <a:prstGeom prst="rect">
            <a:avLst/>
          </a:prstGeom>
          <a:noFill/>
        </p:spPr>
        <p:txBody>
          <a:bodyPr wrap="square" lIns="36576" rIns="36576" tIns="18288" bIns="18288" anchor="t">
            <a:spAutoFit/>
          </a:bodyPr>
          <a:lstStyle/>
          <a:p>
            <a:pPr algn="ctr"/>
            <a:r>
              <a:rPr sz="1000" b="0" i="0">
                <a:solidFill>
                  <a:srgbClr val="5B6778"/>
                </a:solidFill>
                <a:latin typeface="Calibri"/>
              </a:rPr>
              <a:t>dmvpn-overlay 172.28 / 172.29, site-lan, wan-p2p, oob-management</a:t>
            </a:r>
          </a:p>
        </p:txBody>
      </p:sp>
      <p:sp>
        <p:nvSpPr>
          <p:cNvPr id="30" name="Rounded Rectangle 29"/>
          <p:cNvSpPr/>
          <p:nvPr/>
        </p:nvSpPr>
        <p:spPr>
          <a:xfrm>
            <a:off x="8503920" y="2103120"/>
            <a:ext cx="3291840" cy="96012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77072" y="2167127"/>
            <a:ext cx="31455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Config context</a:t>
            </a:r>
          </a:p>
        </p:txBody>
      </p:sp>
      <p:sp>
        <p:nvSpPr>
          <p:cNvPr id="32" name="TextBox 31"/>
          <p:cNvSpPr txBox="1"/>
          <p:nvPr/>
        </p:nvSpPr>
        <p:spPr>
          <a:xfrm>
            <a:off x="8577072" y="2450591"/>
            <a:ext cx="3145536" cy="576072"/>
          </a:xfrm>
          <a:prstGeom prst="rect">
            <a:avLst/>
          </a:prstGeom>
          <a:noFill/>
        </p:spPr>
        <p:txBody>
          <a:bodyPr wrap="square" lIns="36576" rIns="36576" tIns="18288" bIns="18288" anchor="t">
            <a:spAutoFit/>
          </a:bodyPr>
          <a:lstStyle/>
          <a:p>
            <a:pPr algn="ctr"/>
            <a:r>
              <a:rPr sz="1000" b="0" i="0">
                <a:solidFill>
                  <a:srgbClr val="5B6778"/>
                </a:solidFill>
                <a:latin typeface="Calibri"/>
              </a:rPr>
              <a:t>the DMVPN service: NHRP, network-ids, tunnel keys, IKEv2 / IPsec, providers. No secrets</a:t>
            </a:r>
          </a:p>
        </p:txBody>
      </p:sp>
      <p:sp>
        <p:nvSpPr>
          <p:cNvPr id="33" name="Rounded Rectangle 32"/>
          <p:cNvSpPr/>
          <p:nvPr/>
        </p:nvSpPr>
        <p:spPr>
          <a:xfrm>
            <a:off x="8503920" y="3429000"/>
            <a:ext cx="3291840" cy="96012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77072" y="3493008"/>
            <a:ext cx="31455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BGP models</a:t>
            </a:r>
          </a:p>
        </p:txBody>
      </p:sp>
      <p:sp>
        <p:nvSpPr>
          <p:cNvPr id="35" name="TextBox 34"/>
          <p:cNvSpPr txBox="1"/>
          <p:nvPr/>
        </p:nvSpPr>
        <p:spPr>
          <a:xfrm>
            <a:off x="8577072" y="3776472"/>
            <a:ext cx="3145536" cy="576072"/>
          </a:xfrm>
          <a:prstGeom prst="rect">
            <a:avLst/>
          </a:prstGeom>
          <a:noFill/>
        </p:spPr>
        <p:txBody>
          <a:bodyPr wrap="square" lIns="36576" rIns="36576" tIns="18288" bIns="18288" anchor="t">
            <a:spAutoFit/>
          </a:bodyPr>
          <a:lstStyle/>
          <a:p>
            <a:pPr algn="ctr"/>
            <a:r>
              <a:rPr sz="1000" b="0" i="0">
                <a:solidFill>
                  <a:srgbClr val="5B6778"/>
                </a:solidFill>
                <a:latin typeface="Calibri"/>
              </a:rPr>
              <a:t>AS 65100 / 65000 / 65010, a routing instance per router, a peering per session</a:t>
            </a:r>
          </a:p>
        </p:txBody>
      </p:sp>
      <p:sp>
        <p:nvSpPr>
          <p:cNvPr id="36" name="Rounded Rectangle 35"/>
          <p:cNvSpPr/>
          <p:nvPr/>
        </p:nvSpPr>
        <p:spPr>
          <a:xfrm>
            <a:off x="8503920" y="4754880"/>
            <a:ext cx="329184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77072" y="4818888"/>
            <a:ext cx="31455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Saved GraphQL query</a:t>
            </a:r>
          </a:p>
        </p:txBody>
      </p:sp>
      <p:sp>
        <p:nvSpPr>
          <p:cNvPr id="38" name="TextBox 37"/>
          <p:cNvSpPr txBox="1"/>
          <p:nvPr/>
        </p:nvSpPr>
        <p:spPr>
          <a:xfrm>
            <a:off x="8577072" y="5102352"/>
            <a:ext cx="3145536" cy="484632"/>
          </a:xfrm>
          <a:prstGeom prst="rect">
            <a:avLst/>
          </a:prstGeom>
          <a:noFill/>
        </p:spPr>
        <p:txBody>
          <a:bodyPr wrap="square" lIns="36576" rIns="36576" tIns="18288" bIns="18288" anchor="t">
            <a:spAutoFit/>
          </a:bodyPr>
          <a:lstStyle/>
          <a:p>
            <a:pPr algn="ctr"/>
            <a:r>
              <a:rPr sz="1000" b="0" i="0">
                <a:solidFill>
                  <a:srgbClr val="5B6778"/>
                </a:solidFill>
                <a:latin typeface="Calibri"/>
              </a:rPr>
              <a:t>c8000v-dmvpn-lab-model: what the renderer reads</a:t>
            </a:r>
          </a:p>
        </p:txBody>
      </p:sp>
      <p:cxnSp>
        <p:nvCxnSpPr>
          <p:cNvPr id="39" name="Connector 38"/>
          <p:cNvCxnSpPr/>
          <p:nvPr/>
        </p:nvCxnSpPr>
        <p:spPr>
          <a:xfrm>
            <a:off x="3703320" y="2578608"/>
            <a:ext cx="594360" cy="0"/>
          </a:xfrm>
          <a:prstGeom prst="line">
            <a:avLst/>
          </a:prstGeom>
          <a:ln w="16510">
            <a:solidFill>
              <a:srgbClr val="5B6778"/>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3177540" y="2377439"/>
            <a:ext cx="1645920" cy="228600"/>
          </a:xfrm>
          <a:prstGeom prst="rect">
            <a:avLst/>
          </a:prstGeom>
          <a:noFill/>
        </p:spPr>
        <p:txBody>
          <a:bodyPr wrap="square" lIns="36576" rIns="36576" tIns="18288" bIns="18288" anchor="t">
            <a:spAutoFit/>
          </a:bodyPr>
          <a:lstStyle/>
          <a:p>
            <a:pPr algn="ctr"/>
            <a:r>
              <a:rPr sz="900" b="0" i="0">
                <a:solidFill>
                  <a:srgbClr val="5B6778"/>
                </a:solidFill>
                <a:latin typeface="Calibri"/>
              </a:rPr>
              <a:t>tenant</a:t>
            </a:r>
          </a:p>
        </p:txBody>
      </p:sp>
      <p:cxnSp>
        <p:nvCxnSpPr>
          <p:cNvPr id="41" name="Connector 40"/>
          <p:cNvCxnSpPr/>
          <p:nvPr/>
        </p:nvCxnSpPr>
        <p:spPr>
          <a:xfrm flipV="1">
            <a:off x="3703320" y="2697480"/>
            <a:ext cx="594360" cy="1207007"/>
          </a:xfrm>
          <a:prstGeom prst="line">
            <a:avLst/>
          </a:prstGeom>
          <a:ln w="16510">
            <a:solidFill>
              <a:srgbClr val="5B677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3703320" y="2834640"/>
            <a:ext cx="594360" cy="2350008"/>
          </a:xfrm>
          <a:prstGeom prst="line">
            <a:avLst/>
          </a:prstGeom>
          <a:ln w="16510">
            <a:solidFill>
              <a:srgbClr val="5B6778"/>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177540" y="3808476"/>
            <a:ext cx="1645920" cy="228600"/>
          </a:xfrm>
          <a:prstGeom prst="rect">
            <a:avLst/>
          </a:prstGeom>
          <a:noFill/>
        </p:spPr>
        <p:txBody>
          <a:bodyPr wrap="square" lIns="36576" rIns="36576" tIns="18288" bIns="18288" anchor="t">
            <a:spAutoFit/>
          </a:bodyPr>
          <a:lstStyle/>
          <a:p>
            <a:pPr algn="ctr"/>
            <a:r>
              <a:rPr sz="900" b="0" i="0">
                <a:solidFill>
                  <a:srgbClr val="5B6778"/>
                </a:solidFill>
                <a:latin typeface="Calibri"/>
              </a:rPr>
              <a:t>location</a:t>
            </a:r>
          </a:p>
        </p:txBody>
      </p:sp>
      <p:cxnSp>
        <p:nvCxnSpPr>
          <p:cNvPr id="44" name="Connector 43"/>
          <p:cNvCxnSpPr/>
          <p:nvPr/>
        </p:nvCxnSpPr>
        <p:spPr>
          <a:xfrm>
            <a:off x="6126480" y="3063240"/>
            <a:ext cx="0" cy="365760"/>
          </a:xfrm>
          <a:prstGeom prst="line">
            <a:avLst/>
          </a:prstGeom>
          <a:ln w="16510">
            <a:solidFill>
              <a:srgbClr val="5B677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26480" y="4389120"/>
            <a:ext cx="0" cy="365760"/>
          </a:xfrm>
          <a:prstGeom prst="line">
            <a:avLst/>
          </a:prstGeom>
          <a:ln w="16510">
            <a:solidFill>
              <a:srgbClr val="5B677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955279" y="2578608"/>
            <a:ext cx="548641" cy="0"/>
          </a:xfrm>
          <a:prstGeom prst="line">
            <a:avLst/>
          </a:prstGeom>
          <a:ln w="16510">
            <a:solidFill>
              <a:srgbClr val="5B6778"/>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7406640" y="2377439"/>
            <a:ext cx="1645920" cy="228600"/>
          </a:xfrm>
          <a:prstGeom prst="rect">
            <a:avLst/>
          </a:prstGeom>
          <a:noFill/>
        </p:spPr>
        <p:txBody>
          <a:bodyPr wrap="square" lIns="36576" rIns="36576" tIns="18288" bIns="18288" anchor="t">
            <a:spAutoFit/>
          </a:bodyPr>
          <a:lstStyle/>
          <a:p>
            <a:pPr algn="ctr"/>
            <a:r>
              <a:rPr sz="900" b="0" i="0">
                <a:solidFill>
                  <a:srgbClr val="5B6778"/>
                </a:solidFill>
                <a:latin typeface="Calibri"/>
              </a:rPr>
              <a:t>applies to</a:t>
            </a:r>
          </a:p>
        </p:txBody>
      </p:sp>
      <p:cxnSp>
        <p:nvCxnSpPr>
          <p:cNvPr id="48" name="Connector 47"/>
          <p:cNvCxnSpPr/>
          <p:nvPr/>
        </p:nvCxnSpPr>
        <p:spPr>
          <a:xfrm>
            <a:off x="7955279" y="3904487"/>
            <a:ext cx="548641" cy="0"/>
          </a:xfrm>
          <a:prstGeom prst="line">
            <a:avLst/>
          </a:prstGeom>
          <a:ln w="16510">
            <a:solidFill>
              <a:srgbClr val="5B6778"/>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7406640" y="3703320"/>
            <a:ext cx="1645920" cy="228600"/>
          </a:xfrm>
          <a:prstGeom prst="rect">
            <a:avLst/>
          </a:prstGeom>
          <a:noFill/>
        </p:spPr>
        <p:txBody>
          <a:bodyPr wrap="square" lIns="36576" rIns="36576" tIns="18288" bIns="18288" anchor="t">
            <a:spAutoFit/>
          </a:bodyPr>
          <a:lstStyle/>
          <a:p>
            <a:pPr algn="ctr"/>
            <a:r>
              <a:rPr sz="900" b="0" i="0">
                <a:solidFill>
                  <a:srgbClr val="5B6778"/>
                </a:solidFill>
                <a:latin typeface="Calibri"/>
              </a:rPr>
              <a:t>per router</a:t>
            </a:r>
          </a:p>
        </p:txBody>
      </p:sp>
      <p:sp>
        <p:nvSpPr>
          <p:cNvPr id="50" name="TextBox 49"/>
          <p:cNvSpPr txBox="1"/>
          <p:nvPr/>
        </p:nvSpPr>
        <p:spPr>
          <a:xfrm>
            <a:off x="411480" y="5806440"/>
            <a:ext cx="11338560" cy="548640"/>
          </a:xfrm>
          <a:prstGeom prst="rect">
            <a:avLst/>
          </a:prstGeom>
          <a:noFill/>
        </p:spPr>
        <p:txBody>
          <a:bodyPr wrap="square" lIns="36576" rIns="36576" tIns="18288" bIns="18288" anchor="t">
            <a:spAutoFit/>
          </a:bodyPr>
          <a:lstStyle/>
          <a:p>
            <a:pPr algn="l"/>
            <a:r>
              <a:rPr sz="1150" b="1" i="0">
                <a:solidFill>
                  <a:srgbClr val="0B1B2E"/>
                </a:solidFill>
                <a:latin typeface="Calibri"/>
              </a:rPr>
              <a:t>Deliberately not in Nautobot: </a:t>
            </a:r>
            <a:r>
              <a:rPr sz="1150" b="0" i="0">
                <a:solidFill>
                  <a:srgbClr val="1F2937"/>
                </a:solidFill>
                <a:latin typeface="Calibri"/>
              </a:rPr>
              <a:t>the pre-shared key and the NHRP secret. They stay in secrets/ on the lab host.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every device of the lab</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42</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0_nb_device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684639" y="2151262"/>
            <a:ext cx="6654831" cy="3005375"/>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9191" y="19958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3048637" y="2151262"/>
            <a:ext cx="1613264" cy="223152"/>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893189" y="19958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4597893" y="2151262"/>
            <a:ext cx="798162" cy="223152"/>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442445" y="19958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6341783" y="2151262"/>
            <a:ext cx="890126" cy="223152"/>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186335" y="19958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lab's devices</a:t>
            </a:r>
          </a:p>
          <a:p>
            <a:pPr algn="l"/>
            <a:r>
              <a:rPr sz="1150" b="0" i="0">
                <a:solidFill>
                  <a:srgbClr val="1F2937"/>
                </a:solidFill>
                <a:latin typeface="Calibri"/>
              </a:rPr>
              <a:t>Routers, providers and LAN hosts, under their c8d- names in the shared Nautobot.</a:t>
            </a:r>
          </a:p>
        </p:txBody>
      </p:sp>
      <p:sp>
        <p:nvSpPr>
          <p:cNvPr id="20" name="Oval 19"/>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Tenant</a:t>
            </a:r>
          </a:p>
          <a:p>
            <a:pPr algn="l"/>
            <a:r>
              <a:rPr sz="1150" b="0" i="0">
                <a:solidFill>
                  <a:srgbClr val="1F2937"/>
                </a:solidFill>
                <a:latin typeface="Calibri"/>
              </a:rPr>
              <a:t>Each customer's router and host belong to its company.</a:t>
            </a:r>
          </a:p>
        </p:txBody>
      </p:sp>
      <p:sp>
        <p:nvSpPr>
          <p:cNvPr id="22" name="Oval 21"/>
          <p:cNvSpPr/>
          <p:nvPr/>
        </p:nvSpPr>
        <p:spPr>
          <a:xfrm>
            <a:off x="8686800" y="296265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926079"/>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Role</a:t>
            </a:r>
          </a:p>
          <a:p>
            <a:pPr algn="l"/>
            <a:r>
              <a:rPr sz="1150" b="0" i="0">
                <a:solidFill>
                  <a:srgbClr val="1F2937"/>
                </a:solidFill>
                <a:latin typeface="Calibri"/>
              </a:rPr>
              <a:t>dmvpn-hub, dmvpn-spoke, wan-provider, host.</a:t>
            </a:r>
          </a:p>
        </p:txBody>
      </p:sp>
      <p:sp>
        <p:nvSpPr>
          <p:cNvPr id="24" name="Oval 23"/>
          <p:cNvSpPr/>
          <p:nvPr/>
        </p:nvSpPr>
        <p:spPr>
          <a:xfrm>
            <a:off x="8686800" y="384047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803904"/>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Location</a:t>
            </a:r>
          </a:p>
          <a:p>
            <a:pPr algn="l"/>
            <a:r>
              <a:rPr sz="1150" b="0" i="0">
                <a:solidFill>
                  <a:srgbClr val="1F2937"/>
                </a:solidFill>
                <a:latin typeface="Calibri"/>
              </a:rPr>
              <a:t>Its region: c8d-east, -central or -west.</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One inventory for every lab on the host; this lab's part is easy to find and to filter.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a customer company as a tenant</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43</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1_nb_tenant.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393508" y="2147902"/>
            <a:ext cx="3479513" cy="788457"/>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238060" y="199245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1393508" y="3317657"/>
            <a:ext cx="3479513" cy="2005641"/>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238060" y="3162209"/>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1393508" y="5345645"/>
            <a:ext cx="3479513" cy="421537"/>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238060" y="519019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4886992" y="2147902"/>
            <a:ext cx="3479513" cy="1932741"/>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731544" y="199245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Tenant</a:t>
            </a:r>
          </a:p>
          <a:p>
            <a:pPr algn="l"/>
            <a:r>
              <a:rPr sz="1150" b="0" i="0">
                <a:solidFill>
                  <a:srgbClr val="1F2937"/>
                </a:solidFill>
                <a:latin typeface="Calibri"/>
              </a:rPr>
              <a:t>Prairie Grain Logistics, in the c8000v-dmvpn-lab customers group.</a:t>
            </a:r>
          </a:p>
        </p:txBody>
      </p:sp>
      <p:sp>
        <p:nvSpPr>
          <p:cNvPr id="20" name="Oval 19"/>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Custom fields</a:t>
            </a:r>
          </a:p>
          <a:p>
            <a:pPr algn="l"/>
            <a:r>
              <a:rPr sz="1150" b="0" i="0">
                <a:solidFill>
                  <a:srgbClr val="1F2937"/>
                </a:solidFill>
                <a:latin typeface="Calibri"/>
              </a:rPr>
              <a:t>Account, address, contact, email, industry, phone.</a:t>
            </a:r>
          </a:p>
        </p:txBody>
      </p:sp>
      <p:sp>
        <p:nvSpPr>
          <p:cNvPr id="22" name="Oval 21"/>
          <p:cNvSpPr/>
          <p:nvPr/>
        </p:nvSpPr>
        <p:spPr>
          <a:xfrm>
            <a:off x="8686800" y="296265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926079"/>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Subscribed applications</a:t>
            </a:r>
          </a:p>
          <a:p>
            <a:pPr algn="l"/>
            <a:r>
              <a:rPr sz="1150" b="0" i="0">
                <a:solidFill>
                  <a:srgbClr val="1F2937"/>
                </a:solidFill>
                <a:latin typeface="Calibri"/>
              </a:rPr>
              <a:t>A relationship to the virtual servers it uses, at every hub.</a:t>
            </a:r>
          </a:p>
        </p:txBody>
      </p:sp>
      <p:sp>
        <p:nvSpPr>
          <p:cNvPr id="24" name="Oval 23"/>
          <p:cNvSpPr/>
          <p:nvPr/>
        </p:nvSpPr>
        <p:spPr>
          <a:xfrm>
            <a:off x="8686800" y="384047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803904"/>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Its devices</a:t>
            </a:r>
          </a:p>
          <a:p>
            <a:pPr algn="l"/>
            <a:r>
              <a:rPr sz="1150" b="0" i="0">
                <a:solidFill>
                  <a:srgbClr val="1F2937"/>
                </a:solidFill>
                <a:latin typeface="Calibri"/>
              </a:rPr>
              <a:t>Its router and its LAN host.</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The customer record the portal edits is the one Nautobot holds: no second customer list to keep in sync.</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applications as virtual servers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44</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2_nb_app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684639" y="2151262"/>
            <a:ext cx="6654831" cy="3742342"/>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9191" y="19958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4356535" y="2151262"/>
            <a:ext cx="850121" cy="223152"/>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01087" y="19958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Oval 13"/>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5" name="TextBox 14"/>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One per application per hub</a:t>
            </a:r>
          </a:p>
          <a:p>
            <a:pPr algn="l"/>
            <a:r>
              <a:rPr sz="1150" b="0" i="0">
                <a:solidFill>
                  <a:srgbClr val="1F2937"/>
                </a:solidFill>
                <a:latin typeface="Calibri"/>
              </a:rPr>
              <a:t>APP-1001 to APP-1010, each at the hubs that host it.</a:t>
            </a:r>
          </a:p>
        </p:txBody>
      </p:sp>
      <p:sp>
        <p:nvSpPr>
          <p:cNvPr id="16" name="Oval 15"/>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7" name="TextBox 16"/>
          <p:cNvSpPr txBox="1"/>
          <p:nvPr/>
        </p:nvSpPr>
        <p:spPr>
          <a:xfrm>
            <a:off x="9070848" y="2048255"/>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Its VIP</a:t>
            </a:r>
          </a:p>
          <a:p>
            <a:pPr algn="l"/>
            <a:r>
              <a:rPr sz="1150" b="0" i="0">
                <a:solidFill>
                  <a:srgbClr val="1F2937"/>
                </a:solidFill>
                <a:latin typeface="Calibri"/>
              </a:rPr>
              <a:t>An address on the hub's Loopback10, with port and protocol; the portal's application checks test these.</a:t>
            </a:r>
          </a:p>
        </p:txBody>
      </p:sp>
      <p:sp>
        <p:nvSpPr>
          <p:cNvPr id="18" name="Rounded Rectangle 17"/>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Applications and who subscribes to them are modelled, not just the routers.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a hub</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45</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3_nb_device.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679638" y="2412622"/>
            <a:ext cx="3314414" cy="2015720"/>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4190" y="225717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5483863" y="1931312"/>
            <a:ext cx="652675" cy="200650"/>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328415" y="177586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5030057" y="5584269"/>
            <a:ext cx="3314414" cy="601950"/>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874609" y="542882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Oval 15"/>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7" name="TextBox 16"/>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device</a:t>
            </a:r>
          </a:p>
          <a:p>
            <a:pPr algn="l"/>
            <a:r>
              <a:rPr sz="1150" b="0" i="0">
                <a:solidFill>
                  <a:srgbClr val="1F2937"/>
                </a:solidFill>
                <a:latin typeface="Calibri"/>
              </a:rPr>
              <a:t>Location, role dmvpn-hub, platform, management address, autonomous system.</a:t>
            </a:r>
          </a:p>
        </p:txBody>
      </p:sp>
      <p:sp>
        <p:nvSpPr>
          <p:cNvPr id="18" name="Oval 17"/>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9" name="TextBox 18"/>
          <p:cNvSpPr txBox="1"/>
          <p:nvPr/>
        </p:nvSpPr>
        <p:spPr>
          <a:xfrm>
            <a:off x="9070848" y="2048255"/>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Interfaces</a:t>
            </a:r>
          </a:p>
          <a:p>
            <a:pPr algn="l"/>
            <a:r>
              <a:rPr sz="1150" b="0" i="0">
                <a:solidFill>
                  <a:srgbClr val="1F2937"/>
                </a:solidFill>
                <a:latin typeface="Calibri"/>
              </a:rPr>
              <a:t>Its tunnels, loopbacks and access links.</a:t>
            </a:r>
          </a:p>
        </p:txBody>
      </p:sp>
      <p:sp>
        <p:nvSpPr>
          <p:cNvPr id="20" name="Oval 19"/>
          <p:cNvSpPr/>
          <p:nvPr/>
        </p:nvSpPr>
        <p:spPr>
          <a:xfrm>
            <a:off x="8686800" y="2779775"/>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1" name="TextBox 20"/>
          <p:cNvSpPr txBox="1"/>
          <p:nvPr/>
        </p:nvSpPr>
        <p:spPr>
          <a:xfrm>
            <a:off x="9070848" y="2743199"/>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Autonomous system</a:t>
            </a:r>
          </a:p>
          <a:p>
            <a:pPr algn="l"/>
            <a:r>
              <a:rPr sz="1150" b="0" i="0">
                <a:solidFill>
                  <a:srgbClr val="1F2937"/>
                </a:solidFill>
                <a:latin typeface="Calibri"/>
              </a:rPr>
              <a:t>AS 65100, from the BGP models; the Config Context tab shows the DMVPN service data that applies to it.</a:t>
            </a:r>
          </a:p>
        </p:txBody>
      </p:sp>
      <p:sp>
        <p:nvSpPr>
          <p:cNvPr id="22" name="Rounded Rectangle 21"/>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Everything needed to build this hub's configuration is on this page or one click away.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the VPN on the hub's interfaces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46</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4_nb_iface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684639" y="4387869"/>
            <a:ext cx="6727840" cy="62820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9191" y="4232421"/>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1684639" y="4976068"/>
            <a:ext cx="6727840" cy="726340"/>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529191" y="482062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1684639" y="4101584"/>
            <a:ext cx="6727840" cy="326290"/>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529191" y="3946136"/>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1684639" y="2936438"/>
            <a:ext cx="6727840" cy="336292"/>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529191" y="278099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Tunnel0</a:t>
            </a:r>
          </a:p>
          <a:p>
            <a:pPr algn="l"/>
            <a:r>
              <a:rPr sz="1150" b="0" i="0">
                <a:solidFill>
                  <a:srgbClr val="1F2937"/>
                </a:solidFill>
                <a:latin typeface="Calibri"/>
              </a:rPr>
              <a:t>Cloud 1: mGRE, phase 3, sourced from GigabitEthernet2.</a:t>
            </a:r>
          </a:p>
        </p:txBody>
      </p:sp>
      <p:sp>
        <p:nvSpPr>
          <p:cNvPr id="20" name="Oval 19"/>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Tunnel1</a:t>
            </a:r>
          </a:p>
          <a:p>
            <a:pPr algn="l"/>
            <a:r>
              <a:rPr sz="1150" b="0" i="0">
                <a:solidFill>
                  <a:srgbClr val="1F2937"/>
                </a:solidFill>
                <a:latin typeface="Calibri"/>
              </a:rPr>
              <a:t>Cloud 2, the backup: sourced from GigabitEthernet4 into mpls2.</a:t>
            </a:r>
          </a:p>
        </p:txBody>
      </p:sp>
      <p:sp>
        <p:nvSpPr>
          <p:cNvPr id="22" name="Oval 21"/>
          <p:cNvSpPr/>
          <p:nvPr/>
        </p:nvSpPr>
        <p:spPr>
          <a:xfrm>
            <a:off x="8686800" y="296265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926079"/>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Loopback10</a:t>
            </a:r>
          </a:p>
          <a:p>
            <a:pPr algn="l"/>
            <a:r>
              <a:rPr sz="1150" b="0" i="0">
                <a:solidFill>
                  <a:srgbClr val="1F2937"/>
                </a:solidFill>
                <a:latin typeface="Calibri"/>
              </a:rPr>
              <a:t>The hub LAN, carrying the application VIPs.</a:t>
            </a:r>
          </a:p>
        </p:txBody>
      </p:sp>
      <p:sp>
        <p:nvSpPr>
          <p:cNvPr id="24" name="Oval 23"/>
          <p:cNvSpPr/>
          <p:nvPr/>
        </p:nvSpPr>
        <p:spPr>
          <a:xfrm>
            <a:off x="8686800" y="384047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803904"/>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Access link</a:t>
            </a:r>
          </a:p>
          <a:p>
            <a:pPr algn="l"/>
            <a:r>
              <a:rPr sz="1150" b="0" i="0">
                <a:solidFill>
                  <a:srgbClr val="1F2937"/>
                </a:solidFill>
                <a:latin typeface="Calibri"/>
              </a:rPr>
              <a:t>Cabled to the provider's port.</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The two DMVPN clouds are modelled as real interfaces with their sources, addresses and cables.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the addressing plan</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47</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5_nb_prefixe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684639" y="4290904"/>
            <a:ext cx="6654831" cy="326290"/>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9191" y="4135456"/>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1684639" y="3903981"/>
            <a:ext cx="6654831" cy="426928"/>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529191" y="3748533"/>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1684639" y="3514088"/>
            <a:ext cx="6654831" cy="234951"/>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529191" y="335864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5765305" y="2151262"/>
            <a:ext cx="809726" cy="233154"/>
          </a:xfrm>
          <a:prstGeom prst="roundRect">
            <a:avLst>
              <a:gd name="adj" fmla="val 25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09857" y="19958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Cloud 1</a:t>
            </a:r>
          </a:p>
          <a:p>
            <a:pPr algn="l"/>
            <a:r>
              <a:rPr sz="1150" b="0" i="0">
                <a:solidFill>
                  <a:srgbClr val="1F2937"/>
                </a:solidFill>
                <a:latin typeface="Calibri"/>
              </a:rPr>
              <a:t>172.28.0.0/24, role dmvpn-overlay: network-id 1, tunnel key 100.</a:t>
            </a:r>
          </a:p>
        </p:txBody>
      </p:sp>
      <p:sp>
        <p:nvSpPr>
          <p:cNvPr id="20" name="Oval 19"/>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Cloud 2</a:t>
            </a:r>
          </a:p>
          <a:p>
            <a:pPr algn="l"/>
            <a:r>
              <a:rPr sz="1150" b="0" i="0">
                <a:solidFill>
                  <a:srgbClr val="1F2937"/>
                </a:solidFill>
                <a:latin typeface="Calibri"/>
              </a:rPr>
              <a:t>172.29.0.0/24: network-id 2, tunnel key 200.</a:t>
            </a:r>
          </a:p>
        </p:txBody>
      </p:sp>
      <p:sp>
        <p:nvSpPr>
          <p:cNvPr id="22" name="Oval 21"/>
          <p:cNvSpPr/>
          <p:nvPr/>
        </p:nvSpPr>
        <p:spPr>
          <a:xfrm>
            <a:off x="8686800" y="296265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926079"/>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Site LANs</a:t>
            </a:r>
          </a:p>
          <a:p>
            <a:pPr algn="l"/>
            <a:r>
              <a:rPr sz="1150" b="0" i="0">
                <a:solidFill>
                  <a:srgbClr val="1F2937"/>
                </a:solidFill>
                <a:latin typeface="Calibri"/>
              </a:rPr>
              <a:t>Each customer's LAN, role site-lan.</a:t>
            </a:r>
          </a:p>
        </p:txBody>
      </p:sp>
      <p:sp>
        <p:nvSpPr>
          <p:cNvPr id="24" name="Oval 23"/>
          <p:cNvSpPr/>
          <p:nvPr/>
        </p:nvSpPr>
        <p:spPr>
          <a:xfrm>
            <a:off x="8686800" y="365759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621023"/>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Roles</a:t>
            </a:r>
          </a:p>
          <a:p>
            <a:pPr algn="l"/>
            <a:r>
              <a:rPr sz="1150" b="0" i="0">
                <a:solidFill>
                  <a:srgbClr val="1F2937"/>
                </a:solidFill>
                <a:latin typeface="Calibri"/>
              </a:rPr>
              <a:t>site-lan, dmvpn-overlay, wan-p2p, oob-management.</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Every prefix says what it is for, so the allocator and the renderer agree.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tunnel addresses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48</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6_nb_tunnel_ip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684639" y="2151262"/>
            <a:ext cx="6654831" cy="1785848"/>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9191" y="19958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Oval 11"/>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3" name="TextBox 12"/>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Tunnel0 addresses</a:t>
            </a:r>
          </a:p>
          <a:p>
            <a:pPr algn="l"/>
            <a:r>
              <a:rPr sz="1150" b="0" i="0">
                <a:solidFill>
                  <a:srgbClr val="1F2937"/>
                </a:solidFill>
                <a:latin typeface="Calibri"/>
              </a:rPr>
              <a:t>Each router's address in cloud 1, assigned to its Tunnel0: hubs .1 to .3, customers from their index.</a:t>
            </a:r>
          </a:p>
        </p:txBody>
      </p:sp>
      <p:sp>
        <p:nvSpPr>
          <p:cNvPr id="14" name="Rounded Rectangle 13"/>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NHRP registrations and BGP neighbours come straight from these addresses.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every BGP session</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49</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7_nb_peering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684639" y="2151262"/>
            <a:ext cx="6654831" cy="4038082"/>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9191" y="19958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Oval 11"/>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3" name="TextBox 12"/>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Peerings</a:t>
            </a:r>
          </a:p>
          <a:p>
            <a:pPr algn="l"/>
            <a:r>
              <a:rPr sz="1150" b="0" i="0">
                <a:solidFill>
                  <a:srgbClr val="1F2937"/>
                </a:solidFill>
                <a:latin typeface="Calibri"/>
              </a:rPr>
              <a:t>Hub↔hub, hub (route reflector) ↔ customer, and site ↔ provider, over both clouds and both providers.</a:t>
            </a:r>
          </a:p>
        </p:txBody>
      </p:sp>
      <p:sp>
        <p:nvSpPr>
          <p:cNvPr id="14" name="Rounded Rectangle 13"/>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The routing design is data: a missing or extra session shows up as a difference, not a surprise.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BGP routing instances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50</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8_nb_bgp.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684639" y="2151262"/>
            <a:ext cx="6654831" cy="2077134"/>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9191" y="19958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Oval 11"/>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3" name="TextBox 12"/>
          <p:cNvSpPr txBox="1"/>
          <p:nvPr/>
        </p:nvSpPr>
        <p:spPr>
          <a:xfrm>
            <a:off x="9070848" y="1170432"/>
            <a:ext cx="2819095" cy="832104"/>
          </a:xfrm>
          <a:prstGeom prst="rect">
            <a:avLst/>
          </a:prstGeom>
          <a:noFill/>
        </p:spPr>
        <p:txBody>
          <a:bodyPr wrap="square" lIns="36576" rIns="36576" tIns="18288" bIns="18288" anchor="t">
            <a:spAutoFit/>
          </a:bodyPr>
          <a:lstStyle/>
          <a:p>
            <a:pPr algn="l"/>
            <a:r>
              <a:rPr sz="1300" b="1" i="0">
                <a:solidFill>
                  <a:srgbClr val="0B1B2E"/>
                </a:solidFill>
                <a:latin typeface="Calibri"/>
              </a:rPr>
              <a:t>Routing instances</a:t>
            </a:r>
          </a:p>
          <a:p>
            <a:pPr algn="l"/>
            <a:r>
              <a:rPr sz="1150" b="0" i="0">
                <a:solidFill>
                  <a:srgbClr val="1F2937"/>
                </a:solidFill>
                <a:latin typeface="Calibri"/>
              </a:rPr>
              <a:t>One per router: its autonomous system (65100 sites, 65000 and 65010 providers) and router-id.</a:t>
            </a:r>
          </a:p>
        </p:txBody>
      </p:sp>
      <p:sp>
        <p:nvSpPr>
          <p:cNvPr id="14" name="Rounded Rectangle 13"/>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AS numbers and router-ids are allocated once and read from here.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the DMVPN service as a config context</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51</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59_nb_context.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679638" y="1229897"/>
            <a:ext cx="6664832" cy="4959447"/>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4190" y="1074449"/>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Oval 11"/>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3" name="TextBox 12"/>
          <p:cNvSpPr txBox="1"/>
          <p:nvPr/>
        </p:nvSpPr>
        <p:spPr>
          <a:xfrm>
            <a:off x="9070848" y="1170432"/>
            <a:ext cx="2819095" cy="1014984"/>
          </a:xfrm>
          <a:prstGeom prst="rect">
            <a:avLst/>
          </a:prstGeom>
          <a:noFill/>
        </p:spPr>
        <p:txBody>
          <a:bodyPr wrap="square" lIns="36576" rIns="36576" tIns="18288" bIns="18288" anchor="t">
            <a:spAutoFit/>
          </a:bodyPr>
          <a:lstStyle/>
          <a:p>
            <a:pPr algn="l"/>
            <a:r>
              <a:rPr sz="1300" b="1" i="0">
                <a:solidFill>
                  <a:srgbClr val="0B1B2E"/>
                </a:solidFill>
                <a:latin typeface="Calibri"/>
              </a:rPr>
              <a:t>The service</a:t>
            </a:r>
          </a:p>
          <a:p>
            <a:pPr algn="l"/>
            <a:r>
              <a:rPr sz="1150" b="0" i="0">
                <a:solidFill>
                  <a:srgbClr val="1F2937"/>
                </a:solidFill>
                <a:latin typeface="Calibri"/>
              </a:rPr>
              <a:t>AS, both clouds (overlay, network-id, tunnel key), NHRP hold times, hubs and spokes, the IKEv2 and IPsec proposals, the providers. No pre-shared key.</a:t>
            </a:r>
          </a:p>
        </p:txBody>
      </p:sp>
      <p:sp>
        <p:nvSpPr>
          <p:cNvPr id="14" name="Rounded Rectangle 13"/>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The VPN service's settings are one reviewed document, applied to the whole lab.</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SOURCE OF TRUTH</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Nautobot: the query the renderer reads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52</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60_nb_graphql.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1679638" y="2412622"/>
            <a:ext cx="3314414" cy="336893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4190" y="225717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Oval 11"/>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3" name="TextBox 12"/>
          <p:cNvSpPr txBox="1"/>
          <p:nvPr/>
        </p:nvSpPr>
        <p:spPr>
          <a:xfrm>
            <a:off x="9070848" y="1170432"/>
            <a:ext cx="2819095" cy="1014984"/>
          </a:xfrm>
          <a:prstGeom prst="rect">
            <a:avLst/>
          </a:prstGeom>
          <a:noFill/>
        </p:spPr>
        <p:txBody>
          <a:bodyPr wrap="square" lIns="36576" rIns="36576" tIns="18288" bIns="18288" anchor="t">
            <a:spAutoFit/>
          </a:bodyPr>
          <a:lstStyle/>
          <a:p>
            <a:pPr algn="l"/>
            <a:r>
              <a:rPr sz="1300" b="1" i="0">
                <a:solidFill>
                  <a:srgbClr val="0B1B2E"/>
                </a:solidFill>
                <a:latin typeface="Calibri"/>
              </a:rPr>
              <a:t>Saved GraphQL query</a:t>
            </a:r>
          </a:p>
          <a:p>
            <a:pPr algn="l"/>
            <a:r>
              <a:rPr sz="1150" b="0" i="0">
                <a:solidFill>
                  <a:srgbClr val="1F2937"/>
                </a:solidFill>
                <a:latin typeface="Calibri"/>
              </a:rPr>
              <a:t>c8000v-dmvpn-lab-model: the config context, devices, interfaces, IPs and BGP in one call. The same renderer turns it into every configuration.</a:t>
            </a:r>
          </a:p>
        </p:txBody>
      </p:sp>
      <p:sp>
        <p:nvSpPr>
          <p:cNvPr id="14" name="Rounded Rectangle 13"/>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lab.sh nautobot render --check proves Nautobot and lab.conf produce identical configurations.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788920"/>
            <a:ext cx="109728" cy="11887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697480"/>
            <a:ext cx="10058400" cy="731520"/>
          </a:xfrm>
          <a:prstGeom prst="rect">
            <a:avLst/>
          </a:prstGeom>
          <a:noFill/>
        </p:spPr>
        <p:txBody>
          <a:bodyPr wrap="square" lIns="36576" rIns="36576" tIns="18288" bIns="18288" anchor="t">
            <a:spAutoFit/>
          </a:bodyPr>
          <a:lstStyle/>
          <a:p>
            <a:pPr algn="l"/>
            <a:r>
              <a:rPr sz="3600" b="1" i="0">
                <a:solidFill>
                  <a:srgbClr val="FFFFFF"/>
                </a:solidFill>
                <a:latin typeface="Calibri"/>
              </a:rPr>
              <a:t>Monitoring</a:t>
            </a:r>
          </a:p>
        </p:txBody>
      </p:sp>
      <p:sp>
        <p:nvSpPr>
          <p:cNvPr id="5" name="TextBox 4"/>
          <p:cNvSpPr txBox="1"/>
          <p:nvPr/>
        </p:nvSpPr>
        <p:spPr>
          <a:xfrm>
            <a:off x="1051560" y="3429000"/>
            <a:ext cx="10058400" cy="731520"/>
          </a:xfrm>
          <a:prstGeom prst="rect">
            <a:avLst/>
          </a:prstGeom>
          <a:noFill/>
        </p:spPr>
        <p:txBody>
          <a:bodyPr wrap="square" lIns="36576" rIns="36576" tIns="18288" bIns="18288" anchor="t">
            <a:spAutoFit/>
          </a:bodyPr>
          <a:lstStyle/>
          <a:p>
            <a:pPr algn="l"/>
            <a:r>
              <a:rPr sz="1700" b="0" i="0">
                <a:solidFill>
                  <a:srgbClr val="CBD5E1"/>
                </a:solidFill>
                <a:latin typeface="Calibri"/>
              </a:rPr>
              <a:t>Prometheus, VictoriaMetrics, VictoriaLogs and Grafana: the lab over time.</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94A3B8"/>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MONITORING</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How the lab is monitored</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54</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TextBox 7"/>
          <p:cNvSpPr txBox="1"/>
          <p:nvPr/>
        </p:nvSpPr>
        <p:spPr>
          <a:xfrm>
            <a:off x="411480" y="1097280"/>
            <a:ext cx="11247120" cy="548640"/>
          </a:xfrm>
          <a:prstGeom prst="rect">
            <a:avLst/>
          </a:prstGeom>
          <a:noFill/>
        </p:spPr>
        <p:txBody>
          <a:bodyPr wrap="square" lIns="36576" rIns="36576" tIns="18288" bIns="18288" anchor="t">
            <a:spAutoFit/>
          </a:bodyPr>
          <a:lstStyle/>
          <a:p>
            <a:pPr algn="l"/>
            <a:r>
              <a:rPr sz="1400" b="0" i="0">
                <a:solidFill>
                  <a:srgbClr val="5B6778"/>
                </a:solidFill>
                <a:latin typeface="Calibri"/>
              </a:rPr>
              <a:t>The shared monitoring stack on the NMS covers this lab. IOS XE has no exporter, so the portal itself measures the C8000v routers every minute and publishes the results as Prometheus metrics.</a:t>
            </a:r>
          </a:p>
        </p:txBody>
      </p:sp>
      <p:sp>
        <p:nvSpPr>
          <p:cNvPr id="9" name="TextBox 8"/>
          <p:cNvSpPr txBox="1"/>
          <p:nvPr/>
        </p:nvSpPr>
        <p:spPr>
          <a:xfrm>
            <a:off x="411480" y="1828800"/>
            <a:ext cx="2377440" cy="274320"/>
          </a:xfrm>
          <a:prstGeom prst="rect">
            <a:avLst/>
          </a:prstGeom>
          <a:noFill/>
        </p:spPr>
        <p:txBody>
          <a:bodyPr wrap="square" lIns="36576" rIns="36576" tIns="18288" bIns="18288" anchor="t">
            <a:spAutoFit/>
          </a:bodyPr>
          <a:lstStyle/>
          <a:p>
            <a:pPr algn="l"/>
            <a:r>
              <a:rPr sz="1000" b="1" i="0">
                <a:solidFill>
                  <a:srgbClr val="0E7490"/>
                </a:solidFill>
                <a:latin typeface="Calibri"/>
              </a:rPr>
              <a:t>SOURCES</a:t>
            </a:r>
          </a:p>
        </p:txBody>
      </p:sp>
      <p:sp>
        <p:nvSpPr>
          <p:cNvPr id="10" name="TextBox 9"/>
          <p:cNvSpPr txBox="1"/>
          <p:nvPr/>
        </p:nvSpPr>
        <p:spPr>
          <a:xfrm>
            <a:off x="3246120" y="1828800"/>
            <a:ext cx="2560320" cy="274320"/>
          </a:xfrm>
          <a:prstGeom prst="rect">
            <a:avLst/>
          </a:prstGeom>
          <a:noFill/>
        </p:spPr>
        <p:txBody>
          <a:bodyPr wrap="square" lIns="36576" rIns="36576" tIns="18288" bIns="18288" anchor="t">
            <a:spAutoFit/>
          </a:bodyPr>
          <a:lstStyle/>
          <a:p>
            <a:pPr algn="l"/>
            <a:r>
              <a:rPr sz="1000" b="1" i="0">
                <a:solidFill>
                  <a:srgbClr val="0E7490"/>
                </a:solidFill>
                <a:latin typeface="Calibri"/>
              </a:rPr>
              <a:t>COLLECTION</a:t>
            </a:r>
          </a:p>
        </p:txBody>
      </p:sp>
      <p:sp>
        <p:nvSpPr>
          <p:cNvPr id="11" name="TextBox 10"/>
          <p:cNvSpPr txBox="1"/>
          <p:nvPr/>
        </p:nvSpPr>
        <p:spPr>
          <a:xfrm>
            <a:off x="6263640" y="1828800"/>
            <a:ext cx="2377440" cy="274320"/>
          </a:xfrm>
          <a:prstGeom prst="rect">
            <a:avLst/>
          </a:prstGeom>
          <a:noFill/>
        </p:spPr>
        <p:txBody>
          <a:bodyPr wrap="square" lIns="36576" rIns="36576" tIns="18288" bIns="18288" anchor="t">
            <a:spAutoFit/>
          </a:bodyPr>
          <a:lstStyle/>
          <a:p>
            <a:pPr algn="l"/>
            <a:r>
              <a:rPr sz="1000" b="1" i="0">
                <a:solidFill>
                  <a:srgbClr val="0E7490"/>
                </a:solidFill>
                <a:latin typeface="Calibri"/>
              </a:rPr>
              <a:t>STORES</a:t>
            </a:r>
          </a:p>
        </p:txBody>
      </p:sp>
      <p:sp>
        <p:nvSpPr>
          <p:cNvPr id="12" name="TextBox 11"/>
          <p:cNvSpPr txBox="1"/>
          <p:nvPr/>
        </p:nvSpPr>
        <p:spPr>
          <a:xfrm>
            <a:off x="9326880" y="1828800"/>
            <a:ext cx="2377440" cy="274320"/>
          </a:xfrm>
          <a:prstGeom prst="rect">
            <a:avLst/>
          </a:prstGeom>
          <a:noFill/>
        </p:spPr>
        <p:txBody>
          <a:bodyPr wrap="square" lIns="36576" rIns="36576" tIns="18288" bIns="18288" anchor="t">
            <a:spAutoFit/>
          </a:bodyPr>
          <a:lstStyle/>
          <a:p>
            <a:pPr algn="l"/>
            <a:r>
              <a:rPr sz="1000" b="1" i="0">
                <a:solidFill>
                  <a:srgbClr val="0E7490"/>
                </a:solidFill>
                <a:latin typeface="Calibri"/>
              </a:rPr>
              <a:t>VIEWS AND ALERTS</a:t>
            </a:r>
          </a:p>
        </p:txBody>
      </p:sp>
      <p:sp>
        <p:nvSpPr>
          <p:cNvPr id="13" name="Rounded Rectangle 12"/>
          <p:cNvSpPr/>
          <p:nvPr/>
        </p:nvSpPr>
        <p:spPr>
          <a:xfrm>
            <a:off x="411480" y="2148840"/>
            <a:ext cx="237744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 y="2221992"/>
            <a:ext cx="22311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Catalyst 8000v</a:t>
            </a:r>
          </a:p>
        </p:txBody>
      </p:sp>
      <p:sp>
        <p:nvSpPr>
          <p:cNvPr id="15" name="TextBox 14"/>
          <p:cNvSpPr txBox="1"/>
          <p:nvPr/>
        </p:nvSpPr>
        <p:spPr>
          <a:xfrm>
            <a:off x="484632" y="2514600"/>
            <a:ext cx="2231136" cy="457199"/>
          </a:xfrm>
          <a:prstGeom prst="rect">
            <a:avLst/>
          </a:prstGeom>
          <a:noFill/>
        </p:spPr>
        <p:txBody>
          <a:bodyPr wrap="square" lIns="36576" rIns="36576" tIns="18288" bIns="18288" anchor="t">
            <a:spAutoFit/>
          </a:bodyPr>
          <a:lstStyle/>
          <a:p>
            <a:pPr algn="ctr"/>
            <a:r>
              <a:rPr sz="1000" b="0" i="0">
                <a:solidFill>
                  <a:srgbClr val="5B6778"/>
                </a:solidFill>
                <a:latin typeface="Calibri"/>
              </a:rPr>
              <a:t>hubs and customers</a:t>
            </a:r>
          </a:p>
        </p:txBody>
      </p:sp>
      <p:sp>
        <p:nvSpPr>
          <p:cNvPr id="16" name="Rounded Rectangle 15"/>
          <p:cNvSpPr/>
          <p:nvPr/>
        </p:nvSpPr>
        <p:spPr>
          <a:xfrm>
            <a:off x="411480" y="3200400"/>
            <a:ext cx="237744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 y="3273552"/>
            <a:ext cx="22311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VyOS</a:t>
            </a:r>
          </a:p>
        </p:txBody>
      </p:sp>
      <p:sp>
        <p:nvSpPr>
          <p:cNvPr id="18" name="TextBox 17"/>
          <p:cNvSpPr txBox="1"/>
          <p:nvPr/>
        </p:nvSpPr>
        <p:spPr>
          <a:xfrm>
            <a:off x="484632" y="3566160"/>
            <a:ext cx="2231136" cy="457199"/>
          </a:xfrm>
          <a:prstGeom prst="rect">
            <a:avLst/>
          </a:prstGeom>
          <a:noFill/>
        </p:spPr>
        <p:txBody>
          <a:bodyPr wrap="square" lIns="36576" rIns="36576" tIns="18288" bIns="18288" anchor="t">
            <a:spAutoFit/>
          </a:bodyPr>
          <a:lstStyle/>
          <a:p>
            <a:pPr algn="ctr"/>
            <a:r>
              <a:rPr sz="1000" b="0" i="0">
                <a:solidFill>
                  <a:srgbClr val="5B6778"/>
                </a:solidFill>
                <a:latin typeface="Calibri"/>
              </a:rPr>
              <a:t>providers and VyOS customers</a:t>
            </a:r>
          </a:p>
        </p:txBody>
      </p:sp>
      <p:sp>
        <p:nvSpPr>
          <p:cNvPr id="19" name="Rounded Rectangle 18"/>
          <p:cNvSpPr/>
          <p:nvPr/>
        </p:nvSpPr>
        <p:spPr>
          <a:xfrm>
            <a:off x="411480" y="4251960"/>
            <a:ext cx="237744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 y="4325112"/>
            <a:ext cx="22311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LAN hosts</a:t>
            </a:r>
          </a:p>
        </p:txBody>
      </p:sp>
      <p:sp>
        <p:nvSpPr>
          <p:cNvPr id="21" name="TextBox 20"/>
          <p:cNvSpPr txBox="1"/>
          <p:nvPr/>
        </p:nvSpPr>
        <p:spPr>
          <a:xfrm>
            <a:off x="484632" y="4617720"/>
            <a:ext cx="2231136" cy="457199"/>
          </a:xfrm>
          <a:prstGeom prst="rect">
            <a:avLst/>
          </a:prstGeom>
          <a:noFill/>
        </p:spPr>
        <p:txBody>
          <a:bodyPr wrap="square" lIns="36576" rIns="36576" tIns="18288" bIns="18288" anchor="t">
            <a:spAutoFit/>
          </a:bodyPr>
          <a:lstStyle/>
          <a:p>
            <a:pPr algn="ctr"/>
            <a:r>
              <a:rPr sz="1000" b="0" i="0">
                <a:solidFill>
                  <a:srgbClr val="5B6778"/>
                </a:solidFill>
                <a:latin typeface="Calibri"/>
              </a:rPr>
              <a:t>Alpine, one per site</a:t>
            </a:r>
          </a:p>
        </p:txBody>
      </p:sp>
      <p:sp>
        <p:nvSpPr>
          <p:cNvPr id="22" name="Rounded Rectangle 21"/>
          <p:cNvSpPr/>
          <p:nvPr/>
        </p:nvSpPr>
        <p:spPr>
          <a:xfrm>
            <a:off x="3246120" y="2148840"/>
            <a:ext cx="2560320" cy="868680"/>
          </a:xfrm>
          <a:prstGeom prst="roundRect">
            <a:avLst>
              <a:gd name="adj" fmla="val 12000"/>
            </a:avLst>
          </a:prstGeom>
          <a:solidFill>
            <a:srgbClr val="0B1B2E"/>
          </a:solidFill>
          <a:ln w="19050">
            <a:solidFill>
              <a:srgbClr val="0B1B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19272" y="2221992"/>
            <a:ext cx="2414015" cy="292608"/>
          </a:xfrm>
          <a:prstGeom prst="rect">
            <a:avLst/>
          </a:prstGeom>
          <a:noFill/>
        </p:spPr>
        <p:txBody>
          <a:bodyPr wrap="square" lIns="36576" rIns="36576" tIns="18288" bIns="18288" anchor="t">
            <a:spAutoFit/>
          </a:bodyPr>
          <a:lstStyle/>
          <a:p>
            <a:pPr algn="ctr"/>
            <a:r>
              <a:rPr sz="1250" b="1" i="0">
                <a:solidFill>
                  <a:srgbClr val="FFFFFF"/>
                </a:solidFill>
                <a:latin typeface="Calibri"/>
              </a:rPr>
              <a:t>The portal: /metrics</a:t>
            </a:r>
          </a:p>
        </p:txBody>
      </p:sp>
      <p:sp>
        <p:nvSpPr>
          <p:cNvPr id="24" name="TextBox 23"/>
          <p:cNvSpPr txBox="1"/>
          <p:nvPr/>
        </p:nvSpPr>
        <p:spPr>
          <a:xfrm>
            <a:off x="3319272" y="2514600"/>
            <a:ext cx="2414015" cy="457199"/>
          </a:xfrm>
          <a:prstGeom prst="rect">
            <a:avLst/>
          </a:prstGeom>
          <a:noFill/>
        </p:spPr>
        <p:txBody>
          <a:bodyPr wrap="square" lIns="36576" rIns="36576" tIns="18288" bIns="18288" anchor="t">
            <a:spAutoFit/>
          </a:bodyPr>
          <a:lstStyle/>
          <a:p>
            <a:pPr algn="ctr"/>
            <a:r>
              <a:rPr sz="1000" b="0" i="0">
                <a:solidFill>
                  <a:srgbClr val="CBD5E1"/>
                </a:solidFill>
                <a:latin typeface="Calibri"/>
              </a:rPr>
              <a:t>polls every router each minute: NHRP, IPsec, BGP, CPU, SLA probes, app checks</a:t>
            </a:r>
          </a:p>
        </p:txBody>
      </p:sp>
      <p:sp>
        <p:nvSpPr>
          <p:cNvPr id="25" name="Rounded Rectangle 24"/>
          <p:cNvSpPr/>
          <p:nvPr/>
        </p:nvSpPr>
        <p:spPr>
          <a:xfrm>
            <a:off x="3246120" y="3200400"/>
            <a:ext cx="256032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19272" y="3273552"/>
            <a:ext cx="2414015" cy="292608"/>
          </a:xfrm>
          <a:prstGeom prst="rect">
            <a:avLst/>
          </a:prstGeom>
          <a:noFill/>
        </p:spPr>
        <p:txBody>
          <a:bodyPr wrap="square" lIns="36576" rIns="36576" tIns="18288" bIns="18288" anchor="t">
            <a:spAutoFit/>
          </a:bodyPr>
          <a:lstStyle/>
          <a:p>
            <a:pPr algn="ctr"/>
            <a:r>
              <a:rPr sz="1250" b="1" i="0">
                <a:solidFill>
                  <a:srgbClr val="0B1B2E"/>
                </a:solidFill>
                <a:latin typeface="Calibri"/>
              </a:rPr>
              <a:t>Exporters and Telegraf</a:t>
            </a:r>
          </a:p>
        </p:txBody>
      </p:sp>
      <p:sp>
        <p:nvSpPr>
          <p:cNvPr id="27" name="TextBox 26"/>
          <p:cNvSpPr txBox="1"/>
          <p:nvPr/>
        </p:nvSpPr>
        <p:spPr>
          <a:xfrm>
            <a:off x="3319272" y="3566160"/>
            <a:ext cx="2414015" cy="457199"/>
          </a:xfrm>
          <a:prstGeom prst="rect">
            <a:avLst/>
          </a:prstGeom>
          <a:noFill/>
        </p:spPr>
        <p:txBody>
          <a:bodyPr wrap="square" lIns="36576" rIns="36576" tIns="18288" bIns="18288" anchor="t">
            <a:spAutoFit/>
          </a:bodyPr>
          <a:lstStyle/>
          <a:p>
            <a:pPr algn="ctr"/>
            <a:r>
              <a:rPr sz="1000" b="0" i="0">
                <a:solidFill>
                  <a:srgbClr val="5B6778"/>
                </a:solidFill>
                <a:latin typeface="Calibri"/>
              </a:rPr>
              <a:t>node-exporter, frr-exporter; Telegraf pushes</a:t>
            </a:r>
          </a:p>
        </p:txBody>
      </p:sp>
      <p:sp>
        <p:nvSpPr>
          <p:cNvPr id="28" name="Rounded Rectangle 27"/>
          <p:cNvSpPr/>
          <p:nvPr/>
        </p:nvSpPr>
        <p:spPr>
          <a:xfrm>
            <a:off x="3246120" y="4251960"/>
            <a:ext cx="256032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19272" y="4325112"/>
            <a:ext cx="2414015" cy="292608"/>
          </a:xfrm>
          <a:prstGeom prst="rect">
            <a:avLst/>
          </a:prstGeom>
          <a:noFill/>
        </p:spPr>
        <p:txBody>
          <a:bodyPr wrap="square" lIns="36576" rIns="36576" tIns="18288" bIns="18288" anchor="t">
            <a:spAutoFit/>
          </a:bodyPr>
          <a:lstStyle/>
          <a:p>
            <a:pPr algn="ctr"/>
            <a:r>
              <a:rPr sz="1250" b="1" i="0">
                <a:solidFill>
                  <a:srgbClr val="0B1B2E"/>
                </a:solidFill>
                <a:latin typeface="Calibri"/>
              </a:rPr>
              <a:t>Syslog</a:t>
            </a:r>
          </a:p>
        </p:txBody>
      </p:sp>
      <p:sp>
        <p:nvSpPr>
          <p:cNvPr id="30" name="TextBox 29"/>
          <p:cNvSpPr txBox="1"/>
          <p:nvPr/>
        </p:nvSpPr>
        <p:spPr>
          <a:xfrm>
            <a:off x="3319272" y="4617720"/>
            <a:ext cx="2414015" cy="457199"/>
          </a:xfrm>
          <a:prstGeom prst="rect">
            <a:avLst/>
          </a:prstGeom>
          <a:noFill/>
        </p:spPr>
        <p:txBody>
          <a:bodyPr wrap="square" lIns="36576" rIns="36576" tIns="18288" bIns="18288" anchor="t">
            <a:spAutoFit/>
          </a:bodyPr>
          <a:lstStyle/>
          <a:p>
            <a:pPr algn="ctr"/>
            <a:r>
              <a:rPr sz="1000" b="0" i="0">
                <a:solidFill>
                  <a:srgbClr val="5B6778"/>
                </a:solidFill>
                <a:latin typeface="Calibri"/>
              </a:rPr>
              <a:t>C8000v and VyOS → UDP 5514</a:t>
            </a:r>
          </a:p>
        </p:txBody>
      </p:sp>
      <p:sp>
        <p:nvSpPr>
          <p:cNvPr id="31" name="Rounded Rectangle 30"/>
          <p:cNvSpPr/>
          <p:nvPr/>
        </p:nvSpPr>
        <p:spPr>
          <a:xfrm>
            <a:off x="6263640" y="2148840"/>
            <a:ext cx="237744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2221992"/>
            <a:ext cx="22311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Prometheus</a:t>
            </a:r>
          </a:p>
        </p:txBody>
      </p:sp>
      <p:sp>
        <p:nvSpPr>
          <p:cNvPr id="33" name="TextBox 32"/>
          <p:cNvSpPr txBox="1"/>
          <p:nvPr/>
        </p:nvSpPr>
        <p:spPr>
          <a:xfrm>
            <a:off x="6336792" y="2514600"/>
            <a:ext cx="2231136" cy="457199"/>
          </a:xfrm>
          <a:prstGeom prst="rect">
            <a:avLst/>
          </a:prstGeom>
          <a:noFill/>
        </p:spPr>
        <p:txBody>
          <a:bodyPr wrap="square" lIns="36576" rIns="36576" tIns="18288" bIns="18288" anchor="t">
            <a:spAutoFit/>
          </a:bodyPr>
          <a:lstStyle/>
          <a:p>
            <a:pPr algn="ctr"/>
            <a:r>
              <a:rPr sz="1000" b="0" i="0">
                <a:solidFill>
                  <a:srgbClr val="5B6778"/>
                </a:solidFill>
                <a:latin typeface="Calibri"/>
              </a:rPr>
              <a:t>scrapes; targets from the portal's /api/sd</a:t>
            </a:r>
          </a:p>
        </p:txBody>
      </p:sp>
      <p:sp>
        <p:nvSpPr>
          <p:cNvPr id="34" name="Rounded Rectangle 33"/>
          <p:cNvSpPr/>
          <p:nvPr/>
        </p:nvSpPr>
        <p:spPr>
          <a:xfrm>
            <a:off x="6263640" y="3200400"/>
            <a:ext cx="237744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36792" y="3273552"/>
            <a:ext cx="22311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VictoriaMetrics</a:t>
            </a:r>
          </a:p>
        </p:txBody>
      </p:sp>
      <p:sp>
        <p:nvSpPr>
          <p:cNvPr id="36" name="TextBox 35"/>
          <p:cNvSpPr txBox="1"/>
          <p:nvPr/>
        </p:nvSpPr>
        <p:spPr>
          <a:xfrm>
            <a:off x="6336792" y="3566160"/>
            <a:ext cx="2231136" cy="457199"/>
          </a:xfrm>
          <a:prstGeom prst="rect">
            <a:avLst/>
          </a:prstGeom>
          <a:noFill/>
        </p:spPr>
        <p:txBody>
          <a:bodyPr wrap="square" lIns="36576" rIns="36576" tIns="18288" bIns="18288" anchor="t">
            <a:spAutoFit/>
          </a:bodyPr>
          <a:lstStyle/>
          <a:p>
            <a:pPr algn="ctr"/>
            <a:r>
              <a:rPr sz="1000" b="0" i="0">
                <a:solidFill>
                  <a:srgbClr val="5B6778"/>
                </a:solidFill>
                <a:latin typeface="Calibri"/>
              </a:rPr>
              <a:t>long-term metrics</a:t>
            </a:r>
          </a:p>
        </p:txBody>
      </p:sp>
      <p:sp>
        <p:nvSpPr>
          <p:cNvPr id="37" name="Rounded Rectangle 36"/>
          <p:cNvSpPr/>
          <p:nvPr/>
        </p:nvSpPr>
        <p:spPr>
          <a:xfrm>
            <a:off x="6263640" y="4251960"/>
            <a:ext cx="237744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36792" y="4325112"/>
            <a:ext cx="2231136" cy="292608"/>
          </a:xfrm>
          <a:prstGeom prst="rect">
            <a:avLst/>
          </a:prstGeom>
          <a:noFill/>
        </p:spPr>
        <p:txBody>
          <a:bodyPr wrap="square" lIns="36576" rIns="36576" tIns="18288" bIns="18288" anchor="t">
            <a:spAutoFit/>
          </a:bodyPr>
          <a:lstStyle/>
          <a:p>
            <a:pPr algn="ctr"/>
            <a:r>
              <a:rPr sz="1250" b="1" i="0">
                <a:solidFill>
                  <a:srgbClr val="0B1B2E"/>
                </a:solidFill>
                <a:latin typeface="Calibri"/>
              </a:rPr>
              <a:t>VictoriaLogs</a:t>
            </a:r>
          </a:p>
        </p:txBody>
      </p:sp>
      <p:sp>
        <p:nvSpPr>
          <p:cNvPr id="39" name="TextBox 38"/>
          <p:cNvSpPr txBox="1"/>
          <p:nvPr/>
        </p:nvSpPr>
        <p:spPr>
          <a:xfrm>
            <a:off x="6336792" y="4617720"/>
            <a:ext cx="2231136" cy="457199"/>
          </a:xfrm>
          <a:prstGeom prst="rect">
            <a:avLst/>
          </a:prstGeom>
          <a:noFill/>
        </p:spPr>
        <p:txBody>
          <a:bodyPr wrap="square" lIns="36576" rIns="36576" tIns="18288" bIns="18288" anchor="t">
            <a:spAutoFit/>
          </a:bodyPr>
          <a:lstStyle/>
          <a:p>
            <a:pPr algn="ctr"/>
            <a:r>
              <a:rPr sz="1000" b="0" i="0">
                <a:solidFill>
                  <a:srgbClr val="5B6778"/>
                </a:solidFill>
                <a:latin typeface="Calibri"/>
              </a:rPr>
              <a:t>router syslog, searchable</a:t>
            </a:r>
          </a:p>
        </p:txBody>
      </p:sp>
      <p:sp>
        <p:nvSpPr>
          <p:cNvPr id="40" name="Rounded Rectangle 39"/>
          <p:cNvSpPr/>
          <p:nvPr/>
        </p:nvSpPr>
        <p:spPr>
          <a:xfrm>
            <a:off x="9326880" y="2148840"/>
            <a:ext cx="246888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400032" y="2221992"/>
            <a:ext cx="2322576" cy="292608"/>
          </a:xfrm>
          <a:prstGeom prst="rect">
            <a:avLst/>
          </a:prstGeom>
          <a:noFill/>
        </p:spPr>
        <p:txBody>
          <a:bodyPr wrap="square" lIns="36576" rIns="36576" tIns="18288" bIns="18288" anchor="t">
            <a:spAutoFit/>
          </a:bodyPr>
          <a:lstStyle/>
          <a:p>
            <a:pPr algn="ctr"/>
            <a:r>
              <a:rPr sz="1250" b="1" i="0">
                <a:solidFill>
                  <a:srgbClr val="0B1B2E"/>
                </a:solidFill>
                <a:latin typeface="Calibri"/>
              </a:rPr>
              <a:t>Grafana</a:t>
            </a:r>
          </a:p>
        </p:txBody>
      </p:sp>
      <p:sp>
        <p:nvSpPr>
          <p:cNvPr id="42" name="TextBox 41"/>
          <p:cNvSpPr txBox="1"/>
          <p:nvPr/>
        </p:nvSpPr>
        <p:spPr>
          <a:xfrm>
            <a:off x="9400032" y="2514600"/>
            <a:ext cx="2322576" cy="457199"/>
          </a:xfrm>
          <a:prstGeom prst="rect">
            <a:avLst/>
          </a:prstGeom>
          <a:noFill/>
        </p:spPr>
        <p:txBody>
          <a:bodyPr wrap="square" lIns="36576" rIns="36576" tIns="18288" bIns="18288" anchor="t">
            <a:spAutoFit/>
          </a:bodyPr>
          <a:lstStyle/>
          <a:p>
            <a:pPr algn="ctr"/>
            <a:r>
              <a:rPr sz="1000" b="0" i="0">
                <a:solidFill>
                  <a:srgbClr val="5B6778"/>
                </a:solidFill>
                <a:latin typeface="Calibri"/>
              </a:rPr>
              <a:t>C8000v DMVPN overview, node detail</a:t>
            </a:r>
          </a:p>
        </p:txBody>
      </p:sp>
      <p:sp>
        <p:nvSpPr>
          <p:cNvPr id="43" name="Rounded Rectangle 42"/>
          <p:cNvSpPr/>
          <p:nvPr/>
        </p:nvSpPr>
        <p:spPr>
          <a:xfrm>
            <a:off x="9326880" y="3200400"/>
            <a:ext cx="246888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00032" y="3273552"/>
            <a:ext cx="2322576" cy="292608"/>
          </a:xfrm>
          <a:prstGeom prst="rect">
            <a:avLst/>
          </a:prstGeom>
          <a:noFill/>
        </p:spPr>
        <p:txBody>
          <a:bodyPr wrap="square" lIns="36576" rIns="36576" tIns="18288" bIns="18288" anchor="t">
            <a:spAutoFit/>
          </a:bodyPr>
          <a:lstStyle/>
          <a:p>
            <a:pPr algn="ctr"/>
            <a:r>
              <a:rPr sz="1250" b="1" i="0">
                <a:solidFill>
                  <a:srgbClr val="0B1B2E"/>
                </a:solidFill>
                <a:latin typeface="Calibri"/>
              </a:rPr>
              <a:t>Alerts</a:t>
            </a:r>
          </a:p>
        </p:txBody>
      </p:sp>
      <p:sp>
        <p:nvSpPr>
          <p:cNvPr id="45" name="TextBox 44"/>
          <p:cNvSpPr txBox="1"/>
          <p:nvPr/>
        </p:nvSpPr>
        <p:spPr>
          <a:xfrm>
            <a:off x="9400032" y="3566160"/>
            <a:ext cx="2322576" cy="457199"/>
          </a:xfrm>
          <a:prstGeom prst="rect">
            <a:avLst/>
          </a:prstGeom>
          <a:noFill/>
        </p:spPr>
        <p:txBody>
          <a:bodyPr wrap="square" lIns="36576" rIns="36576" tIns="18288" bIns="18288" anchor="t">
            <a:spAutoFit/>
          </a:bodyPr>
          <a:lstStyle/>
          <a:p>
            <a:pPr algn="ctr"/>
            <a:r>
              <a:rPr sz="1000" b="0" i="0">
                <a:solidFill>
                  <a:srgbClr val="5B6778"/>
                </a:solidFill>
                <a:latin typeface="Calibri"/>
              </a:rPr>
              <a:t>Prometheus rules and vmalert on syslog</a:t>
            </a:r>
          </a:p>
        </p:txBody>
      </p:sp>
      <p:sp>
        <p:nvSpPr>
          <p:cNvPr id="46" name="Rounded Rectangle 45"/>
          <p:cNvSpPr/>
          <p:nvPr/>
        </p:nvSpPr>
        <p:spPr>
          <a:xfrm>
            <a:off x="9326880" y="4251960"/>
            <a:ext cx="2468880" cy="868680"/>
          </a:xfrm>
          <a:prstGeom prst="roundRect">
            <a:avLst>
              <a:gd name="adj" fmla="val 12000"/>
            </a:avLst>
          </a:prstGeom>
          <a:solidFill>
            <a:srgbClr val="FFFFFF"/>
          </a:solidFill>
          <a:ln w="190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400032" y="4325112"/>
            <a:ext cx="2322576" cy="292608"/>
          </a:xfrm>
          <a:prstGeom prst="rect">
            <a:avLst/>
          </a:prstGeom>
          <a:noFill/>
        </p:spPr>
        <p:txBody>
          <a:bodyPr wrap="square" lIns="36576" rIns="36576" tIns="18288" bIns="18288" anchor="t">
            <a:spAutoFit/>
          </a:bodyPr>
          <a:lstStyle/>
          <a:p>
            <a:pPr algn="ctr"/>
            <a:r>
              <a:rPr sz="1250" b="1" i="0">
                <a:solidFill>
                  <a:srgbClr val="0B1B2E"/>
                </a:solidFill>
                <a:latin typeface="Calibri"/>
              </a:rPr>
              <a:t>The portal</a:t>
            </a:r>
          </a:p>
        </p:txBody>
      </p:sp>
      <p:sp>
        <p:nvSpPr>
          <p:cNvPr id="48" name="TextBox 47"/>
          <p:cNvSpPr txBox="1"/>
          <p:nvPr/>
        </p:nvSpPr>
        <p:spPr>
          <a:xfrm>
            <a:off x="9400032" y="4617720"/>
            <a:ext cx="2322576" cy="457199"/>
          </a:xfrm>
          <a:prstGeom prst="rect">
            <a:avLst/>
          </a:prstGeom>
          <a:noFill/>
        </p:spPr>
        <p:txBody>
          <a:bodyPr wrap="square" lIns="36576" rIns="36576" tIns="18288" bIns="18288" anchor="t">
            <a:spAutoFit/>
          </a:bodyPr>
          <a:lstStyle/>
          <a:p>
            <a:pPr algn="ctr"/>
            <a:r>
              <a:rPr sz="1000" b="0" i="0">
                <a:solidFill>
                  <a:srgbClr val="5B6778"/>
                </a:solidFill>
                <a:latin typeface="Calibri"/>
              </a:rPr>
              <a:t>SLA page and monthly PDF, from VictoriaMetrics</a:t>
            </a:r>
          </a:p>
        </p:txBody>
      </p:sp>
      <p:cxnSp>
        <p:nvCxnSpPr>
          <p:cNvPr id="49" name="Connector 48"/>
          <p:cNvCxnSpPr/>
          <p:nvPr/>
        </p:nvCxnSpPr>
        <p:spPr>
          <a:xfrm>
            <a:off x="2788920" y="2578608"/>
            <a:ext cx="457200" cy="0"/>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788920" y="3630168"/>
            <a:ext cx="457200" cy="0"/>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788920" y="3749039"/>
            <a:ext cx="457200" cy="822961"/>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2788920" y="2926080"/>
            <a:ext cx="457200" cy="1755648"/>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806440" y="2578608"/>
            <a:ext cx="457200" cy="0"/>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806440" y="3630168"/>
            <a:ext cx="457200" cy="0"/>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806440" y="4681728"/>
            <a:ext cx="457200" cy="0"/>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7452360" y="3017520"/>
            <a:ext cx="0" cy="182880"/>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641080" y="2578608"/>
            <a:ext cx="685800" cy="0"/>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641080" y="3630168"/>
            <a:ext cx="685800" cy="0"/>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641080" y="2926080"/>
            <a:ext cx="685800" cy="1645920"/>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8641080" y="3749039"/>
            <a:ext cx="685800" cy="822961"/>
          </a:xfrm>
          <a:prstGeom prst="line">
            <a:avLst/>
          </a:prstGeom>
          <a:ln w="17780">
            <a:solidFill>
              <a:srgbClr val="5B67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411480" y="5440680"/>
            <a:ext cx="11338560" cy="914400"/>
          </a:xfrm>
          <a:prstGeom prst="rect">
            <a:avLst/>
          </a:prstGeom>
          <a:noFill/>
        </p:spPr>
        <p:txBody>
          <a:bodyPr wrap="square" lIns="36576" rIns="36576" tIns="18288" bIns="18288" anchor="t">
            <a:spAutoFit/>
          </a:bodyPr>
          <a:lstStyle/>
          <a:p>
            <a:pPr algn="l">
              <a:spcAft>
                <a:spcPts val="400"/>
              </a:spcAft>
            </a:pPr>
            <a:r>
              <a:rPr sz="1150" b="1" i="0">
                <a:solidFill>
                  <a:srgbClr val="0B1B2E"/>
                </a:solidFill>
                <a:latin typeface="Calibri"/>
              </a:rPr>
              <a:t>Alerts: </a:t>
            </a:r>
            <a:r>
              <a:rPr sz="1150" b="0" i="0">
                <a:solidFill>
                  <a:srgbClr val="1F2937"/>
                </a:solidFill>
                <a:latin typeface="Calibri"/>
              </a:rPr>
              <a:t>DmvpnCustomerNotRegistered, DmvpnProviderSessionDown, DmvpnOverlayBgpDown, DmvpnRouterUnreachable, DmvpnLanHostDown, DmvpnRouterCpuHigh from metrics; BGP neighbour down, NHS down and IKE SA down from syslog.</a:t>
            </a:r>
          </a:p>
          <a:p>
            <a:pPr algn="l">
              <a:spcAft>
                <a:spcPts val="400"/>
              </a:spcAft>
            </a:pPr>
            <a:r>
              <a:rPr sz="1150" b="1" i="0">
                <a:solidFill>
                  <a:srgbClr val="0B1B2E"/>
                </a:solidFill>
                <a:latin typeface="Calibri"/>
              </a:rPr>
              <a:t>Maintenance: </a:t>
            </a:r>
            <a:r>
              <a:rPr sz="1150" b="0" i="0">
                <a:solidFill>
                  <a:srgbClr val="1F2937"/>
                </a:solidFill>
                <a:latin typeface="Calibri"/>
              </a:rPr>
              <a:t>a job, a simulated failure or declared maintenance mutes the affected nodes' alerts and is left out of the SLA.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MONITORING</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Grafana: the DMVPN cloud over the last 24 hours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55</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0_graf_cloud.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411480" y="1188720"/>
            <a:ext cx="8001000" cy="560069"/>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74320" y="105156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579501" y="1878806"/>
            <a:ext cx="1319164" cy="760094"/>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4053" y="1723358"/>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1874662" y="1878806"/>
            <a:ext cx="1639204" cy="760094"/>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719214" y="1723358"/>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579501" y="2638901"/>
            <a:ext cx="3904487" cy="133016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24053" y="2483453"/>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Rounded Rectangle 17"/>
          <p:cNvSpPr/>
          <p:nvPr/>
        </p:nvSpPr>
        <p:spPr>
          <a:xfrm>
            <a:off x="4459986" y="2638901"/>
            <a:ext cx="3904487" cy="133016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304538" y="2483453"/>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5</a:t>
            </a:r>
          </a:p>
        </p:txBody>
      </p:sp>
      <p:sp>
        <p:nvSpPr>
          <p:cNvPr id="20" name="Rounded Rectangle 19"/>
          <p:cNvSpPr/>
          <p:nvPr/>
        </p:nvSpPr>
        <p:spPr>
          <a:xfrm>
            <a:off x="5755147" y="3969067"/>
            <a:ext cx="2609326" cy="133016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599699" y="3813619"/>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6</a:t>
            </a:r>
          </a:p>
        </p:txBody>
      </p:sp>
      <p:sp>
        <p:nvSpPr>
          <p:cNvPr id="22" name="Oval 21"/>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23" name="TextBox 22"/>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Portal jobs on the timeline</a:t>
            </a:r>
          </a:p>
          <a:p>
            <a:pPr algn="l"/>
            <a:r>
              <a:rPr sz="1150" b="0" i="0">
                <a:solidFill>
                  <a:srgbClr val="1F2937"/>
                </a:solidFill>
                <a:latin typeface="Calibri"/>
              </a:rPr>
              <a:t>Purple markers: every test run, failover and steering change the portal made.</a:t>
            </a:r>
          </a:p>
        </p:txBody>
      </p:sp>
      <p:sp>
        <p:nvSpPr>
          <p:cNvPr id="24" name="Oval 23"/>
          <p:cNvSpPr/>
          <p:nvPr/>
        </p:nvSpPr>
        <p:spPr>
          <a:xfrm>
            <a:off x="8686800" y="199499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5" name="TextBox 24"/>
          <p:cNvSpPr txBox="1"/>
          <p:nvPr/>
        </p:nvSpPr>
        <p:spPr>
          <a:xfrm>
            <a:off x="9070848" y="1958416"/>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Health</a:t>
            </a:r>
          </a:p>
          <a:p>
            <a:pPr algn="l"/>
            <a:r>
              <a:rPr sz="1150" b="0" i="0">
                <a:solidFill>
                  <a:srgbClr val="1F2937"/>
                </a:solidFill>
                <a:latin typeface="Calibri"/>
              </a:rPr>
              <a:t>The portal's verdict and firing alerts.</a:t>
            </a:r>
          </a:p>
        </p:txBody>
      </p:sp>
      <p:sp>
        <p:nvSpPr>
          <p:cNvPr id="26" name="Oval 25"/>
          <p:cNvSpPr/>
          <p:nvPr/>
        </p:nvSpPr>
        <p:spPr>
          <a:xfrm>
            <a:off x="8686800" y="260009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7" name="TextBox 26"/>
          <p:cNvSpPr txBox="1"/>
          <p:nvPr/>
        </p:nvSpPr>
        <p:spPr>
          <a:xfrm>
            <a:off x="9070848" y="2563520"/>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Registrations</a:t>
            </a:r>
          </a:p>
          <a:p>
            <a:pPr algn="l"/>
            <a:r>
              <a:rPr sz="1150" b="0" i="0">
                <a:solidFill>
                  <a:srgbClr val="1F2937"/>
                </a:solidFill>
                <a:latin typeface="Calibri"/>
              </a:rPr>
              <a:t>15 of 15: five customers, three hubs each.</a:t>
            </a:r>
          </a:p>
        </p:txBody>
      </p:sp>
      <p:sp>
        <p:nvSpPr>
          <p:cNvPr id="28" name="Oval 27"/>
          <p:cNvSpPr/>
          <p:nvPr/>
        </p:nvSpPr>
        <p:spPr>
          <a:xfrm>
            <a:off x="8686800" y="3388080"/>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9" name="TextBox 28"/>
          <p:cNvSpPr txBox="1"/>
          <p:nvPr/>
        </p:nvSpPr>
        <p:spPr>
          <a:xfrm>
            <a:off x="9070848" y="3351504"/>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Each customer, each hub</a:t>
            </a:r>
          </a:p>
          <a:p>
            <a:pPr algn="l"/>
            <a:r>
              <a:rPr sz="1150" b="0" i="0">
                <a:solidFill>
                  <a:srgbClr val="1F2937"/>
                </a:solidFill>
                <a:latin typeface="Calibri"/>
              </a:rPr>
              <a:t>Gaps line up with the failover experiments.</a:t>
            </a:r>
          </a:p>
        </p:txBody>
      </p:sp>
      <p:sp>
        <p:nvSpPr>
          <p:cNvPr id="30" name="Oval 29"/>
          <p:cNvSpPr/>
          <p:nvPr/>
        </p:nvSpPr>
        <p:spPr>
          <a:xfrm>
            <a:off x="8686800" y="4176064"/>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5</a:t>
            </a:r>
          </a:p>
        </p:txBody>
      </p:sp>
      <p:sp>
        <p:nvSpPr>
          <p:cNvPr id="31" name="TextBox 30"/>
          <p:cNvSpPr txBox="1"/>
          <p:nvPr/>
        </p:nvSpPr>
        <p:spPr>
          <a:xfrm>
            <a:off x="9070848" y="4139488"/>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eBGP to the provider</a:t>
            </a:r>
          </a:p>
          <a:p>
            <a:pPr algn="l"/>
            <a:r>
              <a:rPr sz="1150" b="0" i="0">
                <a:solidFill>
                  <a:srgbClr val="1F2937"/>
                </a:solidFill>
                <a:latin typeface="Calibri"/>
              </a:rPr>
              <a:t>Per router, over time.</a:t>
            </a:r>
          </a:p>
        </p:txBody>
      </p:sp>
      <p:sp>
        <p:nvSpPr>
          <p:cNvPr id="32" name="Oval 31"/>
          <p:cNvSpPr/>
          <p:nvPr/>
        </p:nvSpPr>
        <p:spPr>
          <a:xfrm>
            <a:off x="8686800" y="478116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6</a:t>
            </a:r>
          </a:p>
        </p:txBody>
      </p:sp>
      <p:sp>
        <p:nvSpPr>
          <p:cNvPr id="33" name="TextBox 32"/>
          <p:cNvSpPr txBox="1"/>
          <p:nvPr/>
        </p:nvSpPr>
        <p:spPr>
          <a:xfrm>
            <a:off x="9070848" y="4744593"/>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IPsec per router</a:t>
            </a:r>
          </a:p>
          <a:p>
            <a:pPr algn="l"/>
            <a:r>
              <a:rPr sz="1150" b="0" i="0">
                <a:solidFill>
                  <a:srgbClr val="1F2937"/>
                </a:solidFill>
                <a:latin typeface="Calibri"/>
              </a:rPr>
              <a:t>Sessions UP-ACTIVE.</a:t>
            </a:r>
          </a:p>
        </p:txBody>
      </p:sp>
      <p:sp>
        <p:nvSpPr>
          <p:cNvPr id="34" name="Rounded Rectangle 33"/>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What the portal shows now, Grafana shows over time, next to what the portal was doing.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MONITORING</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Grafana: the overlay, the routers and the provider</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56</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1_graf_provider.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579501" y="1198721"/>
            <a:ext cx="3904487" cy="133016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24053" y="105156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4459986" y="1198721"/>
            <a:ext cx="3904487" cy="133016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304538" y="1051560"/>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5755147" y="2718911"/>
            <a:ext cx="2609326" cy="133016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599699" y="2563463"/>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3164824" y="4239101"/>
            <a:ext cx="2609326" cy="133016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009376" y="4083653"/>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Overlay iBGP</a:t>
            </a:r>
          </a:p>
          <a:p>
            <a:pPr algn="l"/>
            <a:r>
              <a:rPr sz="1150" b="0" i="0">
                <a:solidFill>
                  <a:srgbClr val="1F2937"/>
                </a:solidFill>
                <a:latin typeface="Calibri"/>
              </a:rPr>
              <a:t>Established vs configured sessions per router.</a:t>
            </a:r>
          </a:p>
        </p:txBody>
      </p:sp>
      <p:sp>
        <p:nvSpPr>
          <p:cNvPr id="20" name="Oval 19"/>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C8000v CPU</a:t>
            </a:r>
          </a:p>
          <a:p>
            <a:pPr algn="l"/>
            <a:r>
              <a:rPr sz="1150" b="0" i="0">
                <a:solidFill>
                  <a:srgbClr val="1F2937"/>
                </a:solidFill>
                <a:latin typeface="Calibri"/>
              </a:rPr>
              <a:t>Measured by the portal over SSH: IOS XE has no exporter.</a:t>
            </a:r>
          </a:p>
        </p:txBody>
      </p:sp>
      <p:sp>
        <p:nvSpPr>
          <p:cNvPr id="22" name="Oval 21"/>
          <p:cNvSpPr/>
          <p:nvPr/>
        </p:nvSpPr>
        <p:spPr>
          <a:xfrm>
            <a:off x="8686800" y="296265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926079"/>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provider</a:t>
            </a:r>
          </a:p>
          <a:p>
            <a:pPr algn="l"/>
            <a:r>
              <a:rPr sz="1150" b="0" i="0">
                <a:solidFill>
                  <a:srgbClr val="1F2937"/>
                </a:solidFill>
                <a:latin typeface="Calibri"/>
              </a:rPr>
              <a:t>node-exporter, frr-exporter and Telegraf: traffic on every access port.</a:t>
            </a:r>
          </a:p>
        </p:txBody>
      </p:sp>
      <p:sp>
        <p:nvSpPr>
          <p:cNvPr id="24" name="Oval 23"/>
          <p:cNvSpPr/>
          <p:nvPr/>
        </p:nvSpPr>
        <p:spPr>
          <a:xfrm>
            <a:off x="8686800" y="3840479"/>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803904"/>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Syslog events</a:t>
            </a:r>
          </a:p>
          <a:p>
            <a:pPr algn="l"/>
            <a:r>
              <a:rPr sz="1150" b="0" i="0">
                <a:solidFill>
                  <a:srgbClr val="1F2937"/>
                </a:solidFill>
                <a:latin typeface="Calibri"/>
              </a:rPr>
              <a:t>NHRP, IKE and IPsec messages per router, counted in VictoriaLogs.</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Underlay and overlay on one page: a provider problem and its DMVPN symptoms line up.</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MONITORING</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Grafana: router syslog</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57</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2_graf_log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579501" y="1238726"/>
            <a:ext cx="2609326" cy="1330166"/>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24053" y="1083278"/>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579501" y="2568892"/>
            <a:ext cx="7784973" cy="171021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4053" y="241344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579501" y="4469130"/>
            <a:ext cx="1319164" cy="760094"/>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24053" y="431368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Oval 15"/>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7" name="TextBox 16"/>
          <p:cNvSpPr txBox="1"/>
          <p:nvPr/>
        </p:nvSpPr>
        <p:spPr>
          <a:xfrm>
            <a:off x="9070848" y="1170432"/>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BGP Down from syslog</a:t>
            </a:r>
          </a:p>
          <a:p>
            <a:pPr algn="l"/>
            <a:r>
              <a:rPr sz="1150" b="0" i="0">
                <a:solidFill>
                  <a:srgbClr val="1F2937"/>
                </a:solidFill>
                <a:latin typeface="Calibri"/>
              </a:rPr>
              <a:t>Neighbour-down messages counted every 5 minutes per router.</a:t>
            </a:r>
          </a:p>
        </p:txBody>
      </p:sp>
      <p:sp>
        <p:nvSpPr>
          <p:cNvPr id="18" name="Oval 17"/>
          <p:cNvSpPr/>
          <p:nvPr/>
        </p:nvSpPr>
        <p:spPr>
          <a:xfrm>
            <a:off x="8686800" y="2084831"/>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9" name="TextBox 18"/>
          <p:cNvSpPr txBox="1"/>
          <p:nvPr/>
        </p:nvSpPr>
        <p:spPr>
          <a:xfrm>
            <a:off x="9070848" y="2048255"/>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Router syslog</a:t>
            </a:r>
          </a:p>
          <a:p>
            <a:pPr algn="l"/>
            <a:r>
              <a:rPr sz="1150" b="0" i="0">
                <a:solidFill>
                  <a:srgbClr val="1F2937"/>
                </a:solidFill>
                <a:latin typeface="Calibri"/>
              </a:rPr>
              <a:t>Every C8000v line, newest first, from VictoriaLogs.</a:t>
            </a:r>
          </a:p>
        </p:txBody>
      </p:sp>
      <p:sp>
        <p:nvSpPr>
          <p:cNvPr id="20" name="Oval 19"/>
          <p:cNvSpPr/>
          <p:nvPr/>
        </p:nvSpPr>
        <p:spPr>
          <a:xfrm>
            <a:off x="8686800" y="296265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1" name="TextBox 20"/>
          <p:cNvSpPr txBox="1"/>
          <p:nvPr/>
        </p:nvSpPr>
        <p:spPr>
          <a:xfrm>
            <a:off x="9070848" y="2926079"/>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lab host</a:t>
            </a:r>
          </a:p>
          <a:p>
            <a:pPr algn="l"/>
            <a:r>
              <a:rPr sz="1150" b="0" i="0">
                <a:solidFill>
                  <a:srgbClr val="1F2937"/>
                </a:solidFill>
                <a:latin typeface="Calibri"/>
              </a:rPr>
              <a:t>CPU, memory, load and swap of the KVM host.</a:t>
            </a:r>
          </a:p>
        </p:txBody>
      </p:sp>
      <p:sp>
        <p:nvSpPr>
          <p:cNvPr id="22" name="Rounded Rectangle 21"/>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Logs and metrics side by side: no logging in to routers to read their buffers.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MONITORING</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Grafana: the lab and the portal's jobs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58</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3_graf_lab.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579501" y="2328862"/>
            <a:ext cx="2609326" cy="1520189"/>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24053" y="2173414"/>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579501" y="4039076"/>
            <a:ext cx="2609326" cy="171021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4053" y="3883628"/>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3164824" y="4039076"/>
            <a:ext cx="2609326" cy="171021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09376" y="3883628"/>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Rounded Rectangle 15"/>
          <p:cNvSpPr/>
          <p:nvPr/>
        </p:nvSpPr>
        <p:spPr>
          <a:xfrm>
            <a:off x="5755147" y="4039076"/>
            <a:ext cx="2609326" cy="171021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599699" y="3883628"/>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4</a:t>
            </a:r>
          </a:p>
        </p:txBody>
      </p:sp>
      <p:sp>
        <p:nvSpPr>
          <p:cNvPr id="18" name="Oval 17"/>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9" name="TextBox 18"/>
          <p:cNvSpPr txBox="1"/>
          <p:nvPr/>
        </p:nvSpPr>
        <p:spPr>
          <a:xfrm>
            <a:off x="9070848" y="1170432"/>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Host CPU</a:t>
            </a:r>
          </a:p>
          <a:p>
            <a:pPr algn="l"/>
            <a:r>
              <a:rPr sz="1150" b="0" i="0">
                <a:solidFill>
                  <a:srgbClr val="1F2937"/>
                </a:solidFill>
                <a:latin typeface="Calibri"/>
              </a:rPr>
              <a:t>All cores, per mode.</a:t>
            </a:r>
          </a:p>
        </p:txBody>
      </p:sp>
      <p:sp>
        <p:nvSpPr>
          <p:cNvPr id="20" name="Oval 19"/>
          <p:cNvSpPr/>
          <p:nvPr/>
        </p:nvSpPr>
        <p:spPr>
          <a:xfrm>
            <a:off x="8686800" y="190195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21" name="TextBox 20"/>
          <p:cNvSpPr txBox="1"/>
          <p:nvPr/>
        </p:nvSpPr>
        <p:spPr>
          <a:xfrm>
            <a:off x="9070848" y="1865376"/>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VMs running</a:t>
            </a:r>
          </a:p>
          <a:p>
            <a:pPr algn="l"/>
            <a:r>
              <a:rPr sz="1150" b="0" i="0">
                <a:solidFill>
                  <a:srgbClr val="1F2937"/>
                </a:solidFill>
                <a:latin typeface="Calibri"/>
              </a:rPr>
              <a:t>Every router, host and provider VM.</a:t>
            </a:r>
          </a:p>
        </p:txBody>
      </p:sp>
      <p:sp>
        <p:nvSpPr>
          <p:cNvPr id="22" name="Oval 21"/>
          <p:cNvSpPr/>
          <p:nvPr/>
        </p:nvSpPr>
        <p:spPr>
          <a:xfrm>
            <a:off x="8686800" y="259689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3" name="TextBox 22"/>
          <p:cNvSpPr txBox="1"/>
          <p:nvPr/>
        </p:nvSpPr>
        <p:spPr>
          <a:xfrm>
            <a:off x="9070848" y="2560320"/>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LAN hosts answering</a:t>
            </a:r>
          </a:p>
          <a:p>
            <a:pPr algn="l"/>
            <a:r>
              <a:rPr sz="1150" b="0" i="0">
                <a:solidFill>
                  <a:srgbClr val="1F2937"/>
                </a:solidFill>
                <a:latin typeface="Calibri"/>
              </a:rPr>
              <a:t>Reachability of each site's host.</a:t>
            </a:r>
          </a:p>
        </p:txBody>
      </p:sp>
      <p:sp>
        <p:nvSpPr>
          <p:cNvPr id="24" name="Oval 23"/>
          <p:cNvSpPr/>
          <p:nvPr/>
        </p:nvSpPr>
        <p:spPr>
          <a:xfrm>
            <a:off x="8686800" y="3291840"/>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4</a:t>
            </a:r>
          </a:p>
        </p:txBody>
      </p:sp>
      <p:sp>
        <p:nvSpPr>
          <p:cNvPr id="25" name="TextBox 24"/>
          <p:cNvSpPr txBox="1"/>
          <p:nvPr/>
        </p:nvSpPr>
        <p:spPr>
          <a:xfrm>
            <a:off x="9070848" y="3255264"/>
            <a:ext cx="2819095" cy="649224"/>
          </a:xfrm>
          <a:prstGeom prst="rect">
            <a:avLst/>
          </a:prstGeom>
          <a:noFill/>
        </p:spPr>
        <p:txBody>
          <a:bodyPr wrap="square" lIns="36576" rIns="36576" tIns="18288" bIns="18288" anchor="t">
            <a:spAutoFit/>
          </a:bodyPr>
          <a:lstStyle/>
          <a:p>
            <a:pPr algn="l"/>
            <a:r>
              <a:rPr sz="1300" b="1" i="0">
                <a:solidFill>
                  <a:srgbClr val="0B1B2E"/>
                </a:solidFill>
                <a:latin typeface="Calibri"/>
              </a:rPr>
              <a:t>The portal's jobs</a:t>
            </a:r>
          </a:p>
          <a:p>
            <a:pPr algn="l"/>
            <a:r>
              <a:rPr sz="1150" b="0" i="0">
                <a:solidFill>
                  <a:srgbClr val="1F2937"/>
                </a:solidFill>
                <a:latin typeface="Calibri"/>
              </a:rPr>
              <a:t>The last outcome of each job type; red was a failed run.</a:t>
            </a:r>
          </a:p>
        </p:txBody>
      </p:sp>
      <p:sp>
        <p:nvSpPr>
          <p:cNvPr id="26" name="Rounded Rectangle 25"/>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Even the automation is monitored: a failing job type shows up like any other fault.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MONITORING</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Grafana: the provider router in detail</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59</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4_graf_node.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7025306" y="1707925"/>
            <a:ext cx="1339167" cy="760094"/>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869858" y="1552477"/>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Rounded Rectangle 11"/>
          <p:cNvSpPr/>
          <p:nvPr/>
        </p:nvSpPr>
        <p:spPr>
          <a:xfrm>
            <a:off x="459486" y="3988210"/>
            <a:ext cx="3964495" cy="1520189"/>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04038" y="383276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2</a:t>
            </a:r>
          </a:p>
        </p:txBody>
      </p:sp>
      <p:sp>
        <p:nvSpPr>
          <p:cNvPr id="14" name="Rounded Rectangle 13"/>
          <p:cNvSpPr/>
          <p:nvPr/>
        </p:nvSpPr>
        <p:spPr>
          <a:xfrm>
            <a:off x="459486" y="2468020"/>
            <a:ext cx="3964495" cy="1520189"/>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038" y="2312572"/>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3</a:t>
            </a:r>
          </a:p>
        </p:txBody>
      </p:sp>
      <p:sp>
        <p:nvSpPr>
          <p:cNvPr id="16" name="Oval 15"/>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7" name="TextBox 16"/>
          <p:cNvSpPr txBox="1"/>
          <p:nvPr/>
        </p:nvSpPr>
        <p:spPr>
          <a:xfrm>
            <a:off x="9070848" y="1170432"/>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BGP peers</a:t>
            </a:r>
          </a:p>
          <a:p>
            <a:pPr algn="l"/>
            <a:r>
              <a:rPr sz="1150" b="0" i="0">
                <a:solidFill>
                  <a:srgbClr val="1F2937"/>
                </a:solidFill>
                <a:latin typeface="Calibri"/>
              </a:rPr>
              <a:t>8 of 8 established on mpls.</a:t>
            </a:r>
          </a:p>
        </p:txBody>
      </p:sp>
      <p:sp>
        <p:nvSpPr>
          <p:cNvPr id="18" name="Oval 17"/>
          <p:cNvSpPr/>
          <p:nvPr/>
        </p:nvSpPr>
        <p:spPr>
          <a:xfrm>
            <a:off x="8686800" y="1901952"/>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2</a:t>
            </a:r>
          </a:p>
        </p:txBody>
      </p:sp>
      <p:sp>
        <p:nvSpPr>
          <p:cNvPr id="19" name="TextBox 18"/>
          <p:cNvSpPr txBox="1"/>
          <p:nvPr/>
        </p:nvSpPr>
        <p:spPr>
          <a:xfrm>
            <a:off x="9070848" y="1865376"/>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Access links</a:t>
            </a:r>
          </a:p>
          <a:p>
            <a:pPr algn="l"/>
            <a:r>
              <a:rPr sz="1150" b="0" i="0">
                <a:solidFill>
                  <a:srgbClr val="1F2937"/>
                </a:solidFill>
                <a:latin typeface="Calibri"/>
              </a:rPr>
              <a:t>Traffic on every customer and hub port.</a:t>
            </a:r>
          </a:p>
        </p:txBody>
      </p:sp>
      <p:sp>
        <p:nvSpPr>
          <p:cNvPr id="20" name="Oval 19"/>
          <p:cNvSpPr/>
          <p:nvPr/>
        </p:nvSpPr>
        <p:spPr>
          <a:xfrm>
            <a:off x="8686800" y="2596896"/>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3</a:t>
            </a:r>
          </a:p>
        </p:txBody>
      </p:sp>
      <p:sp>
        <p:nvSpPr>
          <p:cNvPr id="21" name="TextBox 20"/>
          <p:cNvSpPr txBox="1"/>
          <p:nvPr/>
        </p:nvSpPr>
        <p:spPr>
          <a:xfrm>
            <a:off x="9070848" y="2560320"/>
            <a:ext cx="2819095" cy="466344"/>
          </a:xfrm>
          <a:prstGeom prst="rect">
            <a:avLst/>
          </a:prstGeom>
          <a:noFill/>
        </p:spPr>
        <p:txBody>
          <a:bodyPr wrap="square" lIns="36576" rIns="36576" tIns="18288" bIns="18288" anchor="t">
            <a:spAutoFit/>
          </a:bodyPr>
          <a:lstStyle/>
          <a:p>
            <a:pPr algn="l"/>
            <a:r>
              <a:rPr sz="1300" b="1" i="0">
                <a:solidFill>
                  <a:srgbClr val="0B1B2E"/>
                </a:solidFill>
                <a:latin typeface="Calibri"/>
              </a:rPr>
              <a:t>CPU, memory, load</a:t>
            </a:r>
          </a:p>
          <a:p>
            <a:pPr algn="l"/>
            <a:r>
              <a:rPr sz="1150" b="0" i="0">
                <a:solidFill>
                  <a:srgbClr val="1F2937"/>
                </a:solidFill>
                <a:latin typeface="Calibri"/>
              </a:rPr>
              <a:t>From node-exporter and Telegraf.</a:t>
            </a:r>
          </a:p>
        </p:txBody>
      </p:sp>
      <p:sp>
        <p:nvSpPr>
          <p:cNvPr id="22" name="Rounded Rectangle 21"/>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Each VyOS router has full telemetry, down to each interface and BGP peer.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MONITORING</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The alert rules</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60</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ectangle 7"/>
          <p:cNvSpPr/>
          <p:nvPr/>
        </p:nvSpPr>
        <p:spPr>
          <a:xfrm>
            <a:off x="448056" y="1243584"/>
            <a:ext cx="8001000" cy="5000625"/>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5_alerts.png"/>
          <p:cNvPicPr>
            <a:picLocks noChangeAspect="1"/>
          </p:cNvPicPr>
          <p:nvPr/>
        </p:nvPicPr>
        <p:blipFill>
          <a:blip r:embed="rId2"/>
          <a:stretch>
            <a:fillRect/>
          </a:stretch>
        </p:blipFill>
        <p:spPr>
          <a:xfrm>
            <a:off x="411480" y="1188720"/>
            <a:ext cx="8001000" cy="5000625"/>
          </a:xfrm>
          <a:prstGeom prst="rect">
            <a:avLst/>
          </a:prstGeom>
          <a:ln w="9525">
            <a:solidFill>
              <a:srgbClr val="D6DDE5"/>
            </a:solidFill>
          </a:ln>
        </p:spPr>
      </p:pic>
      <p:sp>
        <p:nvSpPr>
          <p:cNvPr id="10" name="Rounded Rectangle 9"/>
          <p:cNvSpPr/>
          <p:nvPr/>
        </p:nvSpPr>
        <p:spPr>
          <a:xfrm>
            <a:off x="459486" y="2357694"/>
            <a:ext cx="7904988" cy="1979153"/>
          </a:xfrm>
          <a:prstGeom prst="roundRect">
            <a:avLst>
              <a:gd name="adj" fmla="val 8000"/>
            </a:avLst>
          </a:prstGeom>
          <a:noFill/>
          <a:ln w="285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4038" y="2202246"/>
            <a:ext cx="310896" cy="310896"/>
          </a:xfrm>
          <a:prstGeom prst="ellipse">
            <a:avLst/>
          </a:prstGeom>
          <a:solidFill>
            <a:srgbClr val="EA580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200" b="1">
                <a:solidFill>
                  <a:srgbClr val="FFFFFF"/>
                </a:solidFill>
                <a:latin typeface="Calibri"/>
              </a:rPr>
              <a:t>1</a:t>
            </a:r>
          </a:p>
        </p:txBody>
      </p:sp>
      <p:sp>
        <p:nvSpPr>
          <p:cNvPr id="12" name="Oval 11"/>
          <p:cNvSpPr/>
          <p:nvPr/>
        </p:nvSpPr>
        <p:spPr>
          <a:xfrm>
            <a:off x="8686800" y="120700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wrap="square"/>
          <a:lstStyle/>
          <a:p>
            <a:pPr algn="ctr"/>
            <a:r>
              <a:rPr sz="1100" b="1">
                <a:solidFill>
                  <a:srgbClr val="FFFFFF"/>
                </a:solidFill>
                <a:latin typeface="Calibri"/>
              </a:rPr>
              <a:t>1</a:t>
            </a:r>
          </a:p>
        </p:txBody>
      </p:sp>
      <p:sp>
        <p:nvSpPr>
          <p:cNvPr id="13" name="TextBox 12"/>
          <p:cNvSpPr txBox="1"/>
          <p:nvPr/>
        </p:nvSpPr>
        <p:spPr>
          <a:xfrm>
            <a:off x="9070848" y="1170432"/>
            <a:ext cx="2819095" cy="1014984"/>
          </a:xfrm>
          <a:prstGeom prst="rect">
            <a:avLst/>
          </a:prstGeom>
          <a:noFill/>
        </p:spPr>
        <p:txBody>
          <a:bodyPr wrap="square" lIns="36576" rIns="36576" tIns="18288" bIns="18288" anchor="t">
            <a:spAutoFit/>
          </a:bodyPr>
          <a:lstStyle/>
          <a:p>
            <a:pPr algn="l"/>
            <a:r>
              <a:rPr sz="1300" b="1" i="0">
                <a:solidFill>
                  <a:srgbClr val="0B1B2E"/>
                </a:solidFill>
                <a:latin typeface="Calibri"/>
              </a:rPr>
              <a:t>Dmvpn* rules</a:t>
            </a:r>
          </a:p>
          <a:p>
            <a:pPr algn="l"/>
            <a:r>
              <a:rPr sz="1150" b="0" i="0">
                <a:solidFill>
                  <a:srgbClr val="1F2937"/>
                </a:solidFill>
                <a:latin typeface="Calibri"/>
              </a:rPr>
              <a:t>Six metric rules for this lab, all inactive: healthy. Three more rules watch syslog in vmalert. All are gated on the lab running and muted during maintenance.</a:t>
            </a:r>
          </a:p>
        </p:txBody>
      </p:sp>
      <p:sp>
        <p:nvSpPr>
          <p:cNvPr id="14" name="Rounded Rectangle 13"/>
          <p:cNvSpPr/>
          <p:nvPr/>
        </p:nvSpPr>
        <p:spPr>
          <a:xfrm>
            <a:off x="8686800" y="5274945"/>
            <a:ext cx="3139135" cy="914400"/>
          </a:xfrm>
          <a:prstGeom prst="roundRect">
            <a:avLst>
              <a:gd name="adj" fmla="val 8000"/>
            </a:avLst>
          </a:prstGeom>
          <a:solidFill>
            <a:srgbClr val="E0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3960" y="5348097"/>
            <a:ext cx="2864815" cy="768096"/>
          </a:xfrm>
          <a:prstGeom prst="rect">
            <a:avLst/>
          </a:prstGeom>
          <a:noFill/>
        </p:spPr>
        <p:txBody>
          <a:bodyPr wrap="square" lIns="36576" rIns="36576" tIns="18288" bIns="18288" anchor="ctr">
            <a:spAutoFit/>
          </a:bodyPr>
          <a:lstStyle/>
          <a:p>
            <a:pPr algn="l"/>
            <a:r>
              <a:rPr sz="1150" b="1" i="0">
                <a:solidFill>
                  <a:srgbClr val="0E7490"/>
                </a:solidFill>
                <a:latin typeface="Calibri"/>
              </a:rPr>
              <a:t>Why it matters  </a:t>
            </a:r>
          </a:p>
          <a:p>
            <a:pPr algn="l"/>
            <a:r>
              <a:rPr sz="1150" b="0" i="0">
                <a:solidFill>
                  <a:srgbClr val="1F2937"/>
                </a:solidFill>
                <a:latin typeface="Calibri"/>
              </a:rPr>
              <a:t>Problems page someone before a customer calls, and planned work does not.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256032"/>
            <a:ext cx="8229600" cy="274320"/>
          </a:xfrm>
          <a:prstGeom prst="rect">
            <a:avLst/>
          </a:prstGeom>
          <a:noFill/>
        </p:spPr>
        <p:txBody>
          <a:bodyPr wrap="square" lIns="36576" rIns="36576" tIns="18288" bIns="18288" anchor="t">
            <a:spAutoFit/>
          </a:bodyPr>
          <a:lstStyle/>
          <a:p>
            <a:pPr algn="l"/>
            <a:r>
              <a:rPr sz="1100" b="1" i="0">
                <a:solidFill>
                  <a:srgbClr val="0E7490"/>
                </a:solidFill>
                <a:latin typeface="Calibri"/>
              </a:rPr>
              <a:t>RESULTS IN THE LAB</a:t>
            </a:r>
          </a:p>
        </p:txBody>
      </p:sp>
      <p:sp>
        <p:nvSpPr>
          <p:cNvPr id="5" name="TextBox 4"/>
          <p:cNvSpPr txBox="1"/>
          <p:nvPr/>
        </p:nvSpPr>
        <p:spPr>
          <a:xfrm>
            <a:off x="411480" y="457200"/>
            <a:ext cx="11155680" cy="548640"/>
          </a:xfrm>
          <a:prstGeom prst="rect">
            <a:avLst/>
          </a:prstGeom>
          <a:noFill/>
        </p:spPr>
        <p:txBody>
          <a:bodyPr wrap="square" lIns="36576" rIns="36576" tIns="18288" bIns="18288" anchor="t">
            <a:spAutoFit/>
          </a:bodyPr>
          <a:lstStyle/>
          <a:p>
            <a:pPr algn="l"/>
            <a:r>
              <a:rPr sz="2600" b="1" i="0">
                <a:solidFill>
                  <a:srgbClr val="0B1B2E"/>
                </a:solidFill>
                <a:latin typeface="Calibri"/>
              </a:rPr>
              <a:t>Measured, not assumed</a:t>
            </a:r>
          </a:p>
        </p:txBody>
      </p:sp>
      <p:sp>
        <p:nvSpPr>
          <p:cNvPr id="6" name="TextBox 5"/>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5B6778"/>
                </a:solidFill>
                <a:latin typeface="Calibri"/>
              </a:rPr>
              <a:t>61</a:t>
            </a:r>
          </a:p>
        </p:txBody>
      </p:sp>
      <p:sp>
        <p:nvSpPr>
          <p:cNvPr id="7" name="TextBox 6"/>
          <p:cNvSpPr txBox="1"/>
          <p:nvPr/>
        </p:nvSpPr>
        <p:spPr>
          <a:xfrm>
            <a:off x="411480" y="6473952"/>
            <a:ext cx="5486400" cy="274320"/>
          </a:xfrm>
          <a:prstGeom prst="rect">
            <a:avLst/>
          </a:prstGeom>
          <a:noFill/>
        </p:spPr>
        <p:txBody>
          <a:bodyPr wrap="square" lIns="36576" rIns="36576" tIns="18288" bIns="18288" anchor="t">
            <a:spAutoFit/>
          </a:bodyPr>
          <a:lstStyle/>
          <a:p>
            <a:pPr algn="l"/>
            <a:r>
              <a:rPr sz="1000" b="0" i="0">
                <a:solidFill>
                  <a:srgbClr val="5B6778"/>
                </a:solidFill>
                <a:latin typeface="Calibri"/>
              </a:rPr>
              <a:t>C8000v DMVPN Portal · v0.22.0</a:t>
            </a:r>
          </a:p>
        </p:txBody>
      </p:sp>
      <p:sp>
        <p:nvSpPr>
          <p:cNvPr id="8" name="Rounded Rectangle 7"/>
          <p:cNvSpPr/>
          <p:nvPr/>
        </p:nvSpPr>
        <p:spPr>
          <a:xfrm>
            <a:off x="411480" y="1234440"/>
            <a:ext cx="2743200" cy="160020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371600"/>
            <a:ext cx="2377440" cy="640080"/>
          </a:xfrm>
          <a:prstGeom prst="rect">
            <a:avLst/>
          </a:prstGeom>
          <a:noFill/>
        </p:spPr>
        <p:txBody>
          <a:bodyPr wrap="square" lIns="36576" rIns="36576" tIns="18288" bIns="18288" anchor="t">
            <a:spAutoFit/>
          </a:bodyPr>
          <a:lstStyle/>
          <a:p>
            <a:pPr algn="l"/>
            <a:r>
              <a:rPr sz="3200" b="1" i="0">
                <a:solidFill>
                  <a:srgbClr val="15803D"/>
                </a:solidFill>
                <a:latin typeface="Calibri"/>
              </a:rPr>
              <a:t>3 / 3</a:t>
            </a:r>
          </a:p>
        </p:txBody>
      </p:sp>
      <p:sp>
        <p:nvSpPr>
          <p:cNvPr id="10" name="TextBox 9"/>
          <p:cNvSpPr txBox="1"/>
          <p:nvPr/>
        </p:nvSpPr>
        <p:spPr>
          <a:xfrm>
            <a:off x="594360" y="2075688"/>
            <a:ext cx="2377440" cy="731520"/>
          </a:xfrm>
          <a:prstGeom prst="rect">
            <a:avLst/>
          </a:prstGeom>
          <a:noFill/>
        </p:spPr>
        <p:txBody>
          <a:bodyPr wrap="square" lIns="36576" rIns="36576" tIns="18288" bIns="18288" anchor="t">
            <a:spAutoFit/>
          </a:bodyPr>
          <a:lstStyle/>
          <a:p>
            <a:pPr algn="l"/>
            <a:r>
              <a:rPr sz="1250" b="0" i="0">
                <a:solidFill>
                  <a:srgbClr val="1F2937"/>
                </a:solidFill>
                <a:latin typeface="Calibri"/>
              </a:rPr>
              <a:t>hubs every spoke is registered with</a:t>
            </a:r>
          </a:p>
        </p:txBody>
      </p:sp>
      <p:sp>
        <p:nvSpPr>
          <p:cNvPr id="11" name="Rounded Rectangle 10"/>
          <p:cNvSpPr/>
          <p:nvPr/>
        </p:nvSpPr>
        <p:spPr>
          <a:xfrm>
            <a:off x="3264408" y="1234440"/>
            <a:ext cx="2743200" cy="160020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47288" y="1371600"/>
            <a:ext cx="2377440" cy="640080"/>
          </a:xfrm>
          <a:prstGeom prst="rect">
            <a:avLst/>
          </a:prstGeom>
          <a:noFill/>
        </p:spPr>
        <p:txBody>
          <a:bodyPr wrap="square" lIns="36576" rIns="36576" tIns="18288" bIns="18288" anchor="t">
            <a:spAutoFit/>
          </a:bodyPr>
          <a:lstStyle/>
          <a:p>
            <a:pPr algn="l"/>
            <a:r>
              <a:rPr sz="3200" b="1" i="0">
                <a:solidFill>
                  <a:srgbClr val="15803D"/>
                </a:solidFill>
                <a:latin typeface="Calibri"/>
              </a:rPr>
              <a:t>20 / 20</a:t>
            </a:r>
          </a:p>
        </p:txBody>
      </p:sp>
      <p:sp>
        <p:nvSpPr>
          <p:cNvPr id="13" name="TextBox 12"/>
          <p:cNvSpPr txBox="1"/>
          <p:nvPr/>
        </p:nvSpPr>
        <p:spPr>
          <a:xfrm>
            <a:off x="3447288" y="2075688"/>
            <a:ext cx="2377440" cy="731520"/>
          </a:xfrm>
          <a:prstGeom prst="rect">
            <a:avLst/>
          </a:prstGeom>
          <a:noFill/>
        </p:spPr>
        <p:txBody>
          <a:bodyPr wrap="square" lIns="36576" rIns="36576" tIns="18288" bIns="18288" anchor="t">
            <a:spAutoFit/>
          </a:bodyPr>
          <a:lstStyle/>
          <a:p>
            <a:pPr algn="l"/>
            <a:r>
              <a:rPr sz="1250" b="0" i="0">
                <a:solidFill>
                  <a:srgbClr val="1F2937"/>
                </a:solidFill>
                <a:latin typeface="Calibri"/>
              </a:rPr>
              <a:t>LAN hosts reach every other host</a:t>
            </a:r>
          </a:p>
        </p:txBody>
      </p:sp>
      <p:sp>
        <p:nvSpPr>
          <p:cNvPr id="14" name="Rounded Rectangle 13"/>
          <p:cNvSpPr/>
          <p:nvPr/>
        </p:nvSpPr>
        <p:spPr>
          <a:xfrm>
            <a:off x="6117336" y="1234440"/>
            <a:ext cx="2743200" cy="160020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216" y="1371600"/>
            <a:ext cx="2377440" cy="640080"/>
          </a:xfrm>
          <a:prstGeom prst="rect">
            <a:avLst/>
          </a:prstGeom>
          <a:noFill/>
        </p:spPr>
        <p:txBody>
          <a:bodyPr wrap="square" lIns="36576" rIns="36576" tIns="18288" bIns="18288" anchor="t">
            <a:spAutoFit/>
          </a:bodyPr>
          <a:lstStyle/>
          <a:p>
            <a:pPr algn="l"/>
            <a:r>
              <a:rPr sz="3200" b="1" i="0">
                <a:solidFill>
                  <a:srgbClr val="15803D"/>
                </a:solidFill>
                <a:latin typeface="Calibri"/>
              </a:rPr>
              <a:t>33 / 33</a:t>
            </a:r>
          </a:p>
        </p:txBody>
      </p:sp>
      <p:sp>
        <p:nvSpPr>
          <p:cNvPr id="16" name="TextBox 15"/>
          <p:cNvSpPr txBox="1"/>
          <p:nvPr/>
        </p:nvSpPr>
        <p:spPr>
          <a:xfrm>
            <a:off x="6300216" y="2075688"/>
            <a:ext cx="2377440" cy="731520"/>
          </a:xfrm>
          <a:prstGeom prst="rect">
            <a:avLst/>
          </a:prstGeom>
          <a:noFill/>
        </p:spPr>
        <p:txBody>
          <a:bodyPr wrap="square" lIns="36576" rIns="36576" tIns="18288" bIns="18288" anchor="t">
            <a:spAutoFit/>
          </a:bodyPr>
          <a:lstStyle/>
          <a:p>
            <a:pPr algn="l"/>
            <a:r>
              <a:rPr sz="1250" b="0" i="0">
                <a:solidFill>
                  <a:srgbClr val="1F2937"/>
                </a:solidFill>
                <a:latin typeface="Calibri"/>
              </a:rPr>
              <a:t>application checks passing</a:t>
            </a:r>
          </a:p>
        </p:txBody>
      </p:sp>
      <p:sp>
        <p:nvSpPr>
          <p:cNvPr id="17" name="Rounded Rectangle 16"/>
          <p:cNvSpPr/>
          <p:nvPr/>
        </p:nvSpPr>
        <p:spPr>
          <a:xfrm>
            <a:off x="8970263" y="1234440"/>
            <a:ext cx="2743200" cy="160020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53143" y="1371600"/>
            <a:ext cx="2377440" cy="640080"/>
          </a:xfrm>
          <a:prstGeom prst="rect">
            <a:avLst/>
          </a:prstGeom>
          <a:noFill/>
        </p:spPr>
        <p:txBody>
          <a:bodyPr wrap="square" lIns="36576" rIns="36576" tIns="18288" bIns="18288" anchor="t">
            <a:spAutoFit/>
          </a:bodyPr>
          <a:lstStyle/>
          <a:p>
            <a:pPr algn="l"/>
            <a:r>
              <a:rPr sz="3200" b="1" i="0">
                <a:solidFill>
                  <a:srgbClr val="15803D"/>
                </a:solidFill>
                <a:latin typeface="Calibri"/>
              </a:rPr>
              <a:t>73 / 73</a:t>
            </a:r>
          </a:p>
        </p:txBody>
      </p:sp>
      <p:sp>
        <p:nvSpPr>
          <p:cNvPr id="19" name="TextBox 18"/>
          <p:cNvSpPr txBox="1"/>
          <p:nvPr/>
        </p:nvSpPr>
        <p:spPr>
          <a:xfrm>
            <a:off x="9153143" y="2075688"/>
            <a:ext cx="2377440" cy="731520"/>
          </a:xfrm>
          <a:prstGeom prst="rect">
            <a:avLst/>
          </a:prstGeom>
          <a:noFill/>
        </p:spPr>
        <p:txBody>
          <a:bodyPr wrap="square" lIns="36576" rIns="36576" tIns="18288" bIns="18288" anchor="t">
            <a:spAutoFit/>
          </a:bodyPr>
          <a:lstStyle/>
          <a:p>
            <a:pPr algn="l"/>
            <a:r>
              <a:rPr sz="1250" b="0" i="0">
                <a:solidFill>
                  <a:srgbClr val="1F2937"/>
                </a:solidFill>
                <a:latin typeface="Calibri"/>
              </a:rPr>
              <a:t>Robot tests pass after each change</a:t>
            </a:r>
          </a:p>
        </p:txBody>
      </p:sp>
      <p:sp>
        <p:nvSpPr>
          <p:cNvPr id="20" name="Rounded Rectangle 19"/>
          <p:cNvSpPr/>
          <p:nvPr/>
        </p:nvSpPr>
        <p:spPr>
          <a:xfrm>
            <a:off x="411480" y="2980944"/>
            <a:ext cx="2743200" cy="160020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118103"/>
            <a:ext cx="2377440" cy="640080"/>
          </a:xfrm>
          <a:prstGeom prst="rect">
            <a:avLst/>
          </a:prstGeom>
          <a:noFill/>
        </p:spPr>
        <p:txBody>
          <a:bodyPr wrap="square" lIns="36576" rIns="36576" tIns="18288" bIns="18288" anchor="t">
            <a:spAutoFit/>
          </a:bodyPr>
          <a:lstStyle/>
          <a:p>
            <a:pPr algn="l"/>
            <a:r>
              <a:rPr sz="3200" b="1" i="0">
                <a:solidFill>
                  <a:srgbClr val="0E7490"/>
                </a:solidFill>
                <a:latin typeface="Calibri"/>
              </a:rPr>
              <a:t>0.6 s</a:t>
            </a:r>
          </a:p>
        </p:txBody>
      </p:sp>
      <p:sp>
        <p:nvSpPr>
          <p:cNvPr id="22" name="TextBox 21"/>
          <p:cNvSpPr txBox="1"/>
          <p:nvPr/>
        </p:nvSpPr>
        <p:spPr>
          <a:xfrm>
            <a:off x="594360" y="3822191"/>
            <a:ext cx="2377440" cy="731520"/>
          </a:xfrm>
          <a:prstGeom prst="rect">
            <a:avLst/>
          </a:prstGeom>
          <a:noFill/>
        </p:spPr>
        <p:txBody>
          <a:bodyPr wrap="square" lIns="36576" rIns="36576" tIns="18288" bIns="18288" anchor="t">
            <a:spAutoFit/>
          </a:bodyPr>
          <a:lstStyle/>
          <a:p>
            <a:pPr algn="l"/>
            <a:r>
              <a:rPr sz="1250" b="0" i="0">
                <a:solidFill>
                  <a:srgbClr val="1F2937"/>
                </a:solidFill>
                <a:latin typeface="Calibri"/>
              </a:rPr>
              <a:t>worst failover when a hub fails; 29 of 35 flows never noticed</a:t>
            </a:r>
          </a:p>
        </p:txBody>
      </p:sp>
      <p:sp>
        <p:nvSpPr>
          <p:cNvPr id="23" name="Rounded Rectangle 22"/>
          <p:cNvSpPr/>
          <p:nvPr/>
        </p:nvSpPr>
        <p:spPr>
          <a:xfrm>
            <a:off x="3264408" y="2980944"/>
            <a:ext cx="2743200" cy="160020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7288" y="3118103"/>
            <a:ext cx="2377440" cy="640080"/>
          </a:xfrm>
          <a:prstGeom prst="rect">
            <a:avLst/>
          </a:prstGeom>
          <a:noFill/>
        </p:spPr>
        <p:txBody>
          <a:bodyPr wrap="square" lIns="36576" rIns="36576" tIns="18288" bIns="18288" anchor="t">
            <a:spAutoFit/>
          </a:bodyPr>
          <a:lstStyle/>
          <a:p>
            <a:pPr algn="l"/>
            <a:r>
              <a:rPr sz="3200" b="1" i="0">
                <a:solidFill>
                  <a:srgbClr val="0E7490"/>
                </a:solidFill>
                <a:latin typeface="Calibri"/>
              </a:rPr>
              <a:t>6.8 s</a:t>
            </a:r>
          </a:p>
        </p:txBody>
      </p:sp>
      <p:sp>
        <p:nvSpPr>
          <p:cNvPr id="25" name="TextBox 24"/>
          <p:cNvSpPr txBox="1"/>
          <p:nvPr/>
        </p:nvSpPr>
        <p:spPr>
          <a:xfrm>
            <a:off x="3447288" y="3822191"/>
            <a:ext cx="2377440" cy="731520"/>
          </a:xfrm>
          <a:prstGeom prst="rect">
            <a:avLst/>
          </a:prstGeom>
          <a:noFill/>
        </p:spPr>
        <p:txBody>
          <a:bodyPr wrap="square" lIns="36576" rIns="36576" tIns="18288" bIns="18288" anchor="t">
            <a:spAutoFit/>
          </a:bodyPr>
          <a:lstStyle/>
          <a:p>
            <a:pPr algn="l"/>
            <a:r>
              <a:rPr sz="1250" b="0" i="0">
                <a:solidFill>
                  <a:srgbClr val="1F2937"/>
                </a:solidFill>
                <a:latin typeface="Calibri"/>
              </a:rPr>
              <a:t>worst failover for dual-homed flows when a provider fails</a:t>
            </a:r>
          </a:p>
        </p:txBody>
      </p:sp>
      <p:sp>
        <p:nvSpPr>
          <p:cNvPr id="26" name="Rounded Rectangle 25"/>
          <p:cNvSpPr/>
          <p:nvPr/>
        </p:nvSpPr>
        <p:spPr>
          <a:xfrm>
            <a:off x="6117336" y="2980944"/>
            <a:ext cx="2743200" cy="160020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0216" y="3118103"/>
            <a:ext cx="2377440" cy="640080"/>
          </a:xfrm>
          <a:prstGeom prst="rect">
            <a:avLst/>
          </a:prstGeom>
          <a:noFill/>
        </p:spPr>
        <p:txBody>
          <a:bodyPr wrap="square" lIns="36576" rIns="36576" tIns="18288" bIns="18288" anchor="t">
            <a:spAutoFit/>
          </a:bodyPr>
          <a:lstStyle/>
          <a:p>
            <a:pPr algn="l"/>
            <a:r>
              <a:rPr sz="3200" b="1" i="0">
                <a:solidFill>
                  <a:srgbClr val="0E7490"/>
                </a:solidFill>
                <a:latin typeface="Calibri"/>
              </a:rPr>
              <a:t>54</a:t>
            </a:r>
          </a:p>
        </p:txBody>
      </p:sp>
      <p:sp>
        <p:nvSpPr>
          <p:cNvPr id="28" name="TextBox 27"/>
          <p:cNvSpPr txBox="1"/>
          <p:nvPr/>
        </p:nvSpPr>
        <p:spPr>
          <a:xfrm>
            <a:off x="6300216" y="3822191"/>
            <a:ext cx="2377440" cy="731520"/>
          </a:xfrm>
          <a:prstGeom prst="rect">
            <a:avLst/>
          </a:prstGeom>
          <a:noFill/>
        </p:spPr>
        <p:txBody>
          <a:bodyPr wrap="square" lIns="36576" rIns="36576" tIns="18288" bIns="18288" anchor="t">
            <a:spAutoFit/>
          </a:bodyPr>
          <a:lstStyle/>
          <a:p>
            <a:pPr algn="l"/>
            <a:r>
              <a:rPr sz="1250" b="0" i="0">
                <a:solidFill>
                  <a:srgbClr val="1F2937"/>
                </a:solidFill>
                <a:latin typeface="Calibri"/>
              </a:rPr>
              <a:t>IKE SAs re-authenticated with the new pre-shared key</a:t>
            </a:r>
          </a:p>
        </p:txBody>
      </p:sp>
      <p:sp>
        <p:nvSpPr>
          <p:cNvPr id="29" name="Rounded Rectangle 28"/>
          <p:cNvSpPr/>
          <p:nvPr/>
        </p:nvSpPr>
        <p:spPr>
          <a:xfrm>
            <a:off x="8970263" y="2980944"/>
            <a:ext cx="2743200" cy="1600200"/>
          </a:xfrm>
          <a:prstGeom prst="roundRect">
            <a:avLst>
              <a:gd name="adj" fmla="val 6000"/>
            </a:avLst>
          </a:prstGeom>
          <a:solidFill>
            <a:srgbClr val="F6F8FA"/>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53143" y="3118103"/>
            <a:ext cx="2377440" cy="640080"/>
          </a:xfrm>
          <a:prstGeom prst="rect">
            <a:avLst/>
          </a:prstGeom>
          <a:noFill/>
        </p:spPr>
        <p:txBody>
          <a:bodyPr wrap="square" lIns="36576" rIns="36576" tIns="18288" bIns="18288" anchor="t">
            <a:spAutoFit/>
          </a:bodyPr>
          <a:lstStyle/>
          <a:p>
            <a:pPr algn="l"/>
            <a:r>
              <a:rPr sz="3200" b="1" i="0">
                <a:solidFill>
                  <a:srgbClr val="0E7490"/>
                </a:solidFill>
                <a:latin typeface="Calibri"/>
              </a:rPr>
              <a:t>5 m 28 s</a:t>
            </a:r>
          </a:p>
        </p:txBody>
      </p:sp>
      <p:sp>
        <p:nvSpPr>
          <p:cNvPr id="31" name="TextBox 30"/>
          <p:cNvSpPr txBox="1"/>
          <p:nvPr/>
        </p:nvSpPr>
        <p:spPr>
          <a:xfrm>
            <a:off x="9153143" y="3822191"/>
            <a:ext cx="2377440" cy="731520"/>
          </a:xfrm>
          <a:prstGeom prst="rect">
            <a:avLst/>
          </a:prstGeom>
          <a:noFill/>
        </p:spPr>
        <p:txBody>
          <a:bodyPr wrap="square" lIns="36576" rIns="36576" tIns="18288" bIns="18288" anchor="t">
            <a:spAutoFit/>
          </a:bodyPr>
          <a:lstStyle/>
          <a:p>
            <a:pPr algn="l"/>
            <a:r>
              <a:rPr sz="1250" b="0" i="0">
                <a:solidFill>
                  <a:srgbClr val="1F2937"/>
                </a:solidFill>
                <a:latin typeface="Calibri"/>
              </a:rPr>
              <a:t>key rotation end to end, one router at a time, then verified</a:t>
            </a:r>
          </a:p>
        </p:txBody>
      </p:sp>
      <p:sp>
        <p:nvSpPr>
          <p:cNvPr id="32" name="TextBox 31"/>
          <p:cNvSpPr txBox="1"/>
          <p:nvPr/>
        </p:nvSpPr>
        <p:spPr>
          <a:xfrm>
            <a:off x="411480" y="4800600"/>
            <a:ext cx="11338560" cy="1371600"/>
          </a:xfrm>
          <a:prstGeom prst="rect">
            <a:avLst/>
          </a:prstGeom>
          <a:noFill/>
        </p:spPr>
        <p:txBody>
          <a:bodyPr wrap="square" lIns="36576" rIns="36576" tIns="18288" bIns="18288" anchor="t">
            <a:spAutoFit/>
          </a:bodyPr>
          <a:lstStyle/>
          <a:p>
            <a:pPr algn="l">
              <a:spcAft>
                <a:spcPts val="600"/>
              </a:spcAft>
            </a:pPr>
            <a:r>
              <a:rPr sz="1250" b="1" i="0">
                <a:solidFill>
                  <a:srgbClr val="0B1B2E"/>
                </a:solidFill>
                <a:latin typeface="Calibri"/>
              </a:rPr>
              <a:t>Provider failure: </a:t>
            </a:r>
            <a:r>
              <a:rPr sz="1250" b="0" i="0">
                <a:solidFill>
                  <a:srgbClr val="1F2937"/>
                </a:solidFill>
                <a:latin typeface="Calibri"/>
              </a:rPr>
              <a:t>dual-homed customers (cust1, cust4) move to cloud 2 over the second provider. Single-homed customers lose that provider by design, and the portal shows it as 'cut off' rather than hiding it.</a:t>
            </a:r>
          </a:p>
          <a:p>
            <a:pPr algn="l">
              <a:spcAft>
                <a:spcPts val="600"/>
              </a:spcAft>
            </a:pPr>
            <a:r>
              <a:rPr sz="1250" b="1" i="0">
                <a:solidFill>
                  <a:srgbClr val="0B1B2E"/>
                </a:solidFill>
                <a:latin typeface="Calibri"/>
              </a:rPr>
              <a:t>Hub failure: </a:t>
            </a:r>
            <a:r>
              <a:rPr sz="1250" b="0" i="0">
                <a:solidFill>
                  <a:srgbClr val="1F2937"/>
                </a:solidFill>
                <a:latin typeface="Calibri"/>
              </a:rPr>
              <a:t>customers keep two other hubs, live shortcuts need no hub, and routing converges when BGP gives up on the failed hub (hold 9 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731520"/>
            <a:ext cx="10058400" cy="731520"/>
          </a:xfrm>
          <a:prstGeom prst="rect">
            <a:avLst/>
          </a:prstGeom>
          <a:noFill/>
        </p:spPr>
        <p:txBody>
          <a:bodyPr wrap="square" lIns="36576" rIns="36576" tIns="18288" bIns="18288" anchor="t">
            <a:spAutoFit/>
          </a:bodyPr>
          <a:lstStyle/>
          <a:p>
            <a:pPr algn="l"/>
            <a:r>
              <a:rPr sz="3400" b="1" i="0">
                <a:solidFill>
                  <a:srgbClr val="FFFFFF"/>
                </a:solidFill>
                <a:latin typeface="Calibri"/>
              </a:rPr>
              <a:t>In short</a:t>
            </a:r>
          </a:p>
        </p:txBody>
      </p:sp>
      <p:sp>
        <p:nvSpPr>
          <p:cNvPr id="4" name="Rectangle 3"/>
          <p:cNvSpPr/>
          <p:nvPr/>
        </p:nvSpPr>
        <p:spPr>
          <a:xfrm>
            <a:off x="731520" y="1810512"/>
            <a:ext cx="128016" cy="4572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1737360"/>
            <a:ext cx="10058400" cy="411480"/>
          </a:xfrm>
          <a:prstGeom prst="rect">
            <a:avLst/>
          </a:prstGeom>
          <a:noFill/>
        </p:spPr>
        <p:txBody>
          <a:bodyPr wrap="square" lIns="36576" rIns="36576" tIns="18288" bIns="18288" anchor="t">
            <a:spAutoFit/>
          </a:bodyPr>
          <a:lstStyle/>
          <a:p>
            <a:pPr algn="l"/>
            <a:r>
              <a:rPr sz="1900" b="1" i="0">
                <a:solidFill>
                  <a:srgbClr val="FFFFFF"/>
                </a:solidFill>
                <a:latin typeface="Calibri"/>
              </a:rPr>
              <a:t>One source of truth</a:t>
            </a:r>
          </a:p>
        </p:txBody>
      </p:sp>
      <p:sp>
        <p:nvSpPr>
          <p:cNvPr id="6" name="TextBox 5"/>
          <p:cNvSpPr txBox="1"/>
          <p:nvPr/>
        </p:nvSpPr>
        <p:spPr>
          <a:xfrm>
            <a:off x="1051560" y="2121408"/>
            <a:ext cx="10058400" cy="411480"/>
          </a:xfrm>
          <a:prstGeom prst="rect">
            <a:avLst/>
          </a:prstGeom>
          <a:noFill/>
        </p:spPr>
        <p:txBody>
          <a:bodyPr wrap="square" lIns="36576" rIns="36576" tIns="18288" bIns="18288" anchor="t">
            <a:spAutoFit/>
          </a:bodyPr>
          <a:lstStyle/>
          <a:p>
            <a:pPr algn="l"/>
            <a:r>
              <a:rPr sz="1400" b="0" i="0">
                <a:solidFill>
                  <a:srgbClr val="CBD5E1"/>
                </a:solidFill>
                <a:latin typeface="Calibri"/>
              </a:rPr>
              <a:t>lab.conf drives the configuration, Nautobot and the portal, and drift is detected against it.</a:t>
            </a:r>
          </a:p>
        </p:txBody>
      </p:sp>
      <p:sp>
        <p:nvSpPr>
          <p:cNvPr id="7" name="Rectangle 6"/>
          <p:cNvSpPr/>
          <p:nvPr/>
        </p:nvSpPr>
        <p:spPr>
          <a:xfrm>
            <a:off x="731520" y="2706624"/>
            <a:ext cx="128016" cy="4572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633472"/>
            <a:ext cx="10058400" cy="411480"/>
          </a:xfrm>
          <a:prstGeom prst="rect">
            <a:avLst/>
          </a:prstGeom>
          <a:noFill/>
        </p:spPr>
        <p:txBody>
          <a:bodyPr wrap="square" lIns="36576" rIns="36576" tIns="18288" bIns="18288" anchor="t">
            <a:spAutoFit/>
          </a:bodyPr>
          <a:lstStyle/>
          <a:p>
            <a:pPr algn="l"/>
            <a:r>
              <a:rPr sz="1900" b="1" i="0">
                <a:solidFill>
                  <a:srgbClr val="FFFFFF"/>
                </a:solidFill>
                <a:latin typeface="Calibri"/>
              </a:rPr>
              <a:t>Every change is a job</a:t>
            </a:r>
          </a:p>
        </p:txBody>
      </p:sp>
      <p:sp>
        <p:nvSpPr>
          <p:cNvPr id="9" name="TextBox 8"/>
          <p:cNvSpPr txBox="1"/>
          <p:nvPr/>
        </p:nvSpPr>
        <p:spPr>
          <a:xfrm>
            <a:off x="1051560" y="3017520"/>
            <a:ext cx="10058400" cy="411480"/>
          </a:xfrm>
          <a:prstGeom prst="rect">
            <a:avLst/>
          </a:prstGeom>
          <a:noFill/>
        </p:spPr>
        <p:txBody>
          <a:bodyPr wrap="square" lIns="36576" rIns="36576" tIns="18288" bIns="18288" anchor="t">
            <a:spAutoFit/>
          </a:bodyPr>
          <a:lstStyle/>
          <a:p>
            <a:pPr algn="l"/>
            <a:r>
              <a:rPr sz="1400" b="0" i="0">
                <a:solidFill>
                  <a:srgbClr val="CBD5E1"/>
                </a:solidFill>
                <a:latin typeface="Calibri"/>
              </a:rPr>
              <a:t>It is planned, approved, run, verified and recorded with a before-and-after diff per router.</a:t>
            </a:r>
          </a:p>
        </p:txBody>
      </p:sp>
      <p:sp>
        <p:nvSpPr>
          <p:cNvPr id="10" name="Rectangle 9"/>
          <p:cNvSpPr/>
          <p:nvPr/>
        </p:nvSpPr>
        <p:spPr>
          <a:xfrm>
            <a:off x="731520" y="3602736"/>
            <a:ext cx="128016" cy="4572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3529584"/>
            <a:ext cx="10058400" cy="411480"/>
          </a:xfrm>
          <a:prstGeom prst="rect">
            <a:avLst/>
          </a:prstGeom>
          <a:noFill/>
        </p:spPr>
        <p:txBody>
          <a:bodyPr wrap="square" lIns="36576" rIns="36576" tIns="18288" bIns="18288" anchor="t">
            <a:spAutoFit/>
          </a:bodyPr>
          <a:lstStyle/>
          <a:p>
            <a:pPr algn="l"/>
            <a:r>
              <a:rPr sz="1900" b="1" i="0">
                <a:solidFill>
                  <a:srgbClr val="FFFFFF"/>
                </a:solidFill>
                <a:latin typeface="Calibri"/>
              </a:rPr>
              <a:t>Resilience you can measure</a:t>
            </a:r>
          </a:p>
        </p:txBody>
      </p:sp>
      <p:sp>
        <p:nvSpPr>
          <p:cNvPr id="12" name="TextBox 11"/>
          <p:cNvSpPr txBox="1"/>
          <p:nvPr/>
        </p:nvSpPr>
        <p:spPr>
          <a:xfrm>
            <a:off x="1051560" y="3913632"/>
            <a:ext cx="10058400" cy="411480"/>
          </a:xfrm>
          <a:prstGeom prst="rect">
            <a:avLst/>
          </a:prstGeom>
          <a:noFill/>
        </p:spPr>
        <p:txBody>
          <a:bodyPr wrap="square" lIns="36576" rIns="36576" tIns="18288" bIns="18288" anchor="t">
            <a:spAutoFit/>
          </a:bodyPr>
          <a:lstStyle/>
          <a:p>
            <a:pPr algn="l"/>
            <a:r>
              <a:rPr sz="1400" b="0" i="0">
                <a:solidFill>
                  <a:srgbClr val="CBD5E1"/>
                </a:solidFill>
                <a:latin typeface="Calibri"/>
              </a:rPr>
              <a:t>Simulate a failure and get the outage timeline for every flow.</a:t>
            </a:r>
          </a:p>
        </p:txBody>
      </p:sp>
      <p:sp>
        <p:nvSpPr>
          <p:cNvPr id="13" name="Rectangle 12"/>
          <p:cNvSpPr/>
          <p:nvPr/>
        </p:nvSpPr>
        <p:spPr>
          <a:xfrm>
            <a:off x="731520" y="4498848"/>
            <a:ext cx="128016" cy="4572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4425696"/>
            <a:ext cx="10058400" cy="411480"/>
          </a:xfrm>
          <a:prstGeom prst="rect">
            <a:avLst/>
          </a:prstGeom>
          <a:noFill/>
        </p:spPr>
        <p:txBody>
          <a:bodyPr wrap="square" lIns="36576" rIns="36576" tIns="18288" bIns="18288" anchor="t">
            <a:spAutoFit/>
          </a:bodyPr>
          <a:lstStyle/>
          <a:p>
            <a:pPr algn="l"/>
            <a:r>
              <a:rPr sz="1900" b="1" i="0">
                <a:solidFill>
                  <a:srgbClr val="FFFFFF"/>
                </a:solidFill>
                <a:latin typeface="Calibri"/>
              </a:rPr>
              <a:t>Customers see their own service</a:t>
            </a:r>
          </a:p>
        </p:txBody>
      </p:sp>
      <p:sp>
        <p:nvSpPr>
          <p:cNvPr id="15" name="TextBox 14"/>
          <p:cNvSpPr txBox="1"/>
          <p:nvPr/>
        </p:nvSpPr>
        <p:spPr>
          <a:xfrm>
            <a:off x="1051560" y="4809744"/>
            <a:ext cx="10058400" cy="411480"/>
          </a:xfrm>
          <a:prstGeom prst="rect">
            <a:avLst/>
          </a:prstGeom>
          <a:noFill/>
        </p:spPr>
        <p:txBody>
          <a:bodyPr wrap="square" lIns="36576" rIns="36576" tIns="18288" bIns="18288" anchor="t">
            <a:spAutoFit/>
          </a:bodyPr>
          <a:lstStyle/>
          <a:p>
            <a:pPr algn="l"/>
            <a:r>
              <a:rPr sz="1400" b="0" i="0">
                <a:solidFill>
                  <a:srgbClr val="CBD5E1"/>
                </a:solidFill>
                <a:latin typeface="Calibri"/>
              </a:rPr>
              <a:t>SLA, applications, requests and self-service diagnostics, and nothing else.</a:t>
            </a:r>
          </a:p>
        </p:txBody>
      </p:sp>
      <p:sp>
        <p:nvSpPr>
          <p:cNvPr id="16" name="Rectangle 15"/>
          <p:cNvSpPr/>
          <p:nvPr/>
        </p:nvSpPr>
        <p:spPr>
          <a:xfrm>
            <a:off x="731520" y="5394960"/>
            <a:ext cx="128016" cy="4572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5321808"/>
            <a:ext cx="10058400" cy="411480"/>
          </a:xfrm>
          <a:prstGeom prst="rect">
            <a:avLst/>
          </a:prstGeom>
          <a:noFill/>
        </p:spPr>
        <p:txBody>
          <a:bodyPr wrap="square" lIns="36576" rIns="36576" tIns="18288" bIns="18288" anchor="t">
            <a:spAutoFit/>
          </a:bodyPr>
          <a:lstStyle/>
          <a:p>
            <a:pPr algn="l"/>
            <a:r>
              <a:rPr sz="1900" b="1" i="0">
                <a:solidFill>
                  <a:srgbClr val="FFFFFF"/>
                </a:solidFill>
                <a:latin typeface="Calibri"/>
              </a:rPr>
              <a:t>Secure by default</a:t>
            </a:r>
          </a:p>
        </p:txBody>
      </p:sp>
      <p:sp>
        <p:nvSpPr>
          <p:cNvPr id="18" name="TextBox 17"/>
          <p:cNvSpPr txBox="1"/>
          <p:nvPr/>
        </p:nvSpPr>
        <p:spPr>
          <a:xfrm>
            <a:off x="1051560" y="5705856"/>
            <a:ext cx="10058400" cy="411480"/>
          </a:xfrm>
          <a:prstGeom prst="rect">
            <a:avLst/>
          </a:prstGeom>
          <a:noFill/>
        </p:spPr>
        <p:txBody>
          <a:bodyPr wrap="square" lIns="36576" rIns="36576" tIns="18288" bIns="18288" anchor="t">
            <a:spAutoFit/>
          </a:bodyPr>
          <a:lstStyle/>
          <a:p>
            <a:pPr algn="l"/>
            <a:r>
              <a:rPr sz="1400" b="0" i="0">
                <a:solidFill>
                  <a:srgbClr val="CBD5E1"/>
                </a:solidFill>
                <a:latin typeface="Calibri"/>
              </a:rPr>
              <a:t>Roles, four eyes, key rotation on demand, and secrets never shown.</a:t>
            </a:r>
          </a:p>
        </p:txBody>
      </p:sp>
      <p:sp>
        <p:nvSpPr>
          <p:cNvPr id="19" name="TextBox 18"/>
          <p:cNvSpPr txBox="1"/>
          <p:nvPr/>
        </p:nvSpPr>
        <p:spPr>
          <a:xfrm>
            <a:off x="731520" y="6263640"/>
            <a:ext cx="10058400" cy="365760"/>
          </a:xfrm>
          <a:prstGeom prst="rect">
            <a:avLst/>
          </a:prstGeom>
          <a:noFill/>
        </p:spPr>
        <p:txBody>
          <a:bodyPr wrap="square" lIns="36576" rIns="36576" tIns="18288" bIns="18288" anchor="t">
            <a:spAutoFit/>
          </a:bodyPr>
          <a:lstStyle/>
          <a:p>
            <a:pPr algn="l"/>
            <a:r>
              <a:rPr sz="1200" b="0" i="0">
                <a:solidFill>
                  <a:srgbClr val="94A3B8"/>
                </a:solidFill>
                <a:latin typeface="Calibri"/>
              </a:rPr>
              <a:t>github.com/dcantor/c8000v-dmvpn-lab · portal on the lab host at :8094 · API at /docs</a:t>
            </a:r>
          </a:p>
        </p:txBody>
      </p:sp>
      <p:sp>
        <p:nvSpPr>
          <p:cNvPr id="20" name="TextBox 19"/>
          <p:cNvSpPr txBox="1"/>
          <p:nvPr/>
        </p:nvSpPr>
        <p:spPr>
          <a:xfrm>
            <a:off x="11155680" y="6473952"/>
            <a:ext cx="822960" cy="274320"/>
          </a:xfrm>
          <a:prstGeom prst="rect">
            <a:avLst/>
          </a:prstGeom>
          <a:noFill/>
        </p:spPr>
        <p:txBody>
          <a:bodyPr wrap="square" lIns="36576" rIns="36576" tIns="18288" bIns="18288" anchor="t">
            <a:spAutoFit/>
          </a:bodyPr>
          <a:lstStyle/>
          <a:p>
            <a:pPr algn="r"/>
            <a:r>
              <a:rPr sz="1000" b="0" i="0">
                <a:solidFill>
                  <a:srgbClr val="94A3B8"/>
                </a:solidFill>
                <a:latin typeface="Calibri"/>
              </a:rPr>
              <a:t>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