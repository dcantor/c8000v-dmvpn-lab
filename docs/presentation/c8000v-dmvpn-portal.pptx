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 The portal runs on the lab host at :8094 and fronts the whole lab: lab.conf is the source of truth, Network-as-Code pushes the Catalyst 8000v routers, SSH pushes the VyOS routers, Nautobot mirrors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 statement: the service is simple to draw but has many moving parts, and without tooling every question costs a round of logins.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Architecture: the portal never edits routers ad hoc. Changes go through lab.conf, the renderer and the same push pipeline, then a verification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capability areas. The tour that follows shows each one in the portal, with numbered callouts matching the explanation beside each screenshot.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signs in, and the role decides what they see</a:t>
            </a:r>
          </a:p>
          <a:p/>
          <a:p>
            <a:r>
              <a:t>1. Sign in: Staff roles are viewer, operator, approver and admin. A customer account sees only its own service. Sessions are signed cookies, passwords are PBKDF2 hashes.</a:t>
            </a:r>
          </a:p>
          <a:p/>
          <a:p>
            <a:r>
              <a:t>Read-only users cannot start jobs, nobody approves their own change, and customers never see another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cloud: every router, read live</a:t>
            </a:r>
          </a:p>
          <a:p/>
          <a:p>
            <a:r>
              <a:t>1. KPIs: Hubs, customers, registrations, shortcuts and BGP at a glance.</a:t>
            </a:r>
          </a:p>
          <a:p>
            <a:r>
              <a:t>2. Every router: NHRP registrations, IPsec, overlay BGP, the provider and the preferred hub, read from the routers themselves.</a:t>
            </a:r>
          </a:p>
          <a:p>
            <a:r>
              <a:t>3. Both providers: Access links and eBGP on mpls and mpls2.</a:t>
            </a:r>
          </a:p>
          <a:p>
            <a:r>
              <a:t>4. Who you are: The account, its role and the portal version, always visible.</a:t>
            </a:r>
          </a:p>
          <a:p/>
          <a:p>
            <a:r>
              <a:t>One screen answers 'is every spoke registered with every hub?' with no CLI logins.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Health and configuration drift</a:t>
            </a:r>
          </a:p>
          <a:p/>
          <a:p>
            <a:r>
              <a:t>1. Health: Everything the model expects to be up is checked, and anything missing is named.</a:t>
            </a:r>
          </a:p>
          <a:p>
            <a:r>
              <a:t>2. Drift: Each router is compared with what lab.conf renders. 'Fix drift' puts it back as a controlled job.</a:t>
            </a:r>
          </a:p>
          <a:p/>
          <a:p>
            <a:r>
              <a:t>Hand edits no longer go unnoticed: drift is visible per router, and fixing it is one approved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topology map drawn from live state</a:t>
            </a:r>
          </a:p>
          <a:p/>
          <a:p>
            <a:r>
              <a:t>1. The map: Hubs, providers, customers and LAN hosts. Tunnel colour shows health, and the preferred hub is drawn bold.</a:t>
            </a:r>
          </a:p>
          <a:p>
            <a:r>
              <a:t>2. Layers: Turn provider 2 and cloud 2, shortcuts, hosts and labels on or off.</a:t>
            </a:r>
          </a:p>
          <a:p>
            <a:r>
              <a:t>3. Export: SVG or PNG, light or dark, exactly as drawn.</a:t>
            </a:r>
          </a:p>
          <a:p>
            <a:r>
              <a:t>4. Details: Click a node to see the customer company, its applications (checked every minute) and the router's live state.</a:t>
            </a:r>
          </a:p>
          <a:p/>
          <a:p>
            <a:r>
              <a:t>Everyone gets the same live picture, from operations to account managers and customers.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Path trace: watch the phase 3 shortcut form</a:t>
            </a:r>
          </a:p>
          <a:p/>
          <a:p>
            <a:r>
              <a:t>1. First via a hub, then direct: The first packets go through a hub. NHRP then builds a spoke-to-spoke shortcut, drawn in purple.</a:t>
            </a:r>
          </a:p>
          <a:p>
            <a:r>
              <a:t>2. Details and actions: Trace, watch the shortcut form, ping every host, and view the config history per router.</a:t>
            </a:r>
          </a:p>
          <a:p>
            <a:r>
              <a:t>3. Every trace, hop by hop: The raw output is kept so you can copy or download it.</a:t>
            </a:r>
          </a:p>
          <a:p/>
          <a:p>
            <a:r>
              <a:t>It shows that DMVPN phase 3 works end to end, and makes it easy to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router's configuration history</a:t>
            </a:r>
          </a:p>
          <a:p/>
          <a:p>
            <a:r>
              <a:t>1. Router details: Its live state: addresses, NHRP, IPsec, BGP, and its actions.</a:t>
            </a:r>
          </a:p>
          <a:p>
            <a:r>
              <a:t>2. Every job that changed it: Each job's diff for this router, newest first, with masked secrets.</a:t>
            </a:r>
          </a:p>
          <a:p/>
          <a:p>
            <a:r>
              <a:t>When something changed on a router, you can see which job did it and exactly what it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SLA per customer, from VictoriaMetrics</a:t>
            </a:r>
          </a:p>
          <a:p/>
          <a:p>
            <a:r>
              <a:t>1. Against targets: Availability, latency, loss and tunnel uptime, each compared with its SLA target.</a:t>
            </a:r>
          </a:p>
          <a:p>
            <a:r>
              <a:t>2. Latency to each hub: Probed every minute from the customer's own LAN host.</a:t>
            </a:r>
          </a:p>
          <a:p>
            <a:r>
              <a:t>3. Window and report: 24 hours, 30 days or this month, with a monthly PDF report for the customer.</a:t>
            </a:r>
          </a:p>
          <a:p/>
          <a:p>
            <a:r>
              <a:t>SLA reporting is automatic and based on measurements the customer can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Simulate failures on purpose</a:t>
            </a:r>
          </a:p>
          <a:p/>
          <a:p>
            <a:r>
              <a:t>1. Choose a failure: A hub, a provider, or a customer circuit. The page says what should happen before you press anything.</a:t>
            </a:r>
          </a:p>
          <a:p>
            <a:r>
              <a:t>2. Measure failover: Every LAN host pings every other host five times a second while the fault is in.</a:t>
            </a:r>
          </a:p>
          <a:p>
            <a:r>
              <a:t>3. Every measurement: Flows unaffected, failed over or cut off, the worst failover and the time back to healthy.</a:t>
            </a:r>
          </a:p>
          <a:p/>
          <a:p>
            <a:r>
              <a:t>Resilience becomes a number rather than a claim, for example 0.6 s worst case for a hub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failover experiment, flow by flow</a:t>
            </a:r>
          </a:p>
          <a:p/>
          <a:p>
            <a:r>
              <a:t>1. The experiment: What failed, for how long, and the headline figures.</a:t>
            </a:r>
          </a:p>
          <a:p>
            <a:r>
              <a:t>2. Each flow: The verdict and an outage timeline for every host pair, so you can see which paths moved and which were cut.</a:t>
            </a:r>
          </a:p>
          <a:p/>
          <a:p>
            <a:r>
              <a:t>You can see exactly which customers a failure affects, and for how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Provision: every change is a job</a:t>
            </a:r>
          </a:p>
          <a:p/>
          <a:p>
            <a:r>
              <a:t>1. Tasks: Eleven tasks: each shows what it does, how long it takes and who may run it. The next slides walk through them.</a:t>
            </a:r>
          </a:p>
          <a:p>
            <a:r>
              <a:t>2. Pre-shared key: Admins rotate the DMVPN key. The system picks a random 40-character key, and only its fingerprint is ever shown.</a:t>
            </a:r>
          </a:p>
          <a:p/>
          <a:p>
            <a:r>
              <a:t>Operators pick what they want done, and the portal carries it out consistently on every router.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eleven Provision tasks. Anything that could take something away needs a second person; adding and reading never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a customer: everything allocated for you</a:t>
            </a:r>
          </a:p>
          <a:p/>
          <a:p>
            <a:r>
              <a:t>1. Router type: Catalyst 8000v (NAC) or VyOS.</a:t>
            </a:r>
          </a:p>
          <a:p>
            <a:r>
              <a:t>2. Preferred hub: Or none: any hub.</a:t>
            </a:r>
          </a:p>
          <a:p>
            <a:r>
              <a:t>3. Dual-homed: A backup link into mpls2 and cloud 2.</a:t>
            </a:r>
          </a:p>
          <a:p>
            <a:r>
              <a:t>4. Name and addresses: The next free name, management IP and LAN.</a:t>
            </a:r>
          </a:p>
          <a:p>
            <a:r>
              <a:t>5. Index, port, host: Tunnel index, provider port, LAN host.</a:t>
            </a:r>
          </a:p>
          <a:p>
            <a:r>
              <a:t>6. The company: Pre-filled; goes to Nautobot as a tenant.</a:t>
            </a:r>
          </a:p>
          <a:p/>
          <a:p>
            <a:r>
              <a:t>Nothing to look up or calculate: every address and port is allocated and checked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a customer: the plan, before anything runs</a:t>
            </a:r>
          </a:p>
          <a:p/>
          <a:p>
            <a:r>
              <a:t>1. Applications: What the customer subscribes to; application checks start for them.</a:t>
            </a:r>
          </a:p>
          <a:p>
            <a:r>
              <a:t>2. The plan: Router, cloud, hub, WAN, LAN and what changes: here a new VyOS router, both providers and Nautobot. No hub changes.</a:t>
            </a:r>
          </a:p>
          <a:p>
            <a:r>
              <a:t>3. Provision: Starts the job, or files a change request if the policy asks for approval.</a:t>
            </a:r>
          </a:p>
          <a:p/>
          <a:p>
            <a:r>
              <a:t>Onboarding a customer takes one form and about 15 minutes, with the whole impact visible up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Modify a customer, with the plan shown first</a:t>
            </a:r>
          </a:p>
          <a:p/>
          <a:p>
            <a:r>
              <a:t>1. Router type: Move a customer between C8000v and VyOS.</a:t>
            </a:r>
          </a:p>
          <a:p>
            <a:r>
              <a:t>2. Preferred hub: Pick the hub its traffic should prefer (local-preference 200).</a:t>
            </a:r>
          </a:p>
          <a:p>
            <a:r>
              <a:t>3. Second provider: Dual-home the customer onto mpls2 and cloud 2.</a:t>
            </a:r>
          </a:p>
          <a:p>
            <a:r>
              <a:t>4. The plan: Exactly what will change on which routers, before anything runs.</a:t>
            </a:r>
          </a:p>
          <a:p/>
          <a:p>
            <a:r>
              <a:t>No surprises: the impact is visible and reviewed before a change request is filed.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Remove a customer, safely</a:t>
            </a:r>
          </a:p>
          <a:p/>
          <a:p>
            <a:r>
              <a:t>1. Which customer: Its router type, region and addressing are shown.</a:t>
            </a:r>
          </a:p>
          <a:p>
            <a:r>
              <a:t>2. What goes with it: The company and its subscriptions are removed from customers.json and Nautobot.</a:t>
            </a:r>
          </a:p>
          <a:p>
            <a:r>
              <a:t>3. The plan: The router and host deleted, Terraform state, the provider port released, lab.conf and Nautobot updated.</a:t>
            </a:r>
          </a:p>
          <a:p>
            <a:r>
              <a:t>4. Remove: Destructive: it needs an approver under the default policy.</a:t>
            </a:r>
          </a:p>
          <a:p/>
          <a:p>
            <a:r>
              <a:t>Decommissioning leaves nothing behind: no orphaned ports, config, Terraform state or Nautobot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 the model: lab.conf onto every router</a:t>
            </a:r>
          </a:p>
          <a:p/>
          <a:p>
            <a:r>
              <a:t>1. The job: Who started it, who approved it, 7 of 7 steps, 4 minutes.</a:t>
            </a:r>
          </a:p>
          <a:p>
            <a:r>
              <a:t>2. The steps: Snapshot, render, Terraform apply (NAC), the providers, Nautobot seeded, Nautobot's rendering compared with lab.conf, snapshot and compare. The log is kept below.</a:t>
            </a:r>
          </a:p>
          <a:p/>
          <a:p>
            <a:r>
              <a:t>The same pipeline builds, fixes and restores the lab, so the result is always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Restore from a backup: see the difference first</a:t>
            </a:r>
          </a:p>
          <a:p/>
          <a:p>
            <a:r>
              <a:t>1. The backup: A .tar.gz made by Back up the lab, uploaded here.</a:t>
            </a:r>
          </a:p>
          <a:p>
            <a:r>
              <a:t>2. What is in it: Version, date, host, files, every checksum verified, and its customers.</a:t>
            </a:r>
          </a:p>
          <a:p>
            <a:r>
              <a:t>3. What would change: Customers changed, added or removed, other settings, then NAC, pushes, Nautobot and verification.</a:t>
            </a:r>
          </a:p>
          <a:p>
            <a:r>
              <a:t>4. Restore: Only after approval; nothing changes before.</a:t>
            </a:r>
          </a:p>
          <a:p/>
          <a:p>
            <a:r>
              <a:t>A known-good state is always one approved job away, and you know exactly what it will undo.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DMVPN pre-shared key</a:t>
            </a:r>
          </a:p>
          <a:p/>
          <a:p>
            <a:r>
              <a:t>1. Key: Where it is kept (secrets/ on the lab host) and its fingerprint. The key itself is never shown.</a:t>
            </a:r>
          </a:p>
          <a:p>
            <a:r>
              <a:t>2. Set: When it was last rotated, by whom, and the job.</a:t>
            </a:r>
          </a:p>
          <a:p>
            <a:r>
              <a:t>3. Used by: Every hub and customer router.</a:t>
            </a:r>
          </a:p>
          <a:p>
            <a:r>
              <a:t>4. Rotate: Admins only, with a confirmation, and through change control.</a:t>
            </a:r>
          </a:p>
          <a:p/>
          <a:p>
            <a:r>
              <a:t>Rotating the key becomes routine: one button, a random key, and proof that every session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job: who, what, and the proof</a:t>
            </a:r>
          </a:p>
          <a:p/>
          <a:p>
            <a:r>
              <a:t>1. Who: Who started the job and who approved it.</a:t>
            </a:r>
          </a:p>
          <a:p>
            <a:r>
              <a:t>2. Progress: Live progress and the time it took.</a:t>
            </a:r>
          </a:p>
          <a:p>
            <a:r>
              <a:t>3. What changed: The before-and-after diff per router. Secrets are masked but their change is still visible.</a:t>
            </a:r>
          </a:p>
          <a:p>
            <a:r>
              <a:t>4. Every step: Each step's result, for example '54 IKE SAs on 8 routers, all made after the rotation'.</a:t>
            </a:r>
          </a:p>
          <a:p/>
          <a:p>
            <a:r>
              <a:t>Every change leaves evidence: the steps, the approvals and the exact configuration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tests: the lab proves itself</a:t>
            </a:r>
          </a:p>
          <a:p/>
          <a:p>
            <a:r>
              <a:t>1. The job: Robot Framework suites against the live lab.</a:t>
            </a:r>
          </a:p>
          <a:p>
            <a:r>
              <a:t>2. The result: 73 of 73 passed, in about 11 minutes.</a:t>
            </a:r>
          </a:p>
          <a:p>
            <a:r>
              <a:t>3. The evidence: The Robot report and log, and every router's configuration before and after.</a:t>
            </a:r>
          </a:p>
          <a:p/>
          <a:p>
            <a:r>
              <a:t>Every change can end with a full test run, and the evidence is one click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and the job list</a:t>
            </a:r>
          </a:p>
          <a:p/>
          <a:p>
            <a:r>
              <a:t>1. Maintenance: Declared here or started automatically by disruptive jobs and simulated failures. Alerts are muted, customers told, and SLA leaves it out.</a:t>
            </a:r>
          </a:p>
          <a:p>
            <a:r>
              <a:t>2. Declare: What, and which nodes it affects.</a:t>
            </a:r>
          </a:p>
          <a:p>
            <a:r>
              <a:t>3. Every job: Status, a progress bar, duration and test results. A failed job resumes from the step that failed.</a:t>
            </a:r>
          </a:p>
          <a:p/>
          <a:p>
            <a:r>
              <a:t>Planned work does not page anyone or count against the SLA, and customers see it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Change requests: four eyes and change windows</a:t>
            </a:r>
          </a:p>
          <a:p/>
          <a:p>
            <a:r>
              <a:t>1. Change requests: Each request shows who asked, what for, who approved or rejected it, and its status, including requests from customers.</a:t>
            </a:r>
          </a:p>
          <a:p/>
          <a:p>
            <a:r>
              <a:t>Disruptive work cannot start without a second person, and it runs only inside the agreed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change policy, edited in the portal</a:t>
            </a:r>
          </a:p>
          <a:p/>
          <a:p>
            <a:r>
              <a:t>1. The policy: Which tasks need approval, four eyes, emergency approvals with a reason, expiry after 72 h, and change windows by day and time.</a:t>
            </a:r>
          </a:p>
          <a:p>
            <a:r>
              <a:t>2. In one line: The current policy is always shown above the requests.</a:t>
            </a:r>
          </a:p>
          <a:p/>
          <a:p>
            <a:r>
              <a:t>The rules for change are visible and adjustable, not tribal knowledge.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policy is editable in the portal: which job types need approval, change windows, emergency changes and expiry of stale requests.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customer's own view</a:t>
            </a:r>
          </a:p>
          <a:p/>
          <a:p>
            <a:r>
              <a:t>1. Status: Service status, incidents and planned maintenance for this customer.</a:t>
            </a:r>
          </a:p>
          <a:p>
            <a:r>
              <a:t>2. Its own site: The map, cut down to the customer's own site and the hubs it uses.</a:t>
            </a:r>
          </a:p>
          <a:p>
            <a:r>
              <a:t>3. Its applications: Its company details and live application status.</a:t>
            </a:r>
          </a:p>
          <a:p>
            <a:r>
              <a:t>4. Its own pages: Network, service levels, requests and diagnostics. Nothing else is reachable.</a:t>
            </a:r>
          </a:p>
          <a:p/>
          <a:p>
            <a:r>
              <a:t>Customers can answer their own questions, which means fewer tickets and more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Customer self-service requests</a:t>
            </a:r>
          </a:p>
          <a:p/>
          <a:p>
            <a:r>
              <a:t>1. Ask for a change: Applications, the preferred hub or a second provider, with a reason.</a:t>
            </a:r>
          </a:p>
          <a:p>
            <a:r>
              <a:t>2. Track it: Each request becomes a change request for the operators, and its progress is shown here.</a:t>
            </a:r>
          </a:p>
          <a:p/>
          <a:p>
            <a:r>
              <a:t>Customers can request changes without email, and the request still goes through staff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Self-service diagnostics</a:t>
            </a:r>
          </a:p>
          <a:p/>
          <a:p>
            <a:r>
              <a:t>1. Tests from its LAN host: The customer tests its applications, the hubs, or traces a path.</a:t>
            </a:r>
          </a:p>
          <a:p>
            <a:r>
              <a:t>2. Every application, every hub: Round-trip time, loss and HTTP status, run on demand.</a:t>
            </a:r>
          </a:p>
          <a:p/>
          <a:p>
            <a:r>
              <a:t>The first-line diagnosis is done by the customer in seconds, with no ticket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tools and accounts</a:t>
            </a:r>
          </a:p>
          <a:p/>
          <a:p>
            <a:r>
              <a:t>1. Accounts and roles: Admins add, disable and delete accounts and set passwords. Accounts still on their lab-default password are flagged.</a:t>
            </a:r>
          </a:p>
          <a:p>
            <a:r>
              <a:t>2. Every tool: Nautobot, the API, the lab hub and the repository, each with how to sign in.</a:t>
            </a:r>
          </a:p>
          <a:p/>
          <a:p>
            <a:r>
              <a:t>Access is managed in one place, with visible warnings when the defaults have not been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an API</a:t>
            </a:r>
          </a:p>
          <a:p/>
          <a:p>
            <a:r>
              <a:t>1. REST API: Every screen in the portal is built on the same API, documented with Swagger.</a:t>
            </a:r>
          </a:p>
          <a:p>
            <a:r>
              <a:t>2. By area: Monitoring, state, customers, jobs, changes, SLA, and more.</a:t>
            </a:r>
          </a:p>
          <a:p/>
          <a:p>
            <a:r>
              <a:t>Other tools and pipelines can drive the lab the way the portal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 or dark, and roles everywhere</a:t>
            </a:r>
          </a:p>
          <a:p/>
          <a:p>
            <a:r>
              <a:t>1. Dark mode: Every page, including the live map.</a:t>
            </a:r>
          </a:p>
          <a:p>
            <a:r>
              <a:t>2. An operator: It sees and changes the lab, but admin tasks such as key rotation and accounts are hidden.</a:t>
            </a:r>
          </a:p>
          <a:p/>
          <a:p>
            <a:r>
              <a:t>The portal fits the user, and each role only sees the actions it may 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Figures from the lab on 27 September 2026: the health check, the failover measurements on the Resilience page, and the pre-shared key rotation job (CR-0021).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5486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138160" y="1188720"/>
            <a:ext cx="365760" cy="2103120"/>
          </a:xfrm>
          <a:prstGeom prst="line">
            <a:avLst/>
          </a:prstGeom>
          <a:ln w="12700">
            <a:solidFill>
              <a:srgbClr val="2B4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03920" y="1188720"/>
            <a:ext cx="640080" cy="2560319"/>
          </a:xfrm>
          <a:prstGeom prst="line">
            <a:avLst/>
          </a:prstGeom>
          <a:ln w="12700">
            <a:solidFill>
              <a:srgbClr val="2B4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503920" y="1188720"/>
            <a:ext cx="1737360" cy="2651760"/>
          </a:xfrm>
          <a:prstGeom prst="line">
            <a:avLst/>
          </a:prstGeom>
          <a:ln w="12700">
            <a:solidFill>
              <a:srgbClr val="2B4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503920" y="1188720"/>
            <a:ext cx="2834640" cy="2194560"/>
          </a:xfrm>
          <a:prstGeom prst="line">
            <a:avLst/>
          </a:prstGeom>
          <a:ln w="12700">
            <a:solidFill>
              <a:srgbClr val="2B4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8138160" y="914400"/>
            <a:ext cx="1737360" cy="2377440"/>
          </a:xfrm>
          <a:prstGeom prst="line">
            <a:avLst/>
          </a:prstGeom>
          <a:ln w="12700">
            <a:solidFill>
              <a:srgbClr val="2B4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9144000" y="914400"/>
            <a:ext cx="731520" cy="2834639"/>
          </a:xfrm>
          <a:prstGeom prst="line">
            <a:avLst/>
          </a:prstGeom>
          <a:ln w="12700">
            <a:solidFill>
              <a:srgbClr val="2B4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875520" y="914400"/>
            <a:ext cx="365760" cy="2926080"/>
          </a:xfrm>
          <a:prstGeom prst="line">
            <a:avLst/>
          </a:prstGeom>
          <a:ln w="12700">
            <a:solidFill>
              <a:srgbClr val="2B4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914400"/>
            <a:ext cx="1463040" cy="2468880"/>
          </a:xfrm>
          <a:prstGeom prst="line">
            <a:avLst/>
          </a:prstGeom>
          <a:ln w="12700">
            <a:solidFill>
              <a:srgbClr val="2B4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8138160" y="1188720"/>
            <a:ext cx="3108960" cy="2103120"/>
          </a:xfrm>
          <a:prstGeom prst="line">
            <a:avLst/>
          </a:prstGeom>
          <a:ln w="12700">
            <a:solidFill>
              <a:srgbClr val="2B4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9144000" y="1188720"/>
            <a:ext cx="2103120" cy="2560319"/>
          </a:xfrm>
          <a:prstGeom prst="line">
            <a:avLst/>
          </a:prstGeom>
          <a:ln w="12700">
            <a:solidFill>
              <a:srgbClr val="2B4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0241280" y="1188720"/>
            <a:ext cx="1005840" cy="2651760"/>
          </a:xfrm>
          <a:prstGeom prst="line">
            <a:avLst/>
          </a:prstGeom>
          <a:ln w="12700">
            <a:solidFill>
              <a:srgbClr val="2B4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247120" y="1188720"/>
            <a:ext cx="91440" cy="2194560"/>
          </a:xfrm>
          <a:prstGeom prst="line">
            <a:avLst/>
          </a:prstGeom>
          <a:ln w="12700">
            <a:solidFill>
              <a:srgbClr val="2B4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9144000" y="3383280"/>
            <a:ext cx="2194560" cy="365759"/>
          </a:xfrm>
          <a:prstGeom prst="line">
            <a:avLst/>
          </a:prstGeom>
          <a:ln w="3810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8302752" y="987552"/>
            <a:ext cx="402336" cy="40233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74352" y="713232"/>
            <a:ext cx="402336" cy="40233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045952" y="987552"/>
            <a:ext cx="402336" cy="40233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91856" y="3145536"/>
            <a:ext cx="292608" cy="29260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997696" y="3602735"/>
            <a:ext cx="292608" cy="29260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94976" y="3694176"/>
            <a:ext cx="292608" cy="29260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192256" y="3236976"/>
            <a:ext cx="292608" cy="29260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5EC8DB"/>
                </a:solidFill>
                <a:latin typeface="Calibri"/>
              </a:rPr>
              <a:t>NETWORK AS CODE · DMVPN PHASE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1874519"/>
            <a:ext cx="7498079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C8000v DMVPN Portal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788920"/>
            <a:ext cx="694944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CBD5E1"/>
                </a:solidFill>
                <a:latin typeface="Calibri"/>
              </a:rPr>
              <a:t>One place to see, change, prove and share a multi-hub DMVPN service: for the operators who run it and the customers who use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074920"/>
            <a:ext cx="10058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Three Catalyst 8000v hubs · C8000v and VyOS customers · two providers · Nautobot · Terraform (NAC) · VictoriaMetrics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86400"/>
            <a:ext cx="7315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Version 0.21.2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Running a DMVPN service by hand does not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24712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</a:rPr>
              <a:t>A single customer touches three hubs, one or two providers, two router operating systems and a source of truth. Every question and every change means logging in to several boxes.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74519"/>
            <a:ext cx="2743200" cy="201168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2039112"/>
            <a:ext cx="64008" cy="3840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020824"/>
            <a:ext cx="24688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B2E"/>
                </a:solidFill>
                <a:latin typeface="Calibri"/>
              </a:rPr>
              <a:t>Scattered 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41448"/>
            <a:ext cx="2450592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Is every spoke registered with every hub? Are shortcuts forming? Health lives in a dozen CLI sessions on IOS XE and VyOS.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4408" y="1874519"/>
            <a:ext cx="2743200" cy="201168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2039112"/>
            <a:ext cx="64008" cy="3840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2020824"/>
            <a:ext cx="24688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B2E"/>
                </a:solidFill>
                <a:latin typeface="Calibri"/>
              </a:rPr>
              <a:t>Slow, risky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2441448"/>
            <a:ext cx="2450592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Adding, changing or removing a customer means consistent edits on hubs, spoke, provider and Nautobot. It is easy to miss 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17336" y="1874519"/>
            <a:ext cx="2743200" cy="201168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17336" y="2039112"/>
            <a:ext cx="64008" cy="3840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2020824"/>
            <a:ext cx="24688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B2E"/>
                </a:solidFill>
                <a:latin typeface="Calibri"/>
              </a:rPr>
              <a:t>Drift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2441448"/>
            <a:ext cx="2450592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Hand edits leave routers differing from the intended design, and nobody notices until something breaks.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1874519"/>
            <a:ext cx="2743200" cy="201168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70263" y="2039112"/>
            <a:ext cx="64008" cy="3840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53143" y="2020824"/>
            <a:ext cx="24688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B2E"/>
                </a:solidFill>
                <a:latin typeface="Calibri"/>
              </a:rPr>
              <a:t>No change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441448"/>
            <a:ext cx="2450592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Who changed what, who approved it, and what exactly changed on each router? Usually nobody can say.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995928"/>
            <a:ext cx="2743200" cy="201168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160520"/>
            <a:ext cx="64008" cy="3840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142232"/>
            <a:ext cx="24688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B2E"/>
                </a:solidFill>
                <a:latin typeface="Calibri"/>
              </a:rPr>
              <a:t>Unproven resilience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562856"/>
            <a:ext cx="2450592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Dual hubs and dual providers look good on paper, but how long does failover really take?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64408" y="3995928"/>
            <a:ext cx="2743200" cy="201168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64408" y="4160520"/>
            <a:ext cx="64008" cy="3840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47288" y="4142232"/>
            <a:ext cx="24688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B2E"/>
                </a:solidFill>
                <a:latin typeface="Calibri"/>
              </a:rPr>
              <a:t>Blind customers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7288" y="4562856"/>
            <a:ext cx="2450592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Customers cannot see their own service, test it, or ask for changes. SLA reports are assembled by hand.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17336" y="3995928"/>
            <a:ext cx="2743200" cy="201168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17336" y="4160520"/>
            <a:ext cx="64008" cy="3840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216" y="4142232"/>
            <a:ext cx="24688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B2E"/>
                </a:solidFill>
                <a:latin typeface="Calibri"/>
              </a:rPr>
              <a:t>Static secrets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4562856"/>
            <a:ext cx="2450592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The DMVPN pre-shared key is set once and rarely rotated, because rotating it by hand risks an outage.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70263" y="3995928"/>
            <a:ext cx="2743200" cy="2011680"/>
          </a:xfrm>
          <a:prstGeom prst="roundRect">
            <a:avLst>
              <a:gd name="adj" fmla="val 6000"/>
            </a:avLst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53143" y="4178808"/>
            <a:ext cx="2377440" cy="164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EC8DB"/>
                </a:solidFill>
                <a:latin typeface="Calibri"/>
              </a:rPr>
              <a:t>The result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Slow onboarding, outages from avoidable mistakes, and no evidence for customers or auditors.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What the portal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24712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</a:rPr>
              <a:t>One web portal on top of a single source of truth (</a:t>
            </a:r>
            <a:r>
              <a:rPr sz="1500" b="1" i="0">
                <a:solidFill>
                  <a:srgbClr val="5B6778"/>
                </a:solidFill>
                <a:latin typeface="Calibri"/>
              </a:rPr>
              <a:t>lab.conf</a:t>
            </a:r>
            <a:r>
              <a:rPr sz="1500" b="0" i="0">
                <a:solidFill>
                  <a:srgbClr val="5B6778"/>
                </a:solidFill>
                <a:latin typeface="Calibri"/>
              </a:rPr>
              <a:t>). It reads every router live, turns every change into a controlled, verified job, and gives each customer a view of its own service.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219456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2194560"/>
            <a:ext cx="204825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50" b="1" i="0">
                <a:solidFill>
                  <a:srgbClr val="0B1B2E"/>
                </a:solidFill>
                <a:latin typeface="Calibri"/>
              </a:rPr>
              <a:t>Operators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505456"/>
            <a:ext cx="2048255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viewer · operator · approver · 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31920"/>
            <a:ext cx="219456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4023359"/>
            <a:ext cx="204825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50" b="1" i="0">
                <a:solidFill>
                  <a:srgbClr val="0B1B2E"/>
                </a:solidFill>
                <a:latin typeface="Calibri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4334256"/>
            <a:ext cx="2048255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their own site, SLA, requests,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2377440"/>
            <a:ext cx="2651760" cy="2286000"/>
          </a:xfrm>
          <a:prstGeom prst="roundRect">
            <a:avLst>
              <a:gd name="adj" fmla="val 12000"/>
            </a:avLst>
          </a:prstGeom>
          <a:solidFill>
            <a:srgbClr val="0B1B2E"/>
          </a:solidFill>
          <a:ln w="19050">
            <a:solidFill>
              <a:srgbClr val="0B1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2468880"/>
            <a:ext cx="2505456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Portal  :8094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2779776"/>
            <a:ext cx="2505456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CBD5E1"/>
                </a:solidFill>
                <a:latin typeface="Calibri"/>
              </a:rPr>
              <a:t>FastAPI · jobs · change control · SLA probes · failover lab · config history · roles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51760" y="2587752"/>
            <a:ext cx="822960" cy="4297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651760" y="4023360"/>
            <a:ext cx="822960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949440" y="178308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2592" y="1874519"/>
            <a:ext cx="2002536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50" b="1" i="0">
                <a:solidFill>
                  <a:srgbClr val="0B1B2E"/>
                </a:solidFill>
                <a:latin typeface="Calibri"/>
              </a:rPr>
              <a:t>lab.conf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2592" y="2185416"/>
            <a:ext cx="20025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the intended design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306324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22592" y="3154680"/>
            <a:ext cx="2002536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50" b="1" i="0">
                <a:solidFill>
                  <a:srgbClr val="0B1B2E"/>
                </a:solidFill>
                <a:latin typeface="Calibri"/>
              </a:rPr>
              <a:t>Render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3465576"/>
            <a:ext cx="20025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hub, spoke and provider config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0" y="434340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22592" y="4434840"/>
            <a:ext cx="2002536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50" b="1" i="0">
                <a:solidFill>
                  <a:srgbClr val="0B1B2E"/>
                </a:solidFill>
                <a:latin typeface="Calibri"/>
              </a:rPr>
              <a:t>Nautobot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2592" y="4745736"/>
            <a:ext cx="20025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mirrors the model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6126480" y="2240280"/>
            <a:ext cx="822960" cy="68580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023860" y="2697480"/>
            <a:ext cx="0" cy="36576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126480" y="3931920"/>
            <a:ext cx="822960" cy="82296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692640" y="1417320"/>
            <a:ext cx="2103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5792" y="1508760"/>
            <a:ext cx="19568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50" b="1" i="0">
                <a:solidFill>
                  <a:srgbClr val="0B1B2E"/>
                </a:solidFill>
                <a:latin typeface="Calibri"/>
              </a:rPr>
              <a:t>Catalyst 8000v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5792" y="1819656"/>
            <a:ext cx="1956815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Terraform (NAC) → RESTCONF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92640" y="2697480"/>
            <a:ext cx="2103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65792" y="2788920"/>
            <a:ext cx="19568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50" b="1" i="0">
                <a:solidFill>
                  <a:srgbClr val="0B1B2E"/>
                </a:solidFill>
                <a:latin typeface="Calibri"/>
              </a:rPr>
              <a:t>VyOS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3099816"/>
            <a:ext cx="1956815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SSH push, declarative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92640" y="3977639"/>
            <a:ext cx="2103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65792" y="4069079"/>
            <a:ext cx="19568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50" b="1" i="0">
                <a:solidFill>
                  <a:srgbClr val="0B1B2E"/>
                </a:solidFill>
                <a:latin typeface="Calibri"/>
              </a:rPr>
              <a:t>Providers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65792" y="4379976"/>
            <a:ext cx="1956815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mpls and mpls2 (VyOS)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92640" y="5257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65792" y="5349240"/>
            <a:ext cx="19568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50" b="1" i="0">
                <a:solidFill>
                  <a:srgbClr val="0B1B2E"/>
                </a:solidFill>
                <a:latin typeface="Calibri"/>
              </a:rPr>
              <a:t>VictoriaMetrics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65792" y="5660136"/>
            <a:ext cx="195681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SLA and application probes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9098280" y="1920240"/>
            <a:ext cx="594360" cy="150876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9098280" y="3154680"/>
            <a:ext cx="594360" cy="36576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098280" y="3611880"/>
            <a:ext cx="594360" cy="82296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126480" y="4480560"/>
            <a:ext cx="3566160" cy="118872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766560" y="5669280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every minute: pings, app checks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440680"/>
            <a:ext cx="576072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Read path: </a:t>
            </a:r>
            <a:r>
              <a:rPr sz="1150" b="0" i="0">
                <a:solidFill>
                  <a:srgbClr val="1F2937"/>
                </a:solidFill>
                <a:latin typeface="Calibri"/>
              </a:rPr>
              <a:t>the portal polls every router (RESTCONF, CLI, VyOS op mode) and draws what is really there, not what should be.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WHAT YOU CAN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Capabilities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88720"/>
            <a:ext cx="2743200" cy="2487168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12648" y="1408176"/>
            <a:ext cx="457200" cy="45720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146304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B2E"/>
                </a:solidFill>
                <a:latin typeface="Calibri"/>
              </a:rPr>
              <a:t>See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029968"/>
            <a:ext cx="2377440" cy="1572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Live cloud table and KPIs, a topology map drawn from live state, per-customer details, path trace and 'watch the shortcut form'.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4408" y="1188720"/>
            <a:ext cx="2743200" cy="2487168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65576" y="1408176"/>
            <a:ext cx="457200" cy="45720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6304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B2E"/>
                </a:solidFill>
                <a:latin typeface="Calibri"/>
              </a:rPr>
              <a:t>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2029968"/>
            <a:ext cx="2377440" cy="1572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Add, modify and remove customers, deploy the model, fix drift, back up and restore, choose the preferred hub or add a second provider.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17336" y="1188720"/>
            <a:ext cx="2743200" cy="2487168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18504" y="1408176"/>
            <a:ext cx="457200" cy="45720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146304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B2E"/>
                </a:solidFill>
                <a:latin typeface="Calibri"/>
              </a:rPr>
              <a:t>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2029968"/>
            <a:ext cx="2377440" cy="1572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Change requests with four-eyes approval, change windows, emergency changes, and maintenance mode that mutes alerts.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1188720"/>
            <a:ext cx="2743200" cy="2487168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71432" y="1408176"/>
            <a:ext cx="457200" cy="45720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7" y="146304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B2E"/>
                </a:solidFill>
                <a:latin typeface="Calibri"/>
              </a:rPr>
              <a:t>Audit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1432" y="2029968"/>
            <a:ext cx="2377440" cy="1572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Every job snapshots every router before and after it runs, records who asked and who approved, and shows a diff per router.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803904"/>
            <a:ext cx="2743200" cy="2487168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12648" y="4023360"/>
            <a:ext cx="457200" cy="45720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7864" y="4078224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B2E"/>
                </a:solidFill>
                <a:latin typeface="Calibri"/>
              </a:rPr>
              <a:t>Prove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4645152"/>
            <a:ext cx="2377440" cy="1572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SLA per customer (availability, latency, loss), application checks, simulated failures and measured failover times.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64408" y="3803904"/>
            <a:ext cx="2743200" cy="2487168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65576" y="4023360"/>
            <a:ext cx="457200" cy="45720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50792" y="4078224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B2E"/>
                </a:solidFill>
                <a:latin typeface="Calibri"/>
              </a:rPr>
              <a:t>Secure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5576" y="4645152"/>
            <a:ext cx="2377440" cy="1572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Sign-in with roles, admin-only pre-shared key rotation with a random key, and secrets masked in every view and log.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17336" y="3803904"/>
            <a:ext cx="2743200" cy="2487168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18504" y="4023360"/>
            <a:ext cx="457200" cy="45720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4078224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B2E"/>
                </a:solidFill>
                <a:latin typeface="Calibri"/>
              </a:rPr>
              <a:t>Customers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8504" y="4645152"/>
            <a:ext cx="2377440" cy="1572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A read-only customer portal: its own site and applications, SLA and PDF report, change requests and self-service tests.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70263" y="3803904"/>
            <a:ext cx="2743200" cy="2487168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71432" y="4023360"/>
            <a:ext cx="457200" cy="45720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56647" y="4078224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B2E"/>
                </a:solidFill>
                <a:latin typeface="Calibri"/>
              </a:rPr>
              <a:t>Automate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1432" y="4645152"/>
            <a:ext cx="2377440" cy="1572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A REST API for everything (Swagger), Prometheus metrics, progress and ETA for each job, and a 73-test Robot suite after each change.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109728" cy="1188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697480"/>
            <a:ext cx="100584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A tour of the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429000"/>
            <a:ext cx="100584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Numbered callouts on each screenshot match the explanations beside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Everyone signs in, and the role decides what they 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3429857" y="2803609"/>
            <a:ext cx="1964245" cy="177084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274409" y="2648161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0848" y="1170432"/>
            <a:ext cx="2819095" cy="1014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Sign in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Staff roles are viewer, operator, approver and admin. A customer account sees only its own service. Sessions are signed cookies, passwords are PBKDF2 hashes.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Read-only users cannot start jobs, nobody approves their own change, and customers never see another customer.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The cloud: every router, read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_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09517" y="1766839"/>
            <a:ext cx="7404925" cy="418255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4069" y="1611391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527" y="2458878"/>
            <a:ext cx="7234904" cy="2105341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9079" y="2303430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527" y="5023652"/>
            <a:ext cx="7234904" cy="52459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079" y="4868204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01250" y="1536185"/>
            <a:ext cx="1639595" cy="146304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45802" y="1380737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170432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KPIs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Hubs, customers, registrations, shortcuts and BGP at a glance.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2084831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2048255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Every router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NHRP registrations, IPsec, overlay BGP, the provider and the preferred hub, read from the routers themselves.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3145536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848" y="3108960"/>
            <a:ext cx="2819095" cy="466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Both providers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Access links and eBGP on mpls and mpls2.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840479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3803904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Who you are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The account, its role and the portal version, always visible.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One screen answers 'is every spoke registered with every hub?' with no CLI logins.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Health and configuration drift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4527" y="3566751"/>
            <a:ext cx="7234904" cy="148768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079" y="3411303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9517" y="3820533"/>
            <a:ext cx="7404925" cy="22891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4069" y="3665085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1170432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Health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Everything the model expects to be up is checked, and anything missing is named.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2084831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2048255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Drift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Each router is compared with what lab.conf renders. 'Fix drift' puts it back as a controlled job.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Hand edits no longer go unnoticed: drift is visible per router, and fixing it is one approved job.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A topology map drawn from live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4527" y="2300655"/>
            <a:ext cx="5564695" cy="3707103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079" y="2145207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527" y="2000618"/>
            <a:ext cx="3621640" cy="300037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9079" y="1845170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7439" y="1886854"/>
            <a:ext cx="1021783" cy="146304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181991" y="1731406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0234" y="1766839"/>
            <a:ext cx="1664208" cy="4422505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94786" y="1611391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170432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The map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Hubs, providers, customers and LAN hosts. Tunnel colour shows health, and the preferred hub is drawn bold.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2267712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2231136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Layers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Turn provider 2 and cloud 2, shortcuts, hosts and labels on or off.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3145536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848" y="3108960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Export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SVG or PNG, light or dark, exactly as drawn.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4023359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3986784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Details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Click a node to see the customer company, its applications (checked every minute) and the router's live state.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Everyone gets the same live picture, from operations to account managers and customers.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Path trace: watch the phase 3 shortcut 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4527" y="1230522"/>
            <a:ext cx="5564695" cy="3707103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079" y="1075074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5245" y="3298749"/>
            <a:ext cx="1494186" cy="578275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79797" y="3143301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9517" y="5504571"/>
            <a:ext cx="7404925" cy="684773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4069" y="5349123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1170432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First via a hub, then direct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The first packets go through a hub. NHRP then builds a spoke-to-spoke shortcut, drawn in purple.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0" y="2267712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231136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Details and actions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Trace, watch the shortcut form, ping every host, and view the config history per router.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3328416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3291840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Every trace, hop by hop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The raw output is kept so you can copy or download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It shows that DMVPN phase 3 works end to end, and makes it easy to explain.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A router's configuration 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30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6450234" y="1188720"/>
            <a:ext cx="1664208" cy="244022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94786" y="1051560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9517" y="3638948"/>
            <a:ext cx="7404925" cy="2472183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4069" y="3483500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1170432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Router details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Its live state: addresses, NHRP, IPsec, BGP, and its actions.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2084831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2048255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Every job that changed it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Each job's diff for this router, newest first, with masked secrets.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When something changed on a router, you can see which job did it and exactly what it changed.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PROVE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SLA per customer, from VictoriaMetrics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s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4527" y="2129384"/>
            <a:ext cx="7234904" cy="567727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079" y="1973936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527" y="2838613"/>
            <a:ext cx="7234904" cy="1617545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9079" y="2683165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54619" y="1841848"/>
            <a:ext cx="3374812" cy="208776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99171" y="1686400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1170432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Against targets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Availability, latency, loss and tunnel uptime, each compared with its SLA target.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0" y="2267712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231136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Latency to each hub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Probed every minute from the customer's own LAN host.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3145536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3108960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Window and report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24 hours, 30 days or this month, with a monthly PDF report for the customer.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SLA reporting is automatic and based on measurements the customer can check.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PROVE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Simulate failures on purpose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7_resili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4527" y="2102584"/>
            <a:ext cx="1089136" cy="200025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079" y="1947136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18968" y="2573893"/>
            <a:ext cx="781910" cy="208776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3520" y="2418445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527" y="3590895"/>
            <a:ext cx="7234904" cy="686335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079" y="3435447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1170432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Choose a failure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A hub, a provider, or a customer circuit. The page says what should happen before you press anything.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0" y="2267712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231136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Measure failover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Every LAN host pings every other host five times a second while the fault is in.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3145536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3108960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Every measurement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Flows unaffected, failed over or cut off, the worst failover and the time back to healthy.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Resilience becomes a number rather than a claim, for example 0.6 s worst case for a hub failure.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PROVE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One failover experiment, flow by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8_fail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4527" y="1226849"/>
            <a:ext cx="7234904" cy="148768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079" y="1071401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527" y="1625024"/>
            <a:ext cx="7234904" cy="45643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9079" y="1469576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1170432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The experiment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What failed, for how long, and the headline figures.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2084831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2048255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Each flow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The verdict and an outage timeline for every host pair, so you can see which paths moved and which were cut.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You can see exactly which customers a failure affects, and for how long.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109728" cy="1188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697480"/>
            <a:ext cx="100584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Provision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429000"/>
            <a:ext cx="100584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Every change is a job: planned, approved, run, verified and recorded.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Provision: every change is a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9_pro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4527" y="2000618"/>
            <a:ext cx="7234904" cy="2163473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079" y="1845170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9517" y="4269105"/>
            <a:ext cx="7404925" cy="1058569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4069" y="4113657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1170432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Tasks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Eleven tasks: each shows what it does, how long it takes and who may run it. The next slides walk through them.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2267712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2231136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Pre-shared key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Admins rotate the DMVPN key. The system picks a random 40-character key, and only its fingerprint is ever shown.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Operators pick what they want done, and the portal carries it out consistently on every router.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PROVISION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Every Provision task,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11384280" cy="384048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252728"/>
            <a:ext cx="2148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70632" y="1252728"/>
            <a:ext cx="5806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What it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4232" y="1252728"/>
            <a:ext cx="100583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57232" y="1252728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792" y="1252728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Approval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572768"/>
            <a:ext cx="11384280" cy="406908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1618488"/>
            <a:ext cx="2130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1B2E"/>
                </a:solidFill>
                <a:latin typeface="Calibri"/>
              </a:rPr>
              <a:t>Add a customer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0632" y="1618488"/>
            <a:ext cx="57881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A new site: router (C8000v or VyOS) and LAN host, provider link, tunnels to all three hubs, Nautobot. No hub changes.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4232" y="1618488"/>
            <a:ext cx="987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~15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1618488"/>
            <a:ext cx="89611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operator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792" y="1618488"/>
            <a:ext cx="85039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no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1979676"/>
            <a:ext cx="11384280" cy="406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025395"/>
            <a:ext cx="2130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1B2E"/>
                </a:solidFill>
                <a:latin typeface="Calibri"/>
              </a:rPr>
              <a:t>Modify a customer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025395"/>
            <a:ext cx="57881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Company, applications, preferred hub, site LAN, second provider, or router type (rebuilds the router).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14232" y="2025395"/>
            <a:ext cx="987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1–15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2025395"/>
            <a:ext cx="89611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operator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08792" y="2025395"/>
            <a:ext cx="85039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EA580C"/>
                </a:solidFill>
                <a:latin typeface="Calibri"/>
              </a:rPr>
              <a:t>yes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386584"/>
            <a:ext cx="11384280" cy="406908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" y="2432303"/>
            <a:ext cx="2130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1B2E"/>
                </a:solidFill>
                <a:latin typeface="Calibri"/>
              </a:rPr>
              <a:t>Remove a customer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70632" y="2432303"/>
            <a:ext cx="57881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Terraform forgets it, VMs deleted, out of lab.conf and Nautobot, provider port released.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14232" y="2432303"/>
            <a:ext cx="987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~3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57232" y="2432303"/>
            <a:ext cx="89611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operator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08792" y="2432303"/>
            <a:ext cx="85039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EA580C"/>
                </a:solidFill>
                <a:latin typeface="Calibri"/>
              </a:rPr>
              <a:t>yes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793491"/>
            <a:ext cx="11384280" cy="406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2839211"/>
            <a:ext cx="2130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1B2E"/>
                </a:solidFill>
                <a:latin typeface="Calibri"/>
              </a:rPr>
              <a:t>Deploy the 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2839211"/>
            <a:ext cx="57881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Re-render from lab.conf, terraform apply, push providers and VyOS, seed Nautobot, compare.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14232" y="2839211"/>
            <a:ext cx="987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~4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2839211"/>
            <a:ext cx="89611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operator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08792" y="2839211"/>
            <a:ext cx="85039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EA580C"/>
                </a:solidFill>
                <a:latin typeface="Calibri"/>
              </a:rPr>
              <a:t>yes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200399"/>
            <a:ext cx="11384280" cy="406908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4632" y="3246119"/>
            <a:ext cx="2130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1B2E"/>
                </a:solidFill>
                <a:latin typeface="Calibri"/>
              </a:rPr>
              <a:t>Dry run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70632" y="3246119"/>
            <a:ext cx="57881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terraform plan and Nautobot's rendering compared with lab.conf. Changes nothing.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14232" y="3246119"/>
            <a:ext cx="987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read only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57232" y="3246119"/>
            <a:ext cx="89611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operator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08792" y="3246119"/>
            <a:ext cx="85039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no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607307"/>
            <a:ext cx="11384280" cy="406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4632" y="3653027"/>
            <a:ext cx="2130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1B2E"/>
                </a:solidFill>
                <a:latin typeface="Calibri"/>
              </a:rPr>
              <a:t>Check for drift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70632" y="3653027"/>
            <a:ext cx="57881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Every router's running configuration compared with the model.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14232" y="3653027"/>
            <a:ext cx="987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1–2 min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57232" y="3653027"/>
            <a:ext cx="89611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operator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08792" y="3653027"/>
            <a:ext cx="85039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014215"/>
            <a:ext cx="11384280" cy="406908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4632" y="4059935"/>
            <a:ext cx="2130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1B2E"/>
                </a:solidFill>
                <a:latin typeface="Calibri"/>
              </a:rPr>
              <a:t>Fix drift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70632" y="4059935"/>
            <a:ext cx="57881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Put every router back to the model, then check again.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14232" y="4059935"/>
            <a:ext cx="987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a few min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57232" y="4059935"/>
            <a:ext cx="89611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operator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08792" y="4059935"/>
            <a:ext cx="85039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EA580C"/>
                </a:solidFill>
                <a:latin typeface="Calibri"/>
              </a:rPr>
              <a:t>yes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4421124"/>
            <a:ext cx="11384280" cy="406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4632" y="4466844"/>
            <a:ext cx="2130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1B2E"/>
                </a:solidFill>
                <a:latin typeface="Calibri"/>
              </a:rPr>
              <a:t>Back up the lab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70632" y="4466844"/>
            <a:ext cx="57881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One .tar.gz: lab.conf, customers, renders, Nautobot, running configs, Terraform state.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14232" y="4466844"/>
            <a:ext cx="987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~30 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57232" y="4466844"/>
            <a:ext cx="89611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operator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908792" y="4466844"/>
            <a:ext cx="85039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no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4828032"/>
            <a:ext cx="11384280" cy="406908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4632" y="4873752"/>
            <a:ext cx="2130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1B2E"/>
                </a:solidFill>
                <a:latin typeface="Calibri"/>
              </a:rPr>
              <a:t>Restore from a backup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70632" y="4873752"/>
            <a:ext cx="57881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Upload, see exactly what would change, then rebuild the lab to it.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14232" y="4873752"/>
            <a:ext cx="987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varies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57232" y="4873752"/>
            <a:ext cx="89611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operator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08792" y="4873752"/>
            <a:ext cx="85039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EA580C"/>
                </a:solidFill>
                <a:latin typeface="Calibri"/>
              </a:rPr>
              <a:t>yes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234940"/>
            <a:ext cx="11384280" cy="406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4632" y="5280660"/>
            <a:ext cx="2130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1B2E"/>
                </a:solidFill>
                <a:latin typeface="Calibri"/>
              </a:rPr>
              <a:t>Rotate the pre-shared key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70632" y="5280660"/>
            <a:ext cx="57881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A random 40-character key on every router; every IKE session re-made and verified.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14232" y="5280660"/>
            <a:ext cx="987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~7 min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57232" y="5280660"/>
            <a:ext cx="89611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EA580C"/>
                </a:solidFill>
                <a:latin typeface="Calibri"/>
              </a:rPr>
              <a:t>admin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08792" y="5280660"/>
            <a:ext cx="85039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EA580C"/>
                </a:solidFill>
                <a:latin typeface="Calibri"/>
              </a:rPr>
              <a:t>yes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641848"/>
            <a:ext cx="11384280" cy="406908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4632" y="5687568"/>
            <a:ext cx="2130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1B2E"/>
                </a:solidFill>
                <a:latin typeface="Calibri"/>
              </a:rPr>
              <a:t>Run the tests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70632" y="5687568"/>
            <a:ext cx="57881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The Robot Framework suites against the live lab, with the evidence kept.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14232" y="5687568"/>
            <a:ext cx="98755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~10 min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57232" y="5687568"/>
            <a:ext cx="89611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operator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08792" y="5687568"/>
            <a:ext cx="850392" cy="3520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no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6158484"/>
            <a:ext cx="11338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Approval follows the change policy (Jobs → Change policy…): four eyes, optional change windows, emergencies with a reason. Viewers and customers never start a job.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PROVISION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Add a customer: everything allocated for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_a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2234707" y="1819423"/>
            <a:ext cx="1460823" cy="200025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79259" y="1663975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81529" y="1819423"/>
            <a:ext cx="1460901" cy="200025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26081" y="1663975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8428" y="1717457"/>
            <a:ext cx="1460823" cy="301990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72980" y="1562009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34707" y="2126415"/>
            <a:ext cx="1099137" cy="197837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79259" y="1970967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34707" y="2431219"/>
            <a:ext cx="1099137" cy="197837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79259" y="2275771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34707" y="2892526"/>
            <a:ext cx="1460823" cy="197837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79259" y="2737078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848" y="1170432"/>
            <a:ext cx="2819095" cy="466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Router type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Catalyst 8000v (NAC) or VyOS.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184868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1812112"/>
            <a:ext cx="2819095" cy="466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Preferred hub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Or none: any hub.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249036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8" y="2453792"/>
            <a:ext cx="2819095" cy="466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Dual-homed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A backup link into mpls2 and cloud 2.</a:t>
            </a:r>
          </a:p>
        </p:txBody>
      </p:sp>
      <p:sp>
        <p:nvSpPr>
          <p:cNvPr id="28" name="Oval 27"/>
          <p:cNvSpPr/>
          <p:nvPr/>
        </p:nvSpPr>
        <p:spPr>
          <a:xfrm>
            <a:off x="8686800" y="313204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0848" y="3095472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Name and addresses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The next free name, management IP and LAN.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9566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0848" y="3920032"/>
            <a:ext cx="2819095" cy="466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Index, port, host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Tunnel index, provider port, LAN host.</a:t>
            </a:r>
          </a:p>
        </p:txBody>
      </p:sp>
      <p:sp>
        <p:nvSpPr>
          <p:cNvPr id="32" name="Oval 31"/>
          <p:cNvSpPr/>
          <p:nvPr/>
        </p:nvSpPr>
        <p:spPr>
          <a:xfrm>
            <a:off x="8686800" y="4598289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70848" y="4561713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The company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Pre-filled; goes to Nautobot as a tenant.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Nothing to look up or calculate: every address and port is allocated and checked free.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PROVISION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Add a customer: the plan, before anything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1_add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2234707" y="3472833"/>
            <a:ext cx="4354544" cy="65195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79259" y="3317385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34707" y="4144792"/>
            <a:ext cx="4354544" cy="1275159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79259" y="3989344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4707" y="5815704"/>
            <a:ext cx="1006157" cy="208776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9259" y="5660256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1170432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Applications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What the customer subscribes to; application checks start for them.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0" y="2084831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048255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The plan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Router, cloud, hub, WAN, LAN and what changes: here a new VyOS router, both providers and Nautobot. No hub changes.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3145536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3108960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Provision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Starts the job, or files a change request if the policy asks for approval.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Onboarding a customer takes one form and about 15 minutes, with the whole impact visible up front.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Modify a customer, with the plan shown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0_mod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2234707" y="2388713"/>
            <a:ext cx="882078" cy="200025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79259" y="2233265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2785" y="2388713"/>
            <a:ext cx="882157" cy="200025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947337" y="2233265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0940" y="2286747"/>
            <a:ext cx="882078" cy="301990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15492" y="2131299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34707" y="4580081"/>
            <a:ext cx="4354544" cy="65414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79259" y="4424633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170432"/>
            <a:ext cx="2819095" cy="466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Router type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Move a customer between C8000v and VyOS.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1901952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1865376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Preferred hub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Pick the hub its traffic should prefer (local-preference 200).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2779776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848" y="2743200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Second provider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Dual-home the customer onto mpls2 and cloud 2.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657600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3621024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The plan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Exactly what will change on which routers, before anything runs.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No surprises: the impact is visible and reviewed before a change request is filed.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PROVISION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Remove a customer, safely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2_rem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2234707" y="2150090"/>
            <a:ext cx="4354544" cy="200025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79259" y="1994642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34707" y="3223193"/>
            <a:ext cx="1460823" cy="197837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79259" y="3067745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4707" y="4060719"/>
            <a:ext cx="4354544" cy="1014501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9259" y="3905271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34707" y="5470973"/>
            <a:ext cx="966386" cy="208776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79259" y="5315525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170432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Which customer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Its router type, region and addressing are shown.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2084831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2048255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What goes with it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The company and its subscriptions are removed from customers.json and Nautobot.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2962656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848" y="2926079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The plan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The router and host deleted, Terraform state, the provider port released, lab.conf and Nautobot updated.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4023359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3986784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Remove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Destructive: it needs an approver under the default policy.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Decommissioning leaves nothing behind: no orphaned ports, config, Terraform state or Nautobot records.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PROVISION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Deploy the model: lab.conf onto every router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6_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4527" y="1732850"/>
            <a:ext cx="7234904" cy="148768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079" y="1577402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527" y="2116648"/>
            <a:ext cx="7234904" cy="1478075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9079" y="1961200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1170432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The job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Who started it, who approved it, 7 of 7 steps, 4 minutes.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2084831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2048255"/>
            <a:ext cx="2819095" cy="11978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The steps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Snapshot, render, Terraform apply (NAC), the providers, Nautobot seeded, Nautobot's rendering compared with lab.conf, snapshot and compare. The log is kept below.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The same pipeline builds, fixes and restores the lab, so the result is always the model.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PROVISION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Restore from a backup: see the difference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3_rest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2234707" y="3004650"/>
            <a:ext cx="4354544" cy="205025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79259" y="2849202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34707" y="3229678"/>
            <a:ext cx="4354544" cy="556319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79259" y="3074230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4707" y="3788498"/>
            <a:ext cx="4354544" cy="7841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9259" y="3633050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34707" y="4757134"/>
            <a:ext cx="1241967" cy="208776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79259" y="4601686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170432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The backup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A .tar.gz made by Back up the lab, uploaded here.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2084831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2048255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What is in it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Version, date, host, files, every checksum verified, and its customers.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2962656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848" y="2926079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What would change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Customers changed, added or removed, other settings, then NAC, pushes, Nautobot and verification.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4023359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3986784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Restore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Only after approval; nothing changes before.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A known-good state is always one approved job away, and you know exactly what it will undo.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PROVISION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The DMVPN pre-shared key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4_p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4527" y="4512885"/>
            <a:ext cx="7234904" cy="200337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079" y="4357437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527" y="4673218"/>
            <a:ext cx="7234904" cy="202837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9079" y="4517770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527" y="4836050"/>
            <a:ext cx="7234904" cy="202837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079" y="4680602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3255" y="4344114"/>
            <a:ext cx="1166177" cy="208776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707807" y="4188666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170432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Key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Where it is kept (secrets/ on the lab host) and its fingerprint. The key itself is never shown.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2267712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2231136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Set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When it was last rotated, by whom, and the job.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3145536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848" y="3108960"/>
            <a:ext cx="2819095" cy="466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Used by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Every hub and customer router.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840479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3803904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Rotate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Admins only, with a confirmation, and through change control.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Rotating the key becomes routine: one button, a random key, and proof that every session uses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A job: who, what, and the 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2_jo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4527" y="1227787"/>
            <a:ext cx="7234904" cy="148768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079" y="1072339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527" y="1386557"/>
            <a:ext cx="7234904" cy="202525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9079" y="1231109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527" y="3743336"/>
            <a:ext cx="7234904" cy="244600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079" y="3587888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9526" y="1593770"/>
            <a:ext cx="3664458" cy="1915239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4078" y="1438322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170432"/>
            <a:ext cx="2819095" cy="466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Who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Who started the job and who approved it.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1901952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1865376"/>
            <a:ext cx="2819095" cy="466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Progress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Live progress and the time it took.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2596896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848" y="2560320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What changed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The before-and-after diff per router. Secrets are masked but their change is still visible.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657600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3621024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Every step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Each step's result, for example '54 IKE SAs on 8 routers, all made after the rotation'.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Every change leaves evidence: the steps, the approvals and the exact configuration difference.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PROVISION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Run the tests: the lab proves itself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7_t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4527" y="3048014"/>
            <a:ext cx="7234904" cy="148768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079" y="2892566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527" y="3431812"/>
            <a:ext cx="7234904" cy="224012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9079" y="3276364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71331" y="3678328"/>
            <a:ext cx="248484" cy="146304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15883" y="3522880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1170432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The job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Robot Framework suites against the live lab.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0" y="2084831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048255"/>
            <a:ext cx="2819095" cy="466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The result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73 of 73 passed, in about 11 minutes.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2779775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2743199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The evidence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The Robot report and log, and every router's configuration before and after.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Every change can end with a full test run, and the evidence is one click away.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PROVISION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Maintenance and the job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9_m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09517" y="1230522"/>
            <a:ext cx="7404925" cy="11008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4069" y="1075074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527" y="1926937"/>
            <a:ext cx="940289" cy="208776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9079" y="1771489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527" y="2595145"/>
            <a:ext cx="7234904" cy="3594199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079" y="2439697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1170432"/>
            <a:ext cx="2819095" cy="1014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Maintenance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Declared here or started automatically by disruptive jobs and simulated failures. Alerts are muted, customers told, and SLA leaves it out.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0" y="2450592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414016"/>
            <a:ext cx="2819095" cy="466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Declare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What, and which nodes it affects.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3145536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3108960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Every job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Status, a progress bar, duration and test results. A failed job resumes from the step that failed.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Planned work does not page anyone or count against the SLA, and customers see it coming.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109728" cy="1188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697480"/>
            <a:ext cx="100584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Change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429000"/>
            <a:ext cx="100584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A second pair of eyes, change windows, and a record of everything.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Change requests: four eyes and change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1_chan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4527" y="2126259"/>
            <a:ext cx="7234904" cy="4063085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079" y="1970811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0848" y="1170432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Change requests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Each request shows who asked, what for, who approved or rejected it, and its status, including requests from customers.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Disruptive work cannot start without a second person, and it runs only inside the agreed windows.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CHANGE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The change policy, edited in the portal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8_pol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4527" y="2126259"/>
            <a:ext cx="7234904" cy="11623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079" y="1970811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82113" y="1856850"/>
            <a:ext cx="3053522" cy="146304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26665" y="1701402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1170432"/>
            <a:ext cx="2819095" cy="1014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The policy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Which tasks need approval, four eyes, emergency approvals with a reason, expiry after 72 h, and change windows by day and time.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2450592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2414016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In one line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The current policy is always shown above the requests.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The rules for change are visible and adjustable, not tribal knowledge.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CHANGE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How a change moves through the portal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Pentagon 7"/>
          <p:cNvSpPr/>
          <p:nvPr/>
        </p:nvSpPr>
        <p:spPr>
          <a:xfrm>
            <a:off x="411480" y="1463040"/>
            <a:ext cx="2103120" cy="1143000"/>
          </a:xfrm>
          <a:prstGeom prst="homePlat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88920"/>
            <a:ext cx="1828799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An operator (or a customer) asks: add, modify, remove, deploy, rotate the key…</a:t>
            </a:r>
          </a:p>
        </p:txBody>
      </p:sp>
      <p:sp>
        <p:nvSpPr>
          <p:cNvPr id="10" name="Chevron 9"/>
          <p:cNvSpPr/>
          <p:nvPr/>
        </p:nvSpPr>
        <p:spPr>
          <a:xfrm>
            <a:off x="2340864" y="1463040"/>
            <a:ext cx="2103120" cy="1143000"/>
          </a:xfrm>
          <a:prstGeom prst="chevron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Approve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6584" y="2788920"/>
            <a:ext cx="1828799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Someone else approves it (four eyes). An emergency change needs a reason.</a:t>
            </a:r>
          </a:p>
        </p:txBody>
      </p:sp>
      <p:sp>
        <p:nvSpPr>
          <p:cNvPr id="12" name="Chevron 11"/>
          <p:cNvSpPr/>
          <p:nvPr/>
        </p:nvSpPr>
        <p:spPr>
          <a:xfrm>
            <a:off x="4270248" y="1463040"/>
            <a:ext cx="2103120" cy="1143000"/>
          </a:xfrm>
          <a:prstGeom prst="chevron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Window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788920"/>
            <a:ext cx="1828799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It runs now if a change window is open. Otherwise it is scheduled for the next window.</a:t>
            </a:r>
          </a:p>
        </p:txBody>
      </p:sp>
      <p:sp>
        <p:nvSpPr>
          <p:cNvPr id="14" name="Chevron 13"/>
          <p:cNvSpPr/>
          <p:nvPr/>
        </p:nvSpPr>
        <p:spPr>
          <a:xfrm>
            <a:off x="6199632" y="1463040"/>
            <a:ext cx="2103120" cy="1143000"/>
          </a:xfrm>
          <a:prstGeom prst="chevron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Run the job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2788920"/>
            <a:ext cx="1828799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Snapshot, render, NAC and VyOS push, then verify. Progress and ETA are shown live.</a:t>
            </a:r>
          </a:p>
        </p:txBody>
      </p:sp>
      <p:sp>
        <p:nvSpPr>
          <p:cNvPr id="16" name="Chevron 15"/>
          <p:cNvSpPr/>
          <p:nvPr/>
        </p:nvSpPr>
        <p:spPr>
          <a:xfrm>
            <a:off x="8129015" y="1463040"/>
            <a:ext cx="2103120" cy="1143000"/>
          </a:xfrm>
          <a:prstGeom prst="chevron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2788920"/>
            <a:ext cx="1828799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router registered, every host reachable, 73 tests, Nautobot == lab.conf.</a:t>
            </a:r>
          </a:p>
        </p:txBody>
      </p:sp>
      <p:sp>
        <p:nvSpPr>
          <p:cNvPr id="18" name="Chevron 17"/>
          <p:cNvSpPr/>
          <p:nvPr/>
        </p:nvSpPr>
        <p:spPr>
          <a:xfrm>
            <a:off x="10058399" y="1463040"/>
            <a:ext cx="1874519" cy="1143000"/>
          </a:xfrm>
          <a:prstGeom prst="chevron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19" y="2788920"/>
            <a:ext cx="1828799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The config diff per router, who asked, who approved and the outcome, kept per job.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160520"/>
            <a:ext cx="11338560" cy="2057400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25112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B2E"/>
                </a:solidFill>
                <a:latin typeface="Calibri"/>
              </a:rPr>
              <a:t>What is never allowed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09159"/>
            <a:ext cx="530352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Approving your own request (four eyes)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A viewer or customer starting a job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Rotating the pre-shared key unless you are an admin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A secret reaching git, a job log or the screen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325112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B2E"/>
                </a:solidFill>
                <a:latin typeface="Calibri"/>
              </a:rPr>
              <a:t>What never needs approval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09159"/>
            <a:ext cx="521208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Adding a customer: it takes nothing away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Dry runs, tests and drift checks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Customer diagnostics from its own LAN host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Reading anything the role allows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109728" cy="1188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697480"/>
            <a:ext cx="100584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Customers, access and the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429000"/>
            <a:ext cx="100584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Each customer sees its own service; staff see what their role allows.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The customer's own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4_cust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09517" y="1576190"/>
            <a:ext cx="7404925" cy="318789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4069" y="1420742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527" y="2158763"/>
            <a:ext cx="5564695" cy="3707103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9079" y="2003315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0234" y="1924983"/>
            <a:ext cx="1664208" cy="4264361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94786" y="1769535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5430" y="1251696"/>
            <a:ext cx="2121608" cy="191508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609982" y="1096248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170432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Status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Service status, incidents and planned maintenance for this customer.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2084831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2048255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Its own site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The map, cut down to the customer's own site and the hubs it uses.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2962656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848" y="2926079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Its applications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Its company details and live application status.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840479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3803904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Its own pages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Network, service levels, requests and diagnostics. Nothing else is reachable.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Customers can answer their own questions, which means fewer tickets and more trust.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Customer self-service 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5_requ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4527" y="1809969"/>
            <a:ext cx="7234904" cy="1114201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079" y="1654521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527" y="3262963"/>
            <a:ext cx="7234904" cy="57913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9079" y="3107515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1170432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Ask for a change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Applications, the preferred hub or a second provider, with a reason.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2084831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2048255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Track it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Each request becomes a change request for the operators, and its progress is shown 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Customers can request changes without email, and the request still goes through staff approval.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Self-service diagnostics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6_di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4527" y="1809969"/>
            <a:ext cx="7234904" cy="317539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079" y="1654521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527" y="2137510"/>
            <a:ext cx="7234904" cy="2602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9079" y="1982062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1170432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Tests from its LAN host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The customer tests its applications, the hubs, or traces a path.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2084831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2048255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Every application, every hub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Round-trip time, loss and HTTP status, run on demand.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The first-line diagnosis is done by the customer in seconds, with no ticket needed.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SECURE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Lab tools and accounts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3_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09517" y="1766839"/>
            <a:ext cx="7404925" cy="2171599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4069" y="1611391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527" y="4801359"/>
            <a:ext cx="7234904" cy="1387985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9079" y="4645911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1170432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Accounts and roles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Admins add, disable and delete accounts and set passwords. Accounts still on their lab-default password are flagged.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2267712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2231136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Every tool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Nautobot, the API, the lab hub and the repository, each with how to sign 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Access is managed in one place, with visible warnings when the defaults have not been changed.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AUTOMATE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Everything is an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31_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29519" y="1458753"/>
            <a:ext cx="7364920" cy="600075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4071" y="1303305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9532" y="2268855"/>
            <a:ext cx="7164895" cy="940117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74084" y="2113407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1170432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REST API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Every screen in the portal is built on the same API, documented with Swagger.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2084831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2048255"/>
            <a:ext cx="2819095" cy="6492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By area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Monitoring, state, customers, jobs, changes, SLA, and more.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Other tools and pipelines can drive the lab the way the portal does.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Light or dark, and roles everywhere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" y="1243584"/>
            <a:ext cx="8001000" cy="5000625"/>
          </a:xfrm>
          <a:prstGeom prst="rect">
            <a:avLst/>
          </a:prstGeom>
          <a:solidFill>
            <a:srgbClr val="D6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32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8001000" cy="5000625"/>
          </a:xfrm>
          <a:prstGeom prst="rect">
            <a:avLst/>
          </a:prstGeom>
          <a:ln w="9525">
            <a:solidFill>
              <a:srgbClr val="D6DD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4527" y="2300655"/>
            <a:ext cx="5564695" cy="3707103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079" y="2145207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60139" y="1536185"/>
            <a:ext cx="1781488" cy="146304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04691" y="1380737"/>
            <a:ext cx="310896" cy="310896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0" y="1207008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1170432"/>
            <a:ext cx="2819095" cy="4663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Dark mode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Every page, including the live map.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0" y="1901952"/>
            <a:ext cx="274320" cy="27432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1865376"/>
            <a:ext cx="2819095" cy="832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B1B2E"/>
                </a:solidFill>
                <a:latin typeface="Calibri"/>
              </a:rPr>
              <a:t>An operator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It sees and changes the lab, but admin tasks such as key rotation and accounts are hidden.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5274945"/>
            <a:ext cx="3139135" cy="914400"/>
          </a:xfrm>
          <a:prstGeom prst="roundRect">
            <a:avLst>
              <a:gd name="adj" fmla="val 8000"/>
            </a:avLst>
          </a:prstGeom>
          <a:solidFill>
            <a:srgbClr val="E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5348097"/>
            <a:ext cx="2864815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 i="0">
                <a:solidFill>
                  <a:srgbClr val="0E7490"/>
                </a:solidFill>
                <a:latin typeface="Calibri"/>
              </a:rPr>
              <a:t>Why it matters  </a:t>
            </a:r>
          </a:p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The portal fits the user, and each role only sees the actions it may take.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7490"/>
                </a:solidFill>
                <a:latin typeface="Calibri"/>
              </a:rPr>
              <a:t>RESULTS IN THE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155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0B1B2E"/>
                </a:solidFill>
                <a:latin typeface="Calibri"/>
              </a:rPr>
              <a:t>Measured, not assumed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C8000v DMVPN Portal · v0.21.2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234440"/>
            <a:ext cx="2743200" cy="16002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71600"/>
            <a:ext cx="23774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15803D"/>
                </a:solidFill>
                <a:latin typeface="Calibri"/>
              </a:rPr>
              <a:t>3 /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75688"/>
            <a:ext cx="237744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hubs every spoke is registered with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1234440"/>
            <a:ext cx="2743200" cy="16002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1371600"/>
            <a:ext cx="23774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15803D"/>
                </a:solidFill>
                <a:latin typeface="Calibri"/>
              </a:rPr>
              <a:t>20 /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2075688"/>
            <a:ext cx="237744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LAN hosts reach every other host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17336" y="1234440"/>
            <a:ext cx="2743200" cy="16002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371600"/>
            <a:ext cx="23774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15803D"/>
                </a:solidFill>
                <a:latin typeface="Calibri"/>
              </a:rPr>
              <a:t>33 / 33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075688"/>
            <a:ext cx="237744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application checks passing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0263" y="1234440"/>
            <a:ext cx="2743200" cy="16002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3143" y="1371600"/>
            <a:ext cx="23774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15803D"/>
                </a:solidFill>
                <a:latin typeface="Calibri"/>
              </a:rPr>
              <a:t>73 / 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143" y="2075688"/>
            <a:ext cx="237744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Robot tests pass after each change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2980944"/>
            <a:ext cx="2743200" cy="16002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118103"/>
            <a:ext cx="23774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0E7490"/>
                </a:solidFill>
                <a:latin typeface="Calibri"/>
              </a:rPr>
              <a:t>0.6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822191"/>
            <a:ext cx="237744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worst failover when a hub fails; 29 of 35 flows never noticed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64408" y="2980944"/>
            <a:ext cx="2743200" cy="16002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7288" y="3118103"/>
            <a:ext cx="23774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0E7490"/>
                </a:solidFill>
                <a:latin typeface="Calibri"/>
              </a:rPr>
              <a:t>6.8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7288" y="3822191"/>
            <a:ext cx="237744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worst failover for dual-homed flows when a provider fails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17336" y="2980944"/>
            <a:ext cx="2743200" cy="16002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0216" y="3118103"/>
            <a:ext cx="23774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0E7490"/>
                </a:solidFill>
                <a:latin typeface="Calibri"/>
              </a:rPr>
              <a:t>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822191"/>
            <a:ext cx="237744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IKE SAs re-authenticated with the new pre-shared key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70263" y="2980944"/>
            <a:ext cx="2743200" cy="16002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6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53143" y="3118103"/>
            <a:ext cx="23774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0E7490"/>
                </a:solidFill>
                <a:latin typeface="Calibri"/>
              </a:rPr>
              <a:t>5 m 28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3143" y="3822191"/>
            <a:ext cx="237744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key rotation end to end, one router at a time, then verified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800600"/>
            <a:ext cx="1133856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0B1B2E"/>
                </a:solidFill>
                <a:latin typeface="Calibri"/>
              </a:rPr>
              <a:t>Provider failure: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dual-homed customers (cust1, cust4) move to cloud 2 over the second provider. Single-homed customers lose that provider by design, and the portal shows it as 'cut off' rather than hiding it.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0B1B2E"/>
                </a:solidFill>
                <a:latin typeface="Calibri"/>
              </a:rPr>
              <a:t>Hub failure: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customers keep two other hubs, live shortcuts need no hub, and routing converges when BGP gives up on the failed hub (hold 9 s).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In short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10512"/>
            <a:ext cx="128016" cy="4572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737360"/>
            <a:ext cx="10058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One source of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21408"/>
            <a:ext cx="10058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lab.conf drives the configuration, Nautobot and the portal, and drift is detected against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06624"/>
            <a:ext cx="128016" cy="4572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633472"/>
            <a:ext cx="10058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Every change is a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17520"/>
            <a:ext cx="10058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It is planned, approved, run, verified and recorded with a before-and-after diff per router.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02736"/>
            <a:ext cx="128016" cy="4572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529584"/>
            <a:ext cx="10058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Resilience you can 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913632"/>
            <a:ext cx="10058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Simulate a failure and get the outage timeline for every flow.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498848"/>
            <a:ext cx="128016" cy="4572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425696"/>
            <a:ext cx="10058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Customers see their own 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09744"/>
            <a:ext cx="10058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SLA, applications, requests and self-service diagnostics, and nothing else.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394960"/>
            <a:ext cx="128016" cy="4572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321808"/>
            <a:ext cx="10058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Secure by default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705856"/>
            <a:ext cx="10058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Roles, four eyes, key rotation on demand, and secrets never shown.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263640"/>
            <a:ext cx="10058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github.com/dcantor/c8000v-dmvpn-lab · portal on the lab host at :8094 · API at /docs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